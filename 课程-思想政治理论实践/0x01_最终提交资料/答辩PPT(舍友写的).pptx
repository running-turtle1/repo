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ags/tag40.xml" ContentType="application/vnd.openxmlformats-officedocument.presentationml.tags+xml"/>
  <Override PartName="/ppt/notesSlides/notesSlide15.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tags/tag41.xml" ContentType="application/vnd.openxmlformats-officedocument.presentationml.tags+xml"/>
  <Override PartName="/ppt/notesSlides/notesSlide16.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handoutMasterIdLst>
    <p:handoutMasterId r:id="rId22"/>
  </p:handoutMasterIdLst>
  <p:sldIdLst>
    <p:sldId id="256" r:id="rId2"/>
    <p:sldId id="283" r:id="rId3"/>
    <p:sldId id="262" r:id="rId4"/>
    <p:sldId id="294" r:id="rId5"/>
    <p:sldId id="268" r:id="rId6"/>
    <p:sldId id="269" r:id="rId7"/>
    <p:sldId id="263" r:id="rId8"/>
    <p:sldId id="295" r:id="rId9"/>
    <p:sldId id="264" r:id="rId10"/>
    <p:sldId id="296" r:id="rId11"/>
    <p:sldId id="318" r:id="rId12"/>
    <p:sldId id="274" r:id="rId13"/>
    <p:sldId id="265" r:id="rId14"/>
    <p:sldId id="297" r:id="rId15"/>
    <p:sldId id="315" r:id="rId16"/>
    <p:sldId id="316" r:id="rId17"/>
    <p:sldId id="287" r:id="rId18"/>
    <p:sldId id="317" r:id="rId19"/>
    <p:sldId id="257" r:id="rId20"/>
  </p:sldIdLst>
  <p:sldSz cx="12192000" cy="6858000"/>
  <p:notesSz cx="6858000" cy="9144000"/>
  <p:embeddedFontLst>
    <p:embeddedFont>
      <p:font typeface="汉仪粗宋简" panose="02010600030101010101" charset="-122"/>
      <p:regular r:id="rId23"/>
    </p:embeddedFont>
    <p:embeddedFont>
      <p:font typeface="汉仪雅酷黑简" panose="02010600030101010101" charset="-122"/>
      <p:regular r:id="rId24"/>
    </p:embeddedFont>
    <p:embeddedFont>
      <p:font typeface="汉仪中简黑简" panose="02010600030101010101" charset="-122"/>
      <p:regular r:id="rId25"/>
    </p:embeddedFont>
  </p:embeddedFontLst>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836"/>
    <a:srgbClr val="FFFFFF"/>
    <a:srgbClr val="920417"/>
    <a:srgbClr val="E91B35"/>
    <a:srgbClr val="EFEFEF"/>
    <a:srgbClr val="F2F2F2"/>
    <a:srgbClr val="D8D8D8"/>
    <a:srgbClr val="F5F5F5"/>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102" d="100"/>
          <a:sy n="102" d="100"/>
        </p:scale>
        <p:origin x="78" y="171"/>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地 陈" userId="fdfc7d6b726e012b" providerId="LiveId" clId="{664FCDB6-FA86-41F1-87F2-B68C6485D721}"/>
    <pc:docChg chg="undo redo custSel modSld">
      <pc:chgData name="大地 陈" userId="fdfc7d6b726e012b" providerId="LiveId" clId="{664FCDB6-FA86-41F1-87F2-B68C6485D721}" dt="2024-04-30T09:52:29.322" v="10"/>
      <pc:docMkLst>
        <pc:docMk/>
      </pc:docMkLst>
      <pc:sldChg chg="modSp mod">
        <pc:chgData name="大地 陈" userId="fdfc7d6b726e012b" providerId="LiveId" clId="{664FCDB6-FA86-41F1-87F2-B68C6485D721}" dt="2024-04-30T09:52:29.322" v="10"/>
        <pc:sldMkLst>
          <pc:docMk/>
          <pc:sldMk cId="0" sldId="296"/>
        </pc:sldMkLst>
        <pc:spChg chg="mod">
          <ac:chgData name="大地 陈" userId="fdfc7d6b726e012b" providerId="LiveId" clId="{664FCDB6-FA86-41F1-87F2-B68C6485D721}" dt="2024-04-30T09:52:29.322" v="10"/>
          <ac:spMkLst>
            <pc:docMk/>
            <pc:sldMk cId="0" sldId="296"/>
            <ac:spMk id="1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manualLayout>
          <c:layoutTarget val="inner"/>
          <c:xMode val="edge"/>
          <c:yMode val="edge"/>
          <c:x val="0.19142585809252499"/>
          <c:y val="0.269598965071151"/>
          <c:w val="0.640075973409307"/>
          <c:h val="0.34773609314359599"/>
        </c:manualLayout>
      </c:layout>
      <c:pie3DChart>
        <c:varyColors val="1"/>
        <c:ser>
          <c:idx val="0"/>
          <c:order val="0"/>
          <c:tx>
            <c:strRef>
              <c:f>Sheet1!$B$1</c:f>
              <c:strCache>
                <c:ptCount val="1"/>
                <c:pt idx="0">
                  <c:v>大学生对马克思主义的看法</c:v>
                </c:pt>
              </c:strCache>
            </c:strRef>
          </c:tx>
          <c:explosion val="2"/>
          <c:dPt>
            <c:idx val="0"/>
            <c:bubble3D val="0"/>
            <c:explosion val="0"/>
            <c:spPr>
              <a:solidFill>
                <a:srgbClr val="FF0000"/>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CD48-421D-8589-5271C67A7843}"/>
              </c:ext>
            </c:extLst>
          </c:dPt>
          <c:dPt>
            <c:idx val="1"/>
            <c:bubble3D val="0"/>
            <c:explosion val="0"/>
            <c:spPr>
              <a:solidFill>
                <a:schemeClr val="tx2">
                  <a:lumMod val="25000"/>
                  <a:lumOff val="75000"/>
                </a:schemeClr>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CD48-421D-8589-5271C67A7843}"/>
              </c:ext>
            </c:extLst>
          </c:dPt>
          <c:dPt>
            <c:idx val="2"/>
            <c:bubble3D val="0"/>
            <c:explosion val="0"/>
            <c:spPr>
              <a:solidFill>
                <a:schemeClr val="accent3">
                  <a:lumMod val="60000"/>
                  <a:lumOff val="40000"/>
                </a:schemeClr>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5-CD48-421D-8589-5271C67A7843}"/>
              </c:ext>
            </c:extLst>
          </c:dPt>
          <c:dPt>
            <c:idx val="3"/>
            <c:bubble3D val="0"/>
            <c:spPr>
              <a:solidFill>
                <a:schemeClr val="tx1"/>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7-CD48-421D-8589-5271C67A7843}"/>
              </c:ext>
            </c:extLst>
          </c:dPt>
          <c:dLbls>
            <c:dLbl>
              <c:idx val="0"/>
              <c:layout>
                <c:manualLayout>
                  <c:x val="7.0519935309073495E-2"/>
                  <c:y val="-8.22411285276647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D48-421D-8589-5271C67A7843}"/>
                </c:ext>
              </c:extLst>
            </c:dLbl>
            <c:dLbl>
              <c:idx val="1"/>
              <c:layout>
                <c:manualLayout>
                  <c:x val="-4.78078649150315E-2"/>
                  <c:y val="0.04"/>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D48-421D-8589-5271C67A7843}"/>
                </c:ext>
              </c:extLst>
            </c:dLbl>
            <c:dLbl>
              <c:idx val="2"/>
              <c:layout>
                <c:manualLayout>
                  <c:x val="-7.8204352796858695E-2"/>
                  <c:y val="-1.18982959947344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D48-421D-8589-5271C67A7843}"/>
                </c:ext>
              </c:extLst>
            </c:dLbl>
            <c:dLbl>
              <c:idx val="3"/>
              <c:layout>
                <c:manualLayout>
                  <c:x val="7.0889841514814297E-2"/>
                  <c:y val="-1.61335251050275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D48-421D-8589-5271C67A7843}"/>
                </c:ext>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马克思主义作用很大，并且发生了变化，吸引力增加</c:v>
                </c:pt>
                <c:pt idx="1">
                  <c:v>马克思主义作用一般，发生了细微变化</c:v>
                </c:pt>
                <c:pt idx="2">
                  <c:v>马克思主义作用很小，并没有变化</c:v>
                </c:pt>
                <c:pt idx="3">
                  <c:v>马克思主义没有作用</c:v>
                </c:pt>
              </c:strCache>
            </c:strRef>
          </c:cat>
          <c:val>
            <c:numRef>
              <c:f>Sheet1!$B$2:$B$5</c:f>
              <c:numCache>
                <c:formatCode>General</c:formatCode>
                <c:ptCount val="4"/>
                <c:pt idx="0">
                  <c:v>0.66359999999999997</c:v>
                </c:pt>
                <c:pt idx="1">
                  <c:v>0.2853</c:v>
                </c:pt>
                <c:pt idx="2">
                  <c:v>6.6100000000000006E-2</c:v>
                </c:pt>
                <c:pt idx="3">
                  <c:v>1.4999999999999999E-2</c:v>
                </c:pt>
              </c:numCache>
            </c:numRef>
          </c:val>
          <c:extLst>
            <c:ext xmlns:c16="http://schemas.microsoft.com/office/drawing/2014/chart" uri="{C3380CC4-5D6E-409C-BE32-E72D297353CC}">
              <c16:uniqueId val="{00000008-CD48-421D-8589-5271C67A7843}"/>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大学生对马克思主义的理解程度</a:t>
            </a:r>
          </a:p>
        </c:rich>
      </c:tx>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0.29902897292956898"/>
          <c:y val="0.20172175558229699"/>
          <c:w val="0.88165762487032495"/>
          <c:h val="0.65996024633324701"/>
        </c:manualLayout>
      </c:layout>
      <c:doughnutChart>
        <c:varyColors val="1"/>
        <c:ser>
          <c:idx val="0"/>
          <c:order val="0"/>
          <c:tx>
            <c:strRef>
              <c:f>Sheet1!$B$1</c:f>
              <c:strCache>
                <c:ptCount val="1"/>
                <c:pt idx="0">
                  <c:v>了解程度</c:v>
                </c:pt>
              </c:strCache>
            </c:strRef>
          </c:tx>
          <c:dPt>
            <c:idx val="0"/>
            <c:bubble3D val="0"/>
            <c:spPr>
              <a:solidFill>
                <a:srgbClr val="FFFF00"/>
              </a:solidFill>
              <a:ln>
                <a:noFill/>
              </a:ln>
              <a:effectLst/>
            </c:spPr>
            <c:extLst>
              <c:ext xmlns:c16="http://schemas.microsoft.com/office/drawing/2014/chart" uri="{C3380CC4-5D6E-409C-BE32-E72D297353CC}">
                <c16:uniqueId val="{00000001-6EC9-4150-B20E-E3B003FE31C2}"/>
              </c:ext>
            </c:extLst>
          </c:dPt>
          <c:dPt>
            <c:idx val="1"/>
            <c:bubble3D val="0"/>
            <c:spPr>
              <a:solidFill>
                <a:schemeClr val="tx2">
                  <a:lumMod val="50000"/>
                  <a:lumOff val="50000"/>
                </a:schemeClr>
              </a:solidFill>
              <a:ln>
                <a:noFill/>
              </a:ln>
              <a:effectLst/>
            </c:spPr>
            <c:extLst>
              <c:ext xmlns:c16="http://schemas.microsoft.com/office/drawing/2014/chart" uri="{C3380CC4-5D6E-409C-BE32-E72D297353CC}">
                <c16:uniqueId val="{00000003-6EC9-4150-B20E-E3B003FE31C2}"/>
              </c:ext>
            </c:extLst>
          </c:dPt>
          <c:dPt>
            <c:idx val="2"/>
            <c:bubble3D val="0"/>
            <c:spPr>
              <a:solidFill>
                <a:schemeClr val="accent3"/>
              </a:solidFill>
              <a:ln>
                <a:noFill/>
              </a:ln>
              <a:effectLst/>
            </c:spPr>
            <c:extLst>
              <c:ext xmlns:c16="http://schemas.microsoft.com/office/drawing/2014/chart" uri="{C3380CC4-5D6E-409C-BE32-E72D297353CC}">
                <c16:uniqueId val="{00000005-6EC9-4150-B20E-E3B003FE31C2}"/>
              </c:ext>
            </c:extLst>
          </c:dPt>
          <c:dLbls>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lang="zh-CN" sz="900" b="0" i="0" u="none" strike="noStrike" kern="1200" baseline="0">
                    <a:solidFill>
                      <a:schemeClr val="dk1">
                        <a:lumMod val="65000"/>
                        <a:lumOff val="3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accentCallout2">
                    <a:avLst/>
                  </a:prstGeom>
                  <a:noFill/>
                  <a:ln>
                    <a:noFill/>
                  </a:ln>
                </c15:spPr>
              </c:ext>
            </c:extLst>
          </c:dLbls>
          <c:cat>
            <c:strRef>
              <c:f>Sheet1!$A$2:$A$4</c:f>
              <c:strCache>
                <c:ptCount val="3"/>
                <c:pt idx="0">
                  <c:v>很了解，会在生活中应用</c:v>
                </c:pt>
                <c:pt idx="1">
                  <c:v>有一定了解，在生活中偶尔会应用</c:v>
                </c:pt>
                <c:pt idx="2">
                  <c:v>完全不了解</c:v>
                </c:pt>
              </c:strCache>
            </c:strRef>
          </c:cat>
          <c:val>
            <c:numRef>
              <c:f>Sheet1!$B$2:$B$4</c:f>
              <c:numCache>
                <c:formatCode>0.00%</c:formatCode>
                <c:ptCount val="3"/>
                <c:pt idx="0">
                  <c:v>0.61560000000000004</c:v>
                </c:pt>
                <c:pt idx="1">
                  <c:v>0.3604</c:v>
                </c:pt>
                <c:pt idx="2">
                  <c:v>2.4E-2</c:v>
                </c:pt>
              </c:numCache>
            </c:numRef>
          </c:val>
          <c:extLst>
            <c:ext xmlns:c16="http://schemas.microsoft.com/office/drawing/2014/chart" uri="{C3380CC4-5D6E-409C-BE32-E72D297353CC}">
              <c16:uniqueId val="{00000006-6EC9-4150-B20E-E3B003FE31C2}"/>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大学生对马克思主义教育的建议</a:t>
            </a:r>
          </a:p>
        </c:rich>
      </c:tx>
      <c:layout>
        <c:manualLayout>
          <c:xMode val="edge"/>
          <c:yMode val="edge"/>
          <c:x val="0.26834915489696698"/>
          <c:y val="6.3277789495886898E-3"/>
        </c:manualLayout>
      </c:layout>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9.2766303522817797E-2"/>
          <c:y val="0.16361517574874901"/>
          <c:w val="0.87512822509412902"/>
          <c:h val="0.45605447967652701"/>
        </c:manualLayout>
      </c:layout>
      <c:barChart>
        <c:barDir val="col"/>
        <c:grouping val="clustered"/>
        <c:varyColors val="0"/>
        <c:ser>
          <c:idx val="0"/>
          <c:order val="0"/>
          <c:tx>
            <c:strRef>
              <c:f>Sheet1!$B$1</c:f>
              <c:strCache>
                <c:ptCount val="1"/>
                <c:pt idx="0">
                  <c:v>增加课程</c:v>
                </c:pt>
              </c:strCache>
            </c:strRef>
          </c:tx>
          <c:spPr>
            <a:solidFill>
              <a:schemeClr val="accent1"/>
            </a:solidFill>
            <a:ln>
              <a:noFill/>
            </a:ln>
            <a:effectLst/>
          </c:spPr>
          <c:invertIfNegative val="0"/>
          <c:dLbls>
            <c:spPr>
              <a:noFill/>
              <a:ln>
                <a:noFill/>
              </a:ln>
              <a:effectLst/>
            </c:spPr>
            <c:txPr>
              <a:bodyPr rot="0" spcFirstLastPara="1" vertOverflow="clip" horzOverflow="clip" vert="horz" wrap="square" lIns="38100" tIns="19050" rIns="38100" bIns="19050" anchor="ctr" anchorCtr="1">
                <a:spAutoFit/>
              </a:bodyPr>
              <a:lstStyle/>
              <a:p>
                <a:pPr>
                  <a:defRPr lang="zh-CN" sz="900" b="0" i="0" u="none" strike="noStrike" kern="1200" baseline="0">
                    <a:solidFill>
                      <a:schemeClr val="dk1">
                        <a:lumMod val="65000"/>
                        <a:lumOff val="3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如何加强对马克思主义的理解和认同</c:v>
                </c:pt>
                <c:pt idx="1">
                  <c:v>如何更好地教育马克思主义</c:v>
                </c:pt>
              </c:strCache>
            </c:strRef>
          </c:cat>
          <c:val>
            <c:numRef>
              <c:f>Sheet1!$B$2:$B$3</c:f>
              <c:numCache>
                <c:formatCode>General</c:formatCode>
                <c:ptCount val="2"/>
                <c:pt idx="0">
                  <c:v>231</c:v>
                </c:pt>
                <c:pt idx="1">
                  <c:v>207</c:v>
                </c:pt>
              </c:numCache>
            </c:numRef>
          </c:val>
          <c:extLst>
            <c:ext xmlns:c16="http://schemas.microsoft.com/office/drawing/2014/chart" uri="{C3380CC4-5D6E-409C-BE32-E72D297353CC}">
              <c16:uniqueId val="{00000000-F150-4B6B-8484-18742D16A3B8}"/>
            </c:ext>
          </c:extLst>
        </c:ser>
        <c:ser>
          <c:idx val="1"/>
          <c:order val="1"/>
          <c:tx>
            <c:strRef>
              <c:f>Sheet1!$C$1</c:f>
              <c:strCache>
                <c:ptCount val="1"/>
                <c:pt idx="0">
                  <c:v>加强师资培训</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如何加强对马克思主义的理解和认同</c:v>
                </c:pt>
                <c:pt idx="1">
                  <c:v>如何更好地教育马克思主义</c:v>
                </c:pt>
              </c:strCache>
            </c:strRef>
          </c:cat>
          <c:val>
            <c:numRef>
              <c:f>Sheet1!$C$2:$C$3</c:f>
              <c:numCache>
                <c:formatCode>General</c:formatCode>
                <c:ptCount val="2"/>
                <c:pt idx="0">
                  <c:v>243</c:v>
                </c:pt>
                <c:pt idx="1">
                  <c:v>211</c:v>
                </c:pt>
              </c:numCache>
            </c:numRef>
          </c:val>
          <c:extLst>
            <c:ext xmlns:c16="http://schemas.microsoft.com/office/drawing/2014/chart" uri="{C3380CC4-5D6E-409C-BE32-E72D297353CC}">
              <c16:uniqueId val="{00000001-F150-4B6B-8484-18742D16A3B8}"/>
            </c:ext>
          </c:extLst>
        </c:ser>
        <c:ser>
          <c:idx val="2"/>
          <c:order val="2"/>
          <c:tx>
            <c:strRef>
              <c:f>Sheet1!$D$1</c:f>
              <c:strCache>
                <c:ptCount val="1"/>
                <c:pt idx="0">
                  <c:v>开设更多活动</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如何加强对马克思主义的理解和认同</c:v>
                </c:pt>
                <c:pt idx="1">
                  <c:v>如何更好地教育马克思主义</c:v>
                </c:pt>
              </c:strCache>
            </c:strRef>
          </c:cat>
          <c:val>
            <c:numRef>
              <c:f>Sheet1!$D$2:$D$3</c:f>
              <c:numCache>
                <c:formatCode>General</c:formatCode>
                <c:ptCount val="2"/>
                <c:pt idx="0">
                  <c:v>190</c:v>
                </c:pt>
                <c:pt idx="1">
                  <c:v>185</c:v>
                </c:pt>
              </c:numCache>
            </c:numRef>
          </c:val>
          <c:extLst>
            <c:ext xmlns:c16="http://schemas.microsoft.com/office/drawing/2014/chart" uri="{C3380CC4-5D6E-409C-BE32-E72D297353CC}">
              <c16:uniqueId val="{00000002-F150-4B6B-8484-18742D16A3B8}"/>
            </c:ext>
          </c:extLst>
        </c:ser>
        <c:ser>
          <c:idx val="3"/>
          <c:order val="3"/>
          <c:tx>
            <c:strRef>
              <c:f>Sheet1!$E$1</c:f>
              <c:strCache>
                <c:ptCount val="1"/>
                <c:pt idx="0">
                  <c:v>其他</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如何加强对马克思主义的理解和认同</c:v>
                </c:pt>
                <c:pt idx="1">
                  <c:v>如何更好地教育马克思主义</c:v>
                </c:pt>
              </c:strCache>
            </c:strRef>
          </c:cat>
          <c:val>
            <c:numRef>
              <c:f>Sheet1!$E$2:$E$3</c:f>
              <c:numCache>
                <c:formatCode>General</c:formatCode>
                <c:ptCount val="2"/>
                <c:pt idx="0">
                  <c:v>7</c:v>
                </c:pt>
                <c:pt idx="1">
                  <c:v>3</c:v>
                </c:pt>
              </c:numCache>
            </c:numRef>
          </c:val>
          <c:extLst>
            <c:ext xmlns:c16="http://schemas.microsoft.com/office/drawing/2014/chart" uri="{C3380CC4-5D6E-409C-BE32-E72D297353CC}">
              <c16:uniqueId val="{00000003-F150-4B6B-8484-18742D16A3B8}"/>
            </c:ext>
          </c:extLst>
        </c:ser>
        <c:dLbls>
          <c:showLegendKey val="0"/>
          <c:showVal val="0"/>
          <c:showCatName val="0"/>
          <c:showSerName val="0"/>
          <c:showPercent val="0"/>
          <c:showBubbleSize val="0"/>
        </c:dLbls>
        <c:gapWidth val="219"/>
        <c:overlap val="-27"/>
        <c:axId val="1986957248"/>
        <c:axId val="1986970688"/>
      </c:barChart>
      <c:catAx>
        <c:axId val="1986957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986970688"/>
        <c:crosses val="autoZero"/>
        <c:auto val="1"/>
        <c:lblAlgn val="ctr"/>
        <c:lblOffset val="100"/>
        <c:noMultiLvlLbl val="0"/>
      </c:catAx>
      <c:valAx>
        <c:axId val="1986970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986957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bar"/>
        <c:grouping val="clustered"/>
        <c:varyColors val="0"/>
        <c:ser>
          <c:idx val="0"/>
          <c:order val="0"/>
          <c:tx>
            <c:strRef>
              <c:f>Sheet1!$B$1</c:f>
              <c:strCache>
                <c:ptCount val="1"/>
                <c:pt idx="0">
                  <c:v>马克思主义在大学的教育形式</c:v>
                </c:pt>
              </c:strCache>
            </c:strRef>
          </c:tx>
          <c:spPr>
            <a:solidFill>
              <a:schemeClr val="accent1"/>
            </a:solidFill>
            <a:ln w="19050">
              <a:solidFill>
                <a:schemeClr val="lt1"/>
              </a:solidFill>
            </a:ln>
            <a:effectLst/>
          </c:spPr>
          <c:invertIfNegative val="0"/>
          <c:cat>
            <c:strRef>
              <c:f>Sheet1!$A$2:$A$4</c:f>
              <c:strCache>
                <c:ptCount val="3"/>
                <c:pt idx="0">
                  <c:v>开展专门课程</c:v>
                </c:pt>
                <c:pt idx="1">
                  <c:v>举行相应活动</c:v>
                </c:pt>
                <c:pt idx="2">
                  <c:v>网课学习</c:v>
                </c:pt>
              </c:strCache>
            </c:strRef>
          </c:cat>
          <c:val>
            <c:numRef>
              <c:f>Sheet1!$B$2:$B$4</c:f>
              <c:numCache>
                <c:formatCode>General</c:formatCode>
                <c:ptCount val="3"/>
                <c:pt idx="0">
                  <c:v>207</c:v>
                </c:pt>
                <c:pt idx="1">
                  <c:v>185</c:v>
                </c:pt>
                <c:pt idx="2">
                  <c:v>163</c:v>
                </c:pt>
              </c:numCache>
            </c:numRef>
          </c:val>
          <c:extLst>
            <c:ext xmlns:c16="http://schemas.microsoft.com/office/drawing/2014/chart" uri="{C3380CC4-5D6E-409C-BE32-E72D297353CC}">
              <c16:uniqueId val="{00000000-B0EB-41D7-8AF4-A41610BFB4BC}"/>
            </c:ext>
          </c:extLst>
        </c:ser>
        <c:dLbls>
          <c:showLegendKey val="0"/>
          <c:showVal val="0"/>
          <c:showCatName val="0"/>
          <c:showSerName val="0"/>
          <c:showPercent val="0"/>
          <c:showBubbleSize val="0"/>
        </c:dLbls>
        <c:gapWidth val="150"/>
        <c:axId val="1987033568"/>
        <c:axId val="1987037408"/>
      </c:barChart>
      <c:catAx>
        <c:axId val="198703356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987037408"/>
        <c:crosses val="autoZero"/>
        <c:auto val="1"/>
        <c:lblAlgn val="ctr"/>
        <c:lblOffset val="100"/>
        <c:noMultiLvlLbl val="0"/>
      </c:catAx>
      <c:valAx>
        <c:axId val="19870374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987033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大学生对马克思主义的认同感</a:t>
            </a:r>
          </a:p>
        </c:rich>
      </c:tx>
      <c:layout>
        <c:manualLayout>
          <c:xMode val="edge"/>
          <c:yMode val="edge"/>
          <c:x val="0.15241993739465401"/>
          <c:y val="6.1919504643962904E-3"/>
        </c:manualLayout>
      </c:layout>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系列 1</c:v>
                </c:pt>
              </c:strCache>
            </c:strRef>
          </c:tx>
          <c:spPr>
            <a:solidFill>
              <a:schemeClr val="bg2">
                <a:lumMod val="10000"/>
              </a:schemeClr>
            </a:solidFill>
            <a:ln>
              <a:solidFill>
                <a:schemeClr val="tx2">
                  <a:lumMod val="50000"/>
                  <a:lumOff val="50000"/>
                </a:schemeClr>
              </a:solidFill>
            </a:ln>
          </c:spPr>
          <c:dPt>
            <c:idx val="0"/>
            <c:bubble3D val="0"/>
            <c:spPr>
              <a:solidFill>
                <a:schemeClr val="accent4">
                  <a:lumMod val="60000"/>
                  <a:lumOff val="40000"/>
                </a:schemeClr>
              </a:solidFill>
              <a:ln>
                <a:solidFill>
                  <a:schemeClr val="tx2">
                    <a:lumMod val="50000"/>
                    <a:lumOff val="50000"/>
                  </a:schemeClr>
                </a:solidFill>
              </a:ln>
              <a:effectLst/>
            </c:spPr>
            <c:extLst>
              <c:ext xmlns:c16="http://schemas.microsoft.com/office/drawing/2014/chart" uri="{C3380CC4-5D6E-409C-BE32-E72D297353CC}">
                <c16:uniqueId val="{00000001-97D7-4B5F-914A-057BC91FDE04}"/>
              </c:ext>
            </c:extLst>
          </c:dPt>
          <c:dPt>
            <c:idx val="1"/>
            <c:bubble3D val="0"/>
            <c:spPr>
              <a:solidFill>
                <a:srgbClr val="FF0000"/>
              </a:solidFill>
              <a:ln>
                <a:solidFill>
                  <a:schemeClr val="tx2">
                    <a:lumMod val="50000"/>
                    <a:lumOff val="50000"/>
                  </a:schemeClr>
                </a:solidFill>
              </a:ln>
              <a:effectLst/>
            </c:spPr>
            <c:extLst>
              <c:ext xmlns:c16="http://schemas.microsoft.com/office/drawing/2014/chart" uri="{C3380CC4-5D6E-409C-BE32-E72D297353CC}">
                <c16:uniqueId val="{00000003-97D7-4B5F-914A-057BC91FDE04}"/>
              </c:ext>
            </c:extLst>
          </c:dPt>
          <c:dPt>
            <c:idx val="2"/>
            <c:bubble3D val="0"/>
            <c:spPr>
              <a:solidFill>
                <a:schemeClr val="bg2">
                  <a:lumMod val="10000"/>
                </a:schemeClr>
              </a:solidFill>
              <a:ln>
                <a:solidFill>
                  <a:schemeClr val="tx2">
                    <a:lumMod val="50000"/>
                    <a:lumOff val="50000"/>
                  </a:schemeClr>
                </a:solidFill>
              </a:ln>
              <a:effectLst/>
            </c:spPr>
            <c:extLst>
              <c:ext xmlns:c16="http://schemas.microsoft.com/office/drawing/2014/chart" uri="{C3380CC4-5D6E-409C-BE32-E72D297353CC}">
                <c16:uniqueId val="{00000005-97D7-4B5F-914A-057BC91FDE04}"/>
              </c:ext>
            </c:extLst>
          </c:dPt>
          <c:dLbls>
            <c:dLbl>
              <c:idx val="0"/>
              <c:layout>
                <c:manualLayout>
                  <c:x val="5.7448178055518197E-2"/>
                  <c:y val="-8.1613482525210695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7D7-4B5F-914A-057BC91FDE04}"/>
                </c:ext>
              </c:extLst>
            </c:dLbl>
            <c:dLbl>
              <c:idx val="1"/>
              <c:layout>
                <c:manualLayout>
                  <c:x val="-3.3479924388213803E-2"/>
                  <c:y val="5.3888496136125397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7D7-4B5F-914A-057BC91FDE04}"/>
                </c:ext>
              </c:extLst>
            </c:dLbl>
            <c:dLbl>
              <c:idx val="2"/>
              <c:layout>
                <c:manualLayout>
                  <c:x val="-4.5926007382956303E-2"/>
                  <c:y val="3.2568684332415099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7D7-4B5F-914A-057BC91FDE04}"/>
                </c:ext>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认同，应接受更多马克思主义教育，有助于思想的成长和社会责任感的培养</c:v>
                </c:pt>
                <c:pt idx="1">
                  <c:v>不太确定</c:v>
                </c:pt>
                <c:pt idx="2">
                  <c:v>对马克思主义的教育已经足够</c:v>
                </c:pt>
              </c:strCache>
            </c:strRef>
          </c:cat>
          <c:val>
            <c:numRef>
              <c:f>Sheet1!$B$2:$B$4</c:f>
              <c:numCache>
                <c:formatCode>0.00%</c:formatCode>
                <c:ptCount val="3"/>
                <c:pt idx="0">
                  <c:v>0.7117</c:v>
                </c:pt>
                <c:pt idx="1">
                  <c:v>0.1201</c:v>
                </c:pt>
                <c:pt idx="2">
                  <c:v>0.16819999999999999</c:v>
                </c:pt>
              </c:numCache>
            </c:numRef>
          </c:val>
          <c:extLst>
            <c:ext xmlns:c16="http://schemas.microsoft.com/office/drawing/2014/chart" uri="{C3380CC4-5D6E-409C-BE32-E72D297353CC}">
              <c16:uniqueId val="{00000006-97D7-4B5F-914A-057BC91FDE04}"/>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汉仪粗宋简" panose="0201060000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汉仪粗宋简" panose="02010600000101010101" charset="-122"/>
              </a:rPr>
              <a:t>2024/4/30</a:t>
            </a:fld>
            <a:endParaRPr lang="zh-CN" altLang="en-US">
              <a:ea typeface="汉仪粗宋简" panose="0201060000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汉仪粗宋简" panose="0201060000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汉仪粗宋简" panose="02010600000101010101" charset="-122"/>
              </a:rPr>
              <a:t>‹#›</a:t>
            </a:fld>
            <a:endParaRPr lang="zh-CN" altLang="en-US">
              <a:ea typeface="汉仪粗宋简" panose="02010600000101010101"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汉仪粗宋简" panose="0201060000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汉仪粗宋简" panose="02010600000101010101" charset="-122"/>
              </a:defRPr>
            </a:lvl1pPr>
          </a:lstStyle>
          <a:p>
            <a:fld id="{D2A48B96-639E-45A3-A0BA-2464DFDB1FAA}" type="datetimeFigureOut">
              <a:rPr lang="zh-CN" altLang="en-US" smtClean="0"/>
              <a:t>2024/4/30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汉仪粗宋简" panose="0201060000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汉仪粗宋简" panose="02010600000101010101"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汉仪粗宋简" panose="02010600000101010101" charset="-122"/>
        <a:cs typeface="+mn-cs"/>
      </a:defRPr>
    </a:lvl1pPr>
    <a:lvl2pPr marL="457200" algn="l" defTabSz="914400" rtl="0" eaLnBrk="1" latinLnBrk="0" hangingPunct="1">
      <a:defRPr sz="1200" kern="1200">
        <a:solidFill>
          <a:schemeClr val="tx1"/>
        </a:solidFill>
        <a:latin typeface="+mn-lt"/>
        <a:ea typeface="汉仪粗宋简" panose="02010600000101010101" charset="-122"/>
        <a:cs typeface="+mn-cs"/>
      </a:defRPr>
    </a:lvl2pPr>
    <a:lvl3pPr marL="914400" algn="l" defTabSz="914400" rtl="0" eaLnBrk="1" latinLnBrk="0" hangingPunct="1">
      <a:defRPr sz="1200" kern="1200">
        <a:solidFill>
          <a:schemeClr val="tx1"/>
        </a:solidFill>
        <a:latin typeface="+mn-lt"/>
        <a:ea typeface="汉仪粗宋简" panose="02010600000101010101" charset="-122"/>
        <a:cs typeface="+mn-cs"/>
      </a:defRPr>
    </a:lvl3pPr>
    <a:lvl4pPr marL="1371600" algn="l" defTabSz="914400" rtl="0" eaLnBrk="1" latinLnBrk="0" hangingPunct="1">
      <a:defRPr sz="1200" kern="1200">
        <a:solidFill>
          <a:schemeClr val="tx1"/>
        </a:solidFill>
        <a:latin typeface="+mn-lt"/>
        <a:ea typeface="汉仪粗宋简" panose="02010600000101010101" charset="-122"/>
        <a:cs typeface="+mn-cs"/>
      </a:defRPr>
    </a:lvl4pPr>
    <a:lvl5pPr marL="1828800" algn="l" defTabSz="914400" rtl="0" eaLnBrk="1" latinLnBrk="0" hangingPunct="1">
      <a:defRPr sz="1200" kern="1200">
        <a:solidFill>
          <a:schemeClr val="tx1"/>
        </a:solidFill>
        <a:latin typeface="+mn-lt"/>
        <a:ea typeface="汉仪粗宋简" panose="02010600000101010101"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705130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738390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2024/4/30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ea typeface="汉仪中简黑简" panose="00020600040101010101" charset="-122"/>
              </a:defRPr>
            </a:lvl1pPr>
          </a:lstStyle>
          <a:p>
            <a:fld id="{760FBDFE-C587-4B4C-A407-44438C67B59E}" type="datetimeFigureOut">
              <a:rPr lang="zh-CN" altLang="en-US" smtClean="0"/>
              <a:t>2024/4/30</a:t>
            </a:fld>
            <a:endParaRPr lang="zh-CN" altLang="en-US"/>
          </a:p>
        </p:txBody>
      </p:sp>
      <p:sp>
        <p:nvSpPr>
          <p:cNvPr id="5" name="页脚占位符 4"/>
          <p:cNvSpPr>
            <a:spLocks noGrp="1"/>
          </p:cNvSpPr>
          <p:nvPr>
            <p:ph type="ftr" sz="quarter" idx="3"/>
            <p:custDataLst>
              <p:tags r:id="rId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ea typeface="汉仪中简黑简" panose="00020600040101010101" charset="-122"/>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ea typeface="汉仪中简黑简" panose="00020600040101010101" charset="-122"/>
              </a:defRPr>
            </a:lvl1pPr>
          </a:lstStyle>
          <a:p>
            <a:fld id="{49AE70B2-8BF9-45C0-BB95-33D1B9D3A854}" type="slidenum">
              <a:rPr lang="zh-CN" altLang="en-US" smtClean="0"/>
              <a:t>‹#›</a:t>
            </a:fld>
            <a:endParaRPr lang="zh-CN" altLang="en-US" dirty="0"/>
          </a:p>
        </p:txBody>
      </p:sp>
    </p:spTree>
    <p:custDataLst>
      <p:tags r:id="rId3"/>
    </p:custDataLst>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汉仪中简黑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汉仪中简黑简" panose="00020600040101010101"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汉仪中简黑简" panose="00020600040101010101"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汉仪中简黑简" panose="00020600040101010101"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汉仪中简黑简" panose="00020600040101010101"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汉仪中简黑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image" Target="../media/image1.png"/><Relationship Id="rId2" Type="http://schemas.openxmlformats.org/officeDocument/2006/relationships/tags" Target="../tags/tag15.xml"/><Relationship Id="rId16" Type="http://schemas.openxmlformats.org/officeDocument/2006/relationships/notesSlide" Target="../notesSlides/notesSlide2.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slideLayout" Target="../slideLayouts/slideLayout1.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28.xml"/><Relationship Id="rId5" Type="http://schemas.openxmlformats.org/officeDocument/2006/relationships/image" Target="../media/image2.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6.xml"/><Relationship Id="rId7" Type="http://schemas.openxmlformats.org/officeDocument/2006/relationships/image" Target="../media/image7.svg"/><Relationship Id="rId12" Type="http://schemas.openxmlformats.org/officeDocument/2006/relationships/image" Target="../media/image12.svg"/><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sv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2.xml"/><Relationship Id="rId5" Type="http://schemas.openxmlformats.org/officeDocument/2006/relationships/image" Target="../media/image2.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34.xml"/><Relationship Id="rId5" Type="http://schemas.openxmlformats.org/officeDocument/2006/relationships/image" Target="../media/image2.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38.xml"/><Relationship Id="rId5" Type="http://schemas.openxmlformats.org/officeDocument/2006/relationships/image" Target="../media/image2.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39.xml"/><Relationship Id="rId5" Type="http://schemas.openxmlformats.org/officeDocument/2006/relationships/chart" Target="../charts/char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40.xml"/><Relationship Id="rId5" Type="http://schemas.openxmlformats.org/officeDocument/2006/relationships/chart" Target="../charts/chart4.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41.xml"/><Relationship Id="rId4" Type="http://schemas.openxmlformats.org/officeDocument/2006/relationships/chart" Target="../charts/char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42.xml"/><Relationship Id="rId5" Type="http://schemas.openxmlformats.org/officeDocument/2006/relationships/image" Target="../media/image2.jpe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4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grpSp>
        <p:nvGrpSpPr>
          <p:cNvPr id="30" name="组合 29"/>
          <p:cNvGrpSpPr/>
          <p:nvPr/>
        </p:nvGrpSpPr>
        <p:grpSpPr>
          <a:xfrm>
            <a:off x="2226945" y="1318895"/>
            <a:ext cx="7740015" cy="3893820"/>
            <a:chOff x="3506" y="2325"/>
            <a:chExt cx="12189" cy="6132"/>
          </a:xfrm>
        </p:grpSpPr>
        <p:sp>
          <p:nvSpPr>
            <p:cNvPr id="7" name="文本框 6"/>
            <p:cNvSpPr txBox="1"/>
            <p:nvPr/>
          </p:nvSpPr>
          <p:spPr>
            <a:xfrm>
              <a:off x="6992" y="2325"/>
              <a:ext cx="5216" cy="957"/>
            </a:xfrm>
            <a:prstGeom prst="rect">
              <a:avLst/>
            </a:prstGeom>
            <a:noFill/>
          </p:spPr>
          <p:txBody>
            <a:bodyPr wrap="square" rtlCol="0">
              <a:spAutoFit/>
            </a:bodyPr>
            <a:lstStyle/>
            <a:p>
              <a:pPr algn="ctr" fontAlgn="auto">
                <a:lnSpc>
                  <a:spcPct val="120000"/>
                </a:lnSpc>
              </a:pPr>
              <a:r>
                <a:rPr lang="en-US" altLang="zh-CN" sz="2800">
                  <a:latin typeface="汉仪粗宋简" panose="02010600000101010101" charset="-122"/>
                  <a:ea typeface="汉仪粗宋简" panose="02010600000101010101" charset="-122"/>
                  <a:cs typeface="汉仪粗宋简" panose="02010600000101010101" charset="-122"/>
                  <a:sym typeface="+mn-ea"/>
                </a:rPr>
                <a:t>2023-2024-2 </a:t>
              </a:r>
              <a:r>
                <a:rPr lang="zh-CN" altLang="en-US" sz="2800">
                  <a:latin typeface="汉仪粗宋简" panose="02010600000101010101" charset="-122"/>
                  <a:ea typeface="汉仪粗宋简" panose="02010600000101010101" charset="-122"/>
                  <a:cs typeface="汉仪粗宋简" panose="02010600000101010101" charset="-122"/>
                  <a:sym typeface="+mn-ea"/>
                </a:rPr>
                <a:t>学年</a:t>
              </a:r>
              <a:endParaRPr lang="zh-CN" altLang="en-US" sz="2800">
                <a:latin typeface="汉仪粗宋简" panose="02010600000101010101" charset="-122"/>
                <a:ea typeface="汉仪粗宋简" panose="02010600000101010101" charset="-122"/>
                <a:cs typeface="汉仪粗宋简" panose="02010600000101010101" charset="-122"/>
              </a:endParaRPr>
            </a:p>
          </p:txBody>
        </p:sp>
        <p:sp>
          <p:nvSpPr>
            <p:cNvPr id="16" name="文本框 15"/>
            <p:cNvSpPr txBox="1"/>
            <p:nvPr/>
          </p:nvSpPr>
          <p:spPr>
            <a:xfrm>
              <a:off x="3506" y="3236"/>
              <a:ext cx="12189" cy="3343"/>
            </a:xfrm>
            <a:prstGeom prst="rect">
              <a:avLst/>
            </a:prstGeom>
            <a:noFill/>
          </p:spPr>
          <p:txBody>
            <a:bodyPr wrap="square" rtlCol="0">
              <a:spAutoFit/>
            </a:bodyPr>
            <a:lstStyle/>
            <a:p>
              <a:pPr algn="ctr"/>
              <a:r>
                <a:rPr lang="zh-CN" altLang="en-US" sz="6600" dirty="0">
                  <a:solidFill>
                    <a:srgbClr val="920417"/>
                  </a:solidFill>
                  <a:latin typeface="汉仪雅酷黑简" panose="00020600040101010101" charset="-122"/>
                  <a:ea typeface="汉仪雅酷黑简" panose="00020600040101010101" charset="-122"/>
                  <a:cs typeface="汉仪雅酷黑简" panose="00020600040101010101" charset="-122"/>
                  <a:sym typeface="+mn-ea"/>
                </a:rPr>
                <a:t>思想政治理论实践</a:t>
              </a:r>
            </a:p>
            <a:p>
              <a:pPr algn="ctr"/>
              <a:r>
                <a:rPr lang="zh-CN" altLang="en-US" sz="6600" dirty="0">
                  <a:solidFill>
                    <a:srgbClr val="920417"/>
                  </a:solidFill>
                  <a:latin typeface="汉仪雅酷黑简" panose="00020600040101010101" charset="-122"/>
                  <a:ea typeface="汉仪雅酷黑简" panose="00020600040101010101" charset="-122"/>
                  <a:cs typeface="汉仪雅酷黑简" panose="00020600040101010101" charset="-122"/>
                  <a:sym typeface="+mn-ea"/>
                </a:rPr>
                <a:t>调研报告</a:t>
              </a:r>
              <a:endParaRPr lang="zh-CN" altLang="en-US" sz="6600" dirty="0">
                <a:solidFill>
                  <a:srgbClr val="920417"/>
                </a:solidFill>
                <a:latin typeface="汉仪雅酷黑简" panose="00020600040101010101" charset="-122"/>
                <a:ea typeface="汉仪雅酷黑简" panose="00020600040101010101" charset="-122"/>
                <a:cs typeface="汉仪雅酷黑简" panose="00020600040101010101" charset="-122"/>
              </a:endParaRPr>
            </a:p>
          </p:txBody>
        </p:sp>
        <p:sp>
          <p:nvSpPr>
            <p:cNvPr id="19" name="文本框 18"/>
            <p:cNvSpPr txBox="1"/>
            <p:nvPr/>
          </p:nvSpPr>
          <p:spPr>
            <a:xfrm>
              <a:off x="3506" y="4854"/>
              <a:ext cx="12189" cy="550"/>
            </a:xfrm>
            <a:prstGeom prst="rect">
              <a:avLst/>
            </a:prstGeom>
            <a:noFill/>
          </p:spPr>
          <p:txBody>
            <a:bodyPr wrap="square" rtlCol="0">
              <a:spAutoFit/>
            </a:bodyPr>
            <a:lstStyle/>
            <a:p>
              <a:pPr algn="ctr" fontAlgn="auto">
                <a:lnSpc>
                  <a:spcPct val="120000"/>
                </a:lnSpc>
              </a:pPr>
              <a:endParaRPr lang="zh-CN" altLang="en-US" sz="1400">
                <a:solidFill>
                  <a:schemeClr val="tx1">
                    <a:lumMod val="65000"/>
                    <a:lumOff val="35000"/>
                  </a:schemeClr>
                </a:solidFill>
                <a:latin typeface="汉仪中简黑简" panose="00020600040101010101" charset="-122"/>
                <a:ea typeface="汉仪中简黑简" panose="00020600040101010101" charset="-122"/>
              </a:endParaRPr>
            </a:p>
          </p:txBody>
        </p:sp>
        <p:grpSp>
          <p:nvGrpSpPr>
            <p:cNvPr id="24" name="组合 23"/>
            <p:cNvGrpSpPr/>
            <p:nvPr/>
          </p:nvGrpSpPr>
          <p:grpSpPr>
            <a:xfrm>
              <a:off x="7634" y="6579"/>
              <a:ext cx="3932" cy="57"/>
              <a:chOff x="5969" y="6594"/>
              <a:chExt cx="3932" cy="57"/>
            </a:xfrm>
          </p:grpSpPr>
          <p:sp>
            <p:nvSpPr>
              <p:cNvPr id="21" name="矩形 20"/>
              <p:cNvSpPr/>
              <p:nvPr/>
            </p:nvSpPr>
            <p:spPr>
              <a:xfrm>
                <a:off x="5969" y="6594"/>
                <a:ext cx="1148"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361" y="6594"/>
                <a:ext cx="1148"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753" y="6594"/>
                <a:ext cx="1148"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11964" y="6976"/>
              <a:ext cx="3575" cy="1481"/>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ym typeface="+mn-ea"/>
              </a:endParaRPr>
            </a:p>
            <a:p>
              <a:pPr algn="ctr"/>
              <a:endParaRPr lang="zh-CN" altLang="en-US" sz="1600">
                <a:sym typeface="+mn-ea"/>
              </a:endParaRPr>
            </a:p>
            <a:p>
              <a:pPr algn="ctr"/>
              <a:r>
                <a:rPr lang="zh-CN" altLang="en-US" sz="1600">
                  <a:sym typeface="+mn-ea"/>
                </a:rPr>
                <a:t>小组成员</a:t>
              </a:r>
              <a:r>
                <a:rPr lang="en-US" altLang="zh-CN" sz="1600">
                  <a:sym typeface="+mn-ea"/>
                </a:rPr>
                <a:t>(</a:t>
              </a:r>
              <a:r>
                <a:rPr lang="zh-CN" altLang="en-US" sz="1600">
                  <a:sym typeface="+mn-ea"/>
                </a:rPr>
                <a:t>计算</a:t>
              </a:r>
              <a:r>
                <a:rPr lang="en-US" altLang="zh-CN" sz="1600">
                  <a:sym typeface="+mn-ea"/>
                </a:rPr>
                <a:t>224) : </a:t>
              </a:r>
              <a:endParaRPr lang="en-US" altLang="zh-CN" sz="1600"/>
            </a:p>
            <a:p>
              <a:pPr algn="ctr"/>
              <a:r>
                <a:rPr lang="en-US" altLang="zh-CN" sz="1600">
                  <a:sym typeface="+mn-ea"/>
                </a:rPr>
                <a:t> 魏鹏超、王广、鞠委晟、王旭、薛瑞民、陈大地</a:t>
              </a:r>
              <a:endParaRPr lang="en-US" altLang="zh-CN" sz="1600"/>
            </a:p>
            <a:p>
              <a:pPr algn="ctr"/>
              <a:endParaRPr lang="zh-CN" altLang="en-US" sz="1600">
                <a:latin typeface="汉仪粗宋简" panose="02010600000101010101" charset="-122"/>
                <a:ea typeface="汉仪粗宋简" panose="02010600000101010101" charset="-122"/>
              </a:endParaRPr>
            </a:p>
            <a:p>
              <a:pPr algn="ctr"/>
              <a:endParaRPr lang="zh-CN" altLang="en-US" sz="1600">
                <a:latin typeface="汉仪粗宋简" panose="02010600000101010101" charset="-122"/>
                <a:ea typeface="汉仪粗宋简" panose="02010600000101010101" charset="-122"/>
              </a:endParaRPr>
            </a:p>
          </p:txBody>
        </p:sp>
      </p:grpSp>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17"/>
          <a:srcRect l="2780" t="4269" r="2331" b="5876"/>
          <a:stretch>
            <a:fillRect/>
          </a:stretch>
        </p:blipFill>
        <p:spPr>
          <a:xfrm>
            <a:off x="-9525" y="635"/>
            <a:ext cx="12191365" cy="6857365"/>
          </a:xfrm>
          <a:prstGeom prst="rect">
            <a:avLst/>
          </a:prstGeom>
        </p:spPr>
      </p:pic>
      <p:grpSp>
        <p:nvGrpSpPr>
          <p:cNvPr id="48" name="组合 47"/>
          <p:cNvGrpSpPr/>
          <p:nvPr/>
        </p:nvGrpSpPr>
        <p:grpSpPr>
          <a:xfrm>
            <a:off x="5346065" y="769620"/>
            <a:ext cx="1480820" cy="877570"/>
            <a:chOff x="8419" y="1077"/>
            <a:chExt cx="2332" cy="1382"/>
          </a:xfrm>
        </p:grpSpPr>
        <p:sp>
          <p:nvSpPr>
            <p:cNvPr id="2" name="文本框 1"/>
            <p:cNvSpPr txBox="1"/>
            <p:nvPr/>
          </p:nvSpPr>
          <p:spPr>
            <a:xfrm>
              <a:off x="8494" y="1077"/>
              <a:ext cx="2211" cy="1307"/>
            </a:xfrm>
            <a:prstGeom prst="rect">
              <a:avLst/>
            </a:prstGeom>
            <a:noFill/>
          </p:spPr>
          <p:txBody>
            <a:bodyPr wrap="square" rtlCol="0">
              <a:spAutoFit/>
            </a:bodyPr>
            <a:lstStyle/>
            <a:p>
              <a:pPr algn="ctr"/>
              <a:r>
                <a:rPr lang="zh-CN" altLang="en-US" sz="4800">
                  <a:solidFill>
                    <a:srgbClr val="920417"/>
                  </a:solidFill>
                  <a:latin typeface="汉仪雅酷黑简" panose="00020600040101010101" charset="-122"/>
                  <a:ea typeface="汉仪雅酷黑简" panose="00020600040101010101" charset="-122"/>
                </a:rPr>
                <a:t>目录</a:t>
              </a:r>
            </a:p>
          </p:txBody>
        </p:sp>
        <p:grpSp>
          <p:nvGrpSpPr>
            <p:cNvPr id="3" name="组合 2"/>
            <p:cNvGrpSpPr/>
            <p:nvPr/>
          </p:nvGrpSpPr>
          <p:grpSpPr>
            <a:xfrm>
              <a:off x="8419" y="2403"/>
              <a:ext cx="2332" cy="56"/>
              <a:chOff x="7634" y="6188"/>
              <a:chExt cx="2332" cy="56"/>
            </a:xfrm>
          </p:grpSpPr>
          <p:sp>
            <p:nvSpPr>
              <p:cNvPr id="7" name="矩形 6"/>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7" name="组合 46"/>
          <p:cNvGrpSpPr/>
          <p:nvPr>
            <p:custDataLst>
              <p:tags r:id="rId2"/>
            </p:custDataLst>
          </p:nvPr>
        </p:nvGrpSpPr>
        <p:grpSpPr>
          <a:xfrm>
            <a:off x="1755775" y="2017395"/>
            <a:ext cx="8642350" cy="3002280"/>
            <a:chOff x="2762" y="3147"/>
            <a:chExt cx="13610" cy="4728"/>
          </a:xfrm>
        </p:grpSpPr>
        <p:grpSp>
          <p:nvGrpSpPr>
            <p:cNvPr id="28" name="组合 27"/>
            <p:cNvGrpSpPr/>
            <p:nvPr/>
          </p:nvGrpSpPr>
          <p:grpSpPr>
            <a:xfrm>
              <a:off x="2762" y="3147"/>
              <a:ext cx="3308" cy="4728"/>
              <a:chOff x="2762" y="3147"/>
              <a:chExt cx="3308" cy="4728"/>
            </a:xfrm>
          </p:grpSpPr>
          <p:sp>
            <p:nvSpPr>
              <p:cNvPr id="13" name="矩形 12"/>
              <p:cNvSpPr/>
              <p:nvPr>
                <p:custDataLst>
                  <p:tags r:id="rId12"/>
                </p:custDataLst>
              </p:nvPr>
            </p:nvSpPr>
            <p:spPr>
              <a:xfrm>
                <a:off x="2762" y="3147"/>
                <a:ext cx="3308" cy="4728"/>
              </a:xfrm>
              <a:prstGeom prst="rect">
                <a:avLst/>
              </a:prstGeom>
              <a:noFill/>
              <a:ln w="12700" cmpd="sng">
                <a:solidFill>
                  <a:srgbClr val="92041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3107" y="3920"/>
                <a:ext cx="2618" cy="3142"/>
                <a:chOff x="3107" y="3398"/>
                <a:chExt cx="2618" cy="3142"/>
              </a:xfrm>
            </p:grpSpPr>
            <p:sp>
              <p:nvSpPr>
                <p:cNvPr id="22" name="文本框 21"/>
                <p:cNvSpPr txBox="1"/>
                <p:nvPr>
                  <p:custDataLst>
                    <p:tags r:id="rId13"/>
                  </p:custDataLst>
                </p:nvPr>
              </p:nvSpPr>
              <p:spPr>
                <a:xfrm>
                  <a:off x="3482" y="3398"/>
                  <a:ext cx="1869" cy="1452"/>
                </a:xfrm>
                <a:prstGeom prst="rect">
                  <a:avLst/>
                </a:prstGeom>
                <a:noFill/>
              </p:spPr>
              <p:txBody>
                <a:bodyPr wrap="square" rtlCol="0">
                  <a:spAutoFit/>
                </a:bodyPr>
                <a:lstStyle/>
                <a:p>
                  <a:r>
                    <a:rPr lang="en-US" altLang="zh-CN" sz="5400">
                      <a:solidFill>
                        <a:srgbClr val="920417"/>
                      </a:solidFill>
                      <a:latin typeface="汉仪雅酷黑简" panose="00020600040101010101" charset="-122"/>
                      <a:ea typeface="汉仪雅酷黑简" panose="00020600040101010101" charset="-122"/>
                    </a:rPr>
                    <a:t>01</a:t>
                  </a:r>
                </a:p>
              </p:txBody>
            </p:sp>
            <p:sp>
              <p:nvSpPr>
                <p:cNvPr id="23" name="文本框 22"/>
                <p:cNvSpPr txBox="1"/>
                <p:nvPr>
                  <p:custDataLst>
                    <p:tags r:id="rId14"/>
                  </p:custDataLst>
                </p:nvPr>
              </p:nvSpPr>
              <p:spPr>
                <a:xfrm>
                  <a:off x="3107" y="5039"/>
                  <a:ext cx="2618" cy="1501"/>
                </a:xfrm>
                <a:prstGeom prst="rect">
                  <a:avLst/>
                </a:prstGeom>
                <a:noFill/>
              </p:spPr>
              <p:txBody>
                <a:bodyPr wrap="square" rtlCol="0">
                  <a:spAutoFit/>
                </a:bodyPr>
                <a:lstStyle/>
                <a:p>
                  <a:pPr algn="ctr"/>
                  <a:r>
                    <a:rPr lang="zh-CN" altLang="en-US" sz="2800">
                      <a:solidFill>
                        <a:srgbClr val="920417"/>
                      </a:solidFill>
                      <a:latin typeface="汉仪粗宋简" panose="02010600000101010101" charset="-122"/>
                      <a:ea typeface="汉仪粗宋简" panose="02010600000101010101" charset="-122"/>
                    </a:rPr>
                    <a:t>研究背景与意义</a:t>
                  </a:r>
                </a:p>
              </p:txBody>
            </p:sp>
          </p:grpSp>
        </p:grpSp>
        <p:grpSp>
          <p:nvGrpSpPr>
            <p:cNvPr id="29" name="组合 28"/>
            <p:cNvGrpSpPr/>
            <p:nvPr/>
          </p:nvGrpSpPr>
          <p:grpSpPr>
            <a:xfrm>
              <a:off x="6196" y="3147"/>
              <a:ext cx="3308" cy="4728"/>
              <a:chOff x="2762" y="3147"/>
              <a:chExt cx="3308" cy="4728"/>
            </a:xfrm>
          </p:grpSpPr>
          <p:sp>
            <p:nvSpPr>
              <p:cNvPr id="30" name="矩形 29"/>
              <p:cNvSpPr/>
              <p:nvPr>
                <p:custDataLst>
                  <p:tags r:id="rId9"/>
                </p:custDataLst>
              </p:nvPr>
            </p:nvSpPr>
            <p:spPr>
              <a:xfrm>
                <a:off x="2762" y="3147"/>
                <a:ext cx="3308" cy="4728"/>
              </a:xfrm>
              <a:prstGeom prst="rect">
                <a:avLst/>
              </a:prstGeom>
              <a:noFill/>
              <a:ln w="12700" cmpd="sng">
                <a:solidFill>
                  <a:srgbClr val="92041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3107" y="3920"/>
                <a:ext cx="2618" cy="3142"/>
                <a:chOff x="3107" y="3398"/>
                <a:chExt cx="2618" cy="3142"/>
              </a:xfrm>
            </p:grpSpPr>
            <p:sp>
              <p:nvSpPr>
                <p:cNvPr id="32" name="文本框 31"/>
                <p:cNvSpPr txBox="1"/>
                <p:nvPr>
                  <p:custDataLst>
                    <p:tags r:id="rId10"/>
                  </p:custDataLst>
                </p:nvPr>
              </p:nvSpPr>
              <p:spPr>
                <a:xfrm>
                  <a:off x="3482" y="3398"/>
                  <a:ext cx="1869" cy="1452"/>
                </a:xfrm>
                <a:prstGeom prst="rect">
                  <a:avLst/>
                </a:prstGeom>
                <a:noFill/>
              </p:spPr>
              <p:txBody>
                <a:bodyPr wrap="square" rtlCol="0">
                  <a:spAutoFit/>
                </a:bodyPr>
                <a:lstStyle/>
                <a:p>
                  <a:r>
                    <a:rPr lang="en-US" altLang="zh-CN" sz="5400">
                      <a:solidFill>
                        <a:srgbClr val="920417"/>
                      </a:solidFill>
                      <a:latin typeface="汉仪雅酷黑简" panose="00020600040101010101" charset="-122"/>
                      <a:ea typeface="汉仪雅酷黑简" panose="00020600040101010101" charset="-122"/>
                    </a:rPr>
                    <a:t>02</a:t>
                  </a:r>
                </a:p>
              </p:txBody>
            </p:sp>
            <p:sp>
              <p:nvSpPr>
                <p:cNvPr id="33" name="文本框 32"/>
                <p:cNvSpPr txBox="1"/>
                <p:nvPr>
                  <p:custDataLst>
                    <p:tags r:id="rId11"/>
                  </p:custDataLst>
                </p:nvPr>
              </p:nvSpPr>
              <p:spPr>
                <a:xfrm>
                  <a:off x="3107" y="5039"/>
                  <a:ext cx="2618" cy="1501"/>
                </a:xfrm>
                <a:prstGeom prst="rect">
                  <a:avLst/>
                </a:prstGeom>
                <a:noFill/>
              </p:spPr>
              <p:txBody>
                <a:bodyPr wrap="square" rtlCol="0">
                  <a:spAutoFit/>
                </a:bodyPr>
                <a:lstStyle/>
                <a:p>
                  <a:pPr algn="ctr"/>
                  <a:r>
                    <a:rPr lang="zh-CN" altLang="en-US" sz="2800">
                      <a:solidFill>
                        <a:srgbClr val="920417"/>
                      </a:solidFill>
                      <a:latin typeface="汉仪粗宋简" panose="02010600000101010101" charset="-122"/>
                      <a:ea typeface="汉仪粗宋简" panose="02010600000101010101" charset="-122"/>
                    </a:rPr>
                    <a:t>研究目的与问题</a:t>
                  </a:r>
                </a:p>
              </p:txBody>
            </p:sp>
          </p:grpSp>
        </p:grpSp>
        <p:grpSp>
          <p:nvGrpSpPr>
            <p:cNvPr id="35" name="组合 34"/>
            <p:cNvGrpSpPr/>
            <p:nvPr/>
          </p:nvGrpSpPr>
          <p:grpSpPr>
            <a:xfrm>
              <a:off x="9630" y="3147"/>
              <a:ext cx="3308" cy="4728"/>
              <a:chOff x="2762" y="3147"/>
              <a:chExt cx="3308" cy="4728"/>
            </a:xfrm>
          </p:grpSpPr>
          <p:sp>
            <p:nvSpPr>
              <p:cNvPr id="36" name="矩形 35"/>
              <p:cNvSpPr/>
              <p:nvPr>
                <p:custDataLst>
                  <p:tags r:id="rId6"/>
                </p:custDataLst>
              </p:nvPr>
            </p:nvSpPr>
            <p:spPr>
              <a:xfrm>
                <a:off x="2762" y="3147"/>
                <a:ext cx="3308" cy="4728"/>
              </a:xfrm>
              <a:prstGeom prst="rect">
                <a:avLst/>
              </a:prstGeom>
              <a:noFill/>
              <a:ln w="12700" cmpd="sng">
                <a:solidFill>
                  <a:srgbClr val="92041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3107" y="3920"/>
                <a:ext cx="2618" cy="3142"/>
                <a:chOff x="3107" y="3398"/>
                <a:chExt cx="2618" cy="3142"/>
              </a:xfrm>
            </p:grpSpPr>
            <p:sp>
              <p:nvSpPr>
                <p:cNvPr id="38" name="文本框 37"/>
                <p:cNvSpPr txBox="1"/>
                <p:nvPr>
                  <p:custDataLst>
                    <p:tags r:id="rId7"/>
                  </p:custDataLst>
                </p:nvPr>
              </p:nvSpPr>
              <p:spPr>
                <a:xfrm>
                  <a:off x="3482" y="3398"/>
                  <a:ext cx="1869" cy="1452"/>
                </a:xfrm>
                <a:prstGeom prst="rect">
                  <a:avLst/>
                </a:prstGeom>
                <a:noFill/>
              </p:spPr>
              <p:txBody>
                <a:bodyPr wrap="square" rtlCol="0">
                  <a:spAutoFit/>
                </a:bodyPr>
                <a:lstStyle/>
                <a:p>
                  <a:r>
                    <a:rPr lang="en-US" altLang="zh-CN" sz="5400">
                      <a:solidFill>
                        <a:srgbClr val="920417"/>
                      </a:solidFill>
                      <a:latin typeface="汉仪雅酷黑简" panose="00020600040101010101" charset="-122"/>
                      <a:ea typeface="汉仪雅酷黑简" panose="00020600040101010101" charset="-122"/>
                    </a:rPr>
                    <a:t>03</a:t>
                  </a:r>
                </a:p>
              </p:txBody>
            </p:sp>
            <p:sp>
              <p:nvSpPr>
                <p:cNvPr id="39" name="文本框 38"/>
                <p:cNvSpPr txBox="1"/>
                <p:nvPr>
                  <p:custDataLst>
                    <p:tags r:id="rId8"/>
                  </p:custDataLst>
                </p:nvPr>
              </p:nvSpPr>
              <p:spPr>
                <a:xfrm>
                  <a:off x="3107" y="5039"/>
                  <a:ext cx="2618" cy="1501"/>
                </a:xfrm>
                <a:prstGeom prst="rect">
                  <a:avLst/>
                </a:prstGeom>
                <a:noFill/>
              </p:spPr>
              <p:txBody>
                <a:bodyPr wrap="square" rtlCol="0">
                  <a:spAutoFit/>
                </a:bodyPr>
                <a:lstStyle/>
                <a:p>
                  <a:pPr algn="ctr"/>
                  <a:r>
                    <a:rPr lang="zh-CN" altLang="en-US" sz="2800">
                      <a:solidFill>
                        <a:srgbClr val="920417"/>
                      </a:solidFill>
                      <a:latin typeface="汉仪粗宋简" panose="02010600000101010101" charset="-122"/>
                      <a:ea typeface="汉仪粗宋简" panose="02010600000101010101" charset="-122"/>
                    </a:rPr>
                    <a:t>调研方法与过程</a:t>
                  </a:r>
                </a:p>
              </p:txBody>
            </p:sp>
          </p:grpSp>
        </p:grpSp>
        <p:grpSp>
          <p:nvGrpSpPr>
            <p:cNvPr id="41" name="组合 40"/>
            <p:cNvGrpSpPr/>
            <p:nvPr/>
          </p:nvGrpSpPr>
          <p:grpSpPr>
            <a:xfrm>
              <a:off x="13064" y="3147"/>
              <a:ext cx="3308" cy="4728"/>
              <a:chOff x="2762" y="3147"/>
              <a:chExt cx="3308" cy="4728"/>
            </a:xfrm>
          </p:grpSpPr>
          <p:sp>
            <p:nvSpPr>
              <p:cNvPr id="42" name="矩形 41"/>
              <p:cNvSpPr/>
              <p:nvPr>
                <p:custDataLst>
                  <p:tags r:id="rId3"/>
                </p:custDataLst>
              </p:nvPr>
            </p:nvSpPr>
            <p:spPr>
              <a:xfrm>
                <a:off x="2762" y="3147"/>
                <a:ext cx="3308" cy="4728"/>
              </a:xfrm>
              <a:prstGeom prst="rect">
                <a:avLst/>
              </a:prstGeom>
              <a:noFill/>
              <a:ln w="12700" cmpd="sng">
                <a:solidFill>
                  <a:srgbClr val="92041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3107" y="3920"/>
                <a:ext cx="2618" cy="3142"/>
                <a:chOff x="3107" y="3398"/>
                <a:chExt cx="2618" cy="3142"/>
              </a:xfrm>
            </p:grpSpPr>
            <p:sp>
              <p:nvSpPr>
                <p:cNvPr id="44" name="文本框 43"/>
                <p:cNvSpPr txBox="1"/>
                <p:nvPr>
                  <p:custDataLst>
                    <p:tags r:id="rId4"/>
                  </p:custDataLst>
                </p:nvPr>
              </p:nvSpPr>
              <p:spPr>
                <a:xfrm>
                  <a:off x="3482" y="3398"/>
                  <a:ext cx="1869" cy="1452"/>
                </a:xfrm>
                <a:prstGeom prst="rect">
                  <a:avLst/>
                </a:prstGeom>
                <a:noFill/>
              </p:spPr>
              <p:txBody>
                <a:bodyPr wrap="square" rtlCol="0">
                  <a:spAutoFit/>
                </a:bodyPr>
                <a:lstStyle/>
                <a:p>
                  <a:r>
                    <a:rPr lang="en-US" altLang="zh-CN" sz="5400">
                      <a:solidFill>
                        <a:srgbClr val="920417"/>
                      </a:solidFill>
                      <a:latin typeface="汉仪雅酷黑简" panose="00020600040101010101" charset="-122"/>
                      <a:ea typeface="汉仪雅酷黑简" panose="00020600040101010101" charset="-122"/>
                    </a:rPr>
                    <a:t>04</a:t>
                  </a:r>
                </a:p>
              </p:txBody>
            </p:sp>
            <p:sp>
              <p:nvSpPr>
                <p:cNvPr id="45" name="文本框 44"/>
                <p:cNvSpPr txBox="1"/>
                <p:nvPr>
                  <p:custDataLst>
                    <p:tags r:id="rId5"/>
                  </p:custDataLst>
                </p:nvPr>
              </p:nvSpPr>
              <p:spPr>
                <a:xfrm>
                  <a:off x="3107" y="5039"/>
                  <a:ext cx="2618" cy="1501"/>
                </a:xfrm>
                <a:prstGeom prst="rect">
                  <a:avLst/>
                </a:prstGeom>
                <a:noFill/>
              </p:spPr>
              <p:txBody>
                <a:bodyPr wrap="square" rtlCol="0">
                  <a:spAutoFit/>
                </a:bodyPr>
                <a:lstStyle/>
                <a:p>
                  <a:pPr algn="ctr"/>
                  <a:r>
                    <a:rPr lang="zh-CN" altLang="en-US" sz="2800">
                      <a:solidFill>
                        <a:srgbClr val="920417"/>
                      </a:solidFill>
                      <a:latin typeface="汉仪粗宋简" panose="02010600000101010101" charset="-122"/>
                      <a:ea typeface="汉仪粗宋简" panose="02010600000101010101" charset="-122"/>
                    </a:rPr>
                    <a:t>调研结果与分析</a:t>
                  </a:r>
                </a:p>
              </p:txBody>
            </p:sp>
          </p:gr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p:cNvGrpSpPr/>
          <p:nvPr/>
        </p:nvGrpSpPr>
        <p:grpSpPr>
          <a:xfrm>
            <a:off x="2197100" y="1863090"/>
            <a:ext cx="7174230" cy="3131820"/>
            <a:chOff x="3496" y="2934"/>
            <a:chExt cx="11298" cy="4932"/>
          </a:xfrm>
        </p:grpSpPr>
        <p:grpSp>
          <p:nvGrpSpPr>
            <p:cNvPr id="4" name="组合 3"/>
            <p:cNvGrpSpPr/>
            <p:nvPr/>
          </p:nvGrpSpPr>
          <p:grpSpPr>
            <a:xfrm>
              <a:off x="3496" y="2934"/>
              <a:ext cx="4932" cy="4932"/>
              <a:chOff x="10504" y="2543"/>
              <a:chExt cx="4932" cy="4932"/>
            </a:xfrm>
          </p:grpSpPr>
          <p:pic>
            <p:nvPicPr>
              <p:cNvPr id="2" name="图片 1" descr="happy-graduate-woman-mantle-rejoicing-laughing-smiling"/>
              <p:cNvPicPr>
                <a:picLocks noChangeAspect="1"/>
              </p:cNvPicPr>
              <p:nvPr/>
            </p:nvPicPr>
            <p:blipFill>
              <a:blip r:embed="rId5"/>
              <a:srcRect l="25241" r="8936"/>
              <a:stretch>
                <a:fillRect/>
              </a:stretch>
            </p:blipFill>
            <p:spPr>
              <a:xfrm flipH="1">
                <a:off x="10548" y="2587"/>
                <a:ext cx="4844" cy="4844"/>
              </a:xfrm>
              <a:prstGeom prst="ellipse">
                <a:avLst/>
              </a:prstGeom>
            </p:spPr>
          </p:pic>
          <p:sp>
            <p:nvSpPr>
              <p:cNvPr id="3" name="椭圆 2"/>
              <p:cNvSpPr/>
              <p:nvPr/>
            </p:nvSpPr>
            <p:spPr>
              <a:xfrm>
                <a:off x="10504" y="2543"/>
                <a:ext cx="4932" cy="4932"/>
              </a:xfrm>
              <a:prstGeom prst="ellipse">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0052" y="3715"/>
              <a:ext cx="4742" cy="4071"/>
              <a:chOff x="10052" y="3392"/>
              <a:chExt cx="4742" cy="4071"/>
            </a:xfrm>
          </p:grpSpPr>
          <p:sp>
            <p:nvSpPr>
              <p:cNvPr id="8" name="文本框 7"/>
              <p:cNvSpPr txBox="1"/>
              <p:nvPr/>
            </p:nvSpPr>
            <p:spPr>
              <a:xfrm>
                <a:off x="10666" y="3392"/>
                <a:ext cx="3515" cy="1016"/>
              </a:xfrm>
              <a:prstGeom prst="rect">
                <a:avLst/>
              </a:prstGeom>
              <a:noFill/>
            </p:spPr>
            <p:txBody>
              <a:bodyPr wrap="square" rtlCol="0">
                <a:spAutoFit/>
              </a:bodyPr>
              <a:lstStyle/>
              <a:p>
                <a:pPr algn="ctr"/>
                <a:r>
                  <a:rPr lang="en-US" altLang="zh-CN" sz="3600">
                    <a:solidFill>
                      <a:srgbClr val="920417"/>
                    </a:solidFill>
                    <a:latin typeface="汉仪粗宋简" panose="02010600000101010101" charset="-122"/>
                    <a:ea typeface="汉仪粗宋简" panose="02010600000101010101" charset="-122"/>
                  </a:rPr>
                  <a:t>PART-01</a:t>
                </a:r>
              </a:p>
            </p:txBody>
          </p:sp>
          <p:sp>
            <p:nvSpPr>
              <p:cNvPr id="9" name="文本框 8"/>
              <p:cNvSpPr txBox="1"/>
              <p:nvPr/>
            </p:nvSpPr>
            <p:spPr>
              <a:xfrm>
                <a:off x="10052" y="4179"/>
                <a:ext cx="4742" cy="3284"/>
              </a:xfrm>
              <a:prstGeom prst="rect">
                <a:avLst/>
              </a:prstGeom>
              <a:noFill/>
            </p:spPr>
            <p:txBody>
              <a:bodyPr wrap="square" rtlCol="0">
                <a:spAutoFit/>
              </a:bodyPr>
              <a:lstStyle/>
              <a:p>
                <a:pPr algn="ctr" fontAlgn="auto">
                  <a:lnSpc>
                    <a:spcPct val="120000"/>
                  </a:lnSpc>
                </a:pPr>
                <a:r>
                  <a:rPr lang="zh-CN" altLang="en-US" sz="5400">
                    <a:solidFill>
                      <a:srgbClr val="920417"/>
                    </a:solidFill>
                    <a:latin typeface="汉仪粗宋简" panose="02010600000101010101" charset="-122"/>
                    <a:ea typeface="汉仪粗宋简" panose="02010600000101010101" charset="-122"/>
                  </a:rPr>
                  <a:t>研究背景与意义</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        </a:t>
            </a:r>
            <a:r>
              <a:rPr lang="zh-CN" altLang="en-US" b="1" i="1" dirty="0">
                <a:solidFill>
                  <a:schemeClr val="tx1"/>
                </a:solidFill>
              </a:rPr>
              <a:t>全球化、信息化和网络化的迅速发展：</a:t>
            </a:r>
            <a:r>
              <a:rPr lang="zh-CN" altLang="en-US" dirty="0">
                <a:solidFill>
                  <a:schemeClr val="tx1"/>
                </a:solidFill>
              </a:rPr>
              <a:t>这些因素对当代大学生产生了新的挑战和影响，作为社会主义现代化建设的生力军和接班人，大学生面临着前所未有的社会环境。</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        </a:t>
            </a:r>
            <a:r>
              <a:rPr lang="zh-CN" altLang="en-US" b="1" i="1" dirty="0">
                <a:solidFill>
                  <a:schemeClr val="tx1"/>
                </a:solidFill>
              </a:rPr>
              <a:t>意识形态教育的重要性：</a:t>
            </a:r>
            <a:r>
              <a:rPr lang="zh-CN" altLang="en-US" dirty="0">
                <a:solidFill>
                  <a:schemeClr val="tx1"/>
                </a:solidFill>
              </a:rPr>
              <a:t>大学生作为意识形态教育的主体，他们对马克思主义的认识、理解、判断和选择将直接影响国家的发展方向和社会进步。</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        </a:t>
            </a:r>
            <a:r>
              <a:rPr lang="zh-CN" altLang="en-US" b="1" i="1" dirty="0">
                <a:solidFill>
                  <a:schemeClr val="tx1"/>
                </a:solidFill>
              </a:rPr>
              <a:t>国家未来的影响：</a:t>
            </a:r>
            <a:r>
              <a:rPr lang="zh-CN" altLang="en-US" dirty="0">
                <a:solidFill>
                  <a:schemeClr val="tx1"/>
                </a:solidFill>
              </a:rPr>
              <a:t>大学生对马克思主义意识形态的正确理解、评价和选择，关系到国家和民族的未来。</a:t>
            </a:r>
            <a:endParaRPr lang="en-US" altLang="zh-CN" dirty="0">
              <a:solidFill>
                <a:schemeClr val="tx1"/>
              </a:solidFill>
            </a:endParaRPr>
          </a:p>
          <a:p>
            <a:endParaRPr lang="en-US" altLang="zh-CN" dirty="0">
              <a:solidFill>
                <a:schemeClr val="tx1"/>
              </a:solidFill>
            </a:endParaRPr>
          </a:p>
          <a:p>
            <a:r>
              <a:rPr lang="en-US" altLang="zh-CN" dirty="0">
                <a:solidFill>
                  <a:schemeClr val="tx1"/>
                </a:solidFill>
              </a:rPr>
              <a:t>        </a:t>
            </a:r>
            <a:r>
              <a:rPr lang="zh-CN" altLang="en-US" b="1" i="1" dirty="0">
                <a:solidFill>
                  <a:schemeClr val="tx1"/>
                </a:solidFill>
              </a:rPr>
              <a:t>战略意义：</a:t>
            </a:r>
            <a:r>
              <a:rPr lang="zh-CN" altLang="en-US" dirty="0">
                <a:solidFill>
                  <a:schemeClr val="tx1"/>
                </a:solidFill>
              </a:rPr>
              <a:t>加强对大学生的马克思主义意识形态教育，坚定他们的科学信念，对国家具有重要的战略意义。</a:t>
            </a:r>
          </a:p>
        </p:txBody>
      </p:sp>
      <p:sp>
        <p:nvSpPr>
          <p:cNvPr id="17" name="文本框 16"/>
          <p:cNvSpPr txBox="1"/>
          <p:nvPr/>
        </p:nvSpPr>
        <p:spPr>
          <a:xfrm>
            <a:off x="4311650" y="416560"/>
            <a:ext cx="3569335" cy="645160"/>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rPr>
              <a:t>研究背景与意义</a:t>
            </a: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58775"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232000" y="411163"/>
            <a:ext cx="1728000" cy="645160"/>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rPr>
              <a:t>思想方面</a:t>
            </a: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312545" y="1866904"/>
            <a:ext cx="9535160" cy="3542030"/>
            <a:chOff x="2253" y="2974"/>
            <a:chExt cx="15016" cy="5578"/>
          </a:xfrm>
        </p:grpSpPr>
        <p:grpSp>
          <p:nvGrpSpPr>
            <p:cNvPr id="24" name="组合 23"/>
            <p:cNvGrpSpPr/>
            <p:nvPr/>
          </p:nvGrpSpPr>
          <p:grpSpPr>
            <a:xfrm>
              <a:off x="2253" y="3166"/>
              <a:ext cx="4706" cy="5386"/>
              <a:chOff x="8434" y="2529"/>
              <a:chExt cx="4762" cy="5442"/>
            </a:xfrm>
          </p:grpSpPr>
          <p:pic>
            <p:nvPicPr>
              <p:cNvPr id="22" name="图片 21" descr="young-female-university-graduate-academic-cap-sitting-table-smiling-pointing-left-future-lawyer-engineer-showing-idea"/>
              <p:cNvPicPr>
                <a:picLocks noChangeAspect="1"/>
              </p:cNvPicPr>
              <p:nvPr/>
            </p:nvPicPr>
            <p:blipFill>
              <a:blip r:embed="rId4"/>
              <a:srcRect l="39395" t="13602" r="10288"/>
              <a:stretch>
                <a:fillRect/>
              </a:stretch>
            </p:blipFill>
            <p:spPr>
              <a:xfrm flipH="1">
                <a:off x="8488" y="2585"/>
                <a:ext cx="4655" cy="5330"/>
              </a:xfrm>
              <a:prstGeom prst="roundRect">
                <a:avLst/>
              </a:prstGeom>
            </p:spPr>
          </p:pic>
          <p:sp>
            <p:nvSpPr>
              <p:cNvPr id="23" name="圆角矩形 22"/>
              <p:cNvSpPr/>
              <p:nvPr/>
            </p:nvSpPr>
            <p:spPr>
              <a:xfrm>
                <a:off x="8434" y="2529"/>
                <a:ext cx="4762" cy="5443"/>
              </a:xfrm>
              <a:prstGeom prst="roundRect">
                <a:avLst/>
              </a:prstGeom>
              <a:noFill/>
              <a:ln w="12700" cmpd="sng">
                <a:solidFill>
                  <a:srgbClr val="92041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7349" y="2974"/>
              <a:ext cx="9920" cy="5578"/>
              <a:chOff x="7349" y="2974"/>
              <a:chExt cx="9920" cy="5578"/>
            </a:xfrm>
          </p:grpSpPr>
          <p:grpSp>
            <p:nvGrpSpPr>
              <p:cNvPr id="27" name="组合 26"/>
              <p:cNvGrpSpPr/>
              <p:nvPr/>
            </p:nvGrpSpPr>
            <p:grpSpPr>
              <a:xfrm>
                <a:off x="7349" y="2974"/>
                <a:ext cx="9920" cy="1132"/>
                <a:chOff x="7379" y="2974"/>
                <a:chExt cx="9920" cy="1132"/>
              </a:xfrm>
            </p:grpSpPr>
            <p:sp>
              <p:nvSpPr>
                <p:cNvPr id="25" name="文本框 24"/>
                <p:cNvSpPr txBox="1"/>
                <p:nvPr/>
              </p:nvSpPr>
              <p:spPr>
                <a:xfrm>
                  <a:off x="7379" y="2974"/>
                  <a:ext cx="2157" cy="625"/>
                </a:xfrm>
                <a:prstGeom prst="rect">
                  <a:avLst/>
                </a:prstGeom>
                <a:noFill/>
              </p:spPr>
              <p:txBody>
                <a:bodyPr wrap="square" rtlCol="0">
                  <a:spAutoFit/>
                </a:bodyPr>
                <a:lstStyle/>
                <a:p>
                  <a:pPr fontAlgn="auto">
                    <a:lnSpc>
                      <a:spcPct val="120000"/>
                    </a:lnSpc>
                  </a:pP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26" name="文本框 25"/>
                <p:cNvSpPr txBox="1"/>
                <p:nvPr/>
              </p:nvSpPr>
              <p:spPr>
                <a:xfrm>
                  <a:off x="7379" y="3510"/>
                  <a:ext cx="9920" cy="596"/>
                </a:xfrm>
                <a:prstGeom prst="rect">
                  <a:avLst/>
                </a:prstGeom>
                <a:noFill/>
              </p:spPr>
              <p:txBody>
                <a:bodyPr wrap="square" rtlCol="0">
                  <a:spAutoFit/>
                </a:bodyPr>
                <a:lstStyle/>
                <a:p>
                  <a:pPr fontAlgn="auto">
                    <a:lnSpc>
                      <a:spcPct val="150000"/>
                    </a:lnSpc>
                  </a:pPr>
                  <a:endParaRPr lang="en-US" altLang="zh-CN" sz="1400" dirty="0">
                    <a:solidFill>
                      <a:schemeClr val="tx1">
                        <a:lumMod val="65000"/>
                        <a:lumOff val="35000"/>
                      </a:schemeClr>
                    </a:solidFill>
                    <a:latin typeface="汉仪中简黑简" panose="00020600040101010101" charset="-122"/>
                    <a:ea typeface="汉仪中简黑简" panose="00020600040101010101" charset="-122"/>
                  </a:endParaRPr>
                </a:p>
              </p:txBody>
            </p:sp>
          </p:grpSp>
          <p:grpSp>
            <p:nvGrpSpPr>
              <p:cNvPr id="39" name="组合 38"/>
              <p:cNvGrpSpPr/>
              <p:nvPr/>
            </p:nvGrpSpPr>
            <p:grpSpPr>
              <a:xfrm>
                <a:off x="7506" y="5038"/>
                <a:ext cx="9560" cy="3514"/>
                <a:chOff x="7506" y="5038"/>
                <a:chExt cx="9560" cy="3514"/>
              </a:xfrm>
            </p:grpSpPr>
            <p:grpSp>
              <p:nvGrpSpPr>
                <p:cNvPr id="34" name="组合 33"/>
                <p:cNvGrpSpPr/>
                <p:nvPr/>
              </p:nvGrpSpPr>
              <p:grpSpPr>
                <a:xfrm>
                  <a:off x="7506" y="5038"/>
                  <a:ext cx="4648" cy="3514"/>
                  <a:chOff x="7506" y="5038"/>
                  <a:chExt cx="4648" cy="3514"/>
                </a:xfrm>
              </p:grpSpPr>
              <p:sp>
                <p:nvSpPr>
                  <p:cNvPr id="28" name="圆角矩形 27"/>
                  <p:cNvSpPr/>
                  <p:nvPr/>
                </p:nvSpPr>
                <p:spPr>
                  <a:xfrm>
                    <a:off x="7506" y="5038"/>
                    <a:ext cx="4648" cy="3514"/>
                  </a:xfrm>
                  <a:prstGeom prst="roundRect">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8752" y="5249"/>
                    <a:ext cx="2157" cy="625"/>
                  </a:xfrm>
                  <a:prstGeom prst="rect">
                    <a:avLst/>
                  </a:prstGeom>
                  <a:noFill/>
                </p:spPr>
                <p:txBody>
                  <a:bodyPr wrap="square" rtlCol="0">
                    <a:spAutoFit/>
                  </a:bodyPr>
                  <a:lstStyle/>
                  <a:p>
                    <a:pPr algn="ctr" fontAlgn="auto">
                      <a:lnSpc>
                        <a:spcPct val="120000"/>
                      </a:lnSpc>
                    </a:pP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32" name="文本框 31"/>
                  <p:cNvSpPr txBox="1"/>
                  <p:nvPr/>
                </p:nvSpPr>
                <p:spPr>
                  <a:xfrm>
                    <a:off x="7631" y="5224"/>
                    <a:ext cx="4331" cy="3141"/>
                  </a:xfrm>
                  <a:prstGeom prst="rect">
                    <a:avLst/>
                  </a:prstGeom>
                  <a:noFill/>
                </p:spPr>
                <p:txBody>
                  <a:bodyPr wrap="square" rtlCol="0">
                    <a:spAutoFit/>
                  </a:bodyPr>
                  <a:lstStyle/>
                  <a:p>
                    <a:pPr algn="ctr" fontAlgn="auto">
                      <a:lnSpc>
                        <a:spcPct val="150000"/>
                      </a:lnSpc>
                    </a:pPr>
                    <a:r>
                      <a:rPr lang="zh-CN" altLang="en-US" sz="1400" b="1" i="1" dirty="0">
                        <a:solidFill>
                          <a:schemeClr val="tx1">
                            <a:lumMod val="65000"/>
                            <a:lumOff val="35000"/>
                          </a:schemeClr>
                        </a:solidFill>
                        <a:latin typeface="汉仪中简黑简" panose="00020600040101010101" charset="-122"/>
                        <a:ea typeface="汉仪中简黑简" panose="00020600040101010101" charset="-122"/>
                      </a:rPr>
                      <a:t>理论与实践结合：</a:t>
                    </a:r>
                    <a:r>
                      <a:rPr lang="zh-CN" altLang="en-US" sz="1400" dirty="0">
                        <a:solidFill>
                          <a:schemeClr val="tx1">
                            <a:lumMod val="65000"/>
                            <a:lumOff val="35000"/>
                          </a:schemeClr>
                        </a:solidFill>
                        <a:latin typeface="汉仪中简黑简" panose="00020600040101010101" charset="-122"/>
                        <a:ea typeface="汉仪中简黑简" panose="00020600040101010101" charset="-122"/>
                      </a:rPr>
                      <a:t>研究有助于探索如何将马克思主义理论与中国的具体实际相结合，以及如何将马克思主义理论应用于解决实际问题，这对于推动社会主义现代化建设具有现实指导意义。</a:t>
                    </a:r>
                    <a:endParaRPr lang="en-US" altLang="zh-CN" sz="1400" dirty="0">
                      <a:solidFill>
                        <a:schemeClr val="tx1">
                          <a:lumMod val="65000"/>
                          <a:lumOff val="35000"/>
                        </a:schemeClr>
                      </a:solidFill>
                      <a:latin typeface="汉仪中简黑简" panose="00020600040101010101" charset="-122"/>
                      <a:ea typeface="汉仪中简黑简" panose="00020600040101010101" charset="-122"/>
                    </a:endParaRPr>
                  </a:p>
                </p:txBody>
              </p:sp>
            </p:grpSp>
            <p:grpSp>
              <p:nvGrpSpPr>
                <p:cNvPr id="35" name="组合 34"/>
                <p:cNvGrpSpPr/>
                <p:nvPr/>
              </p:nvGrpSpPr>
              <p:grpSpPr>
                <a:xfrm>
                  <a:off x="12418" y="5038"/>
                  <a:ext cx="4648" cy="3514"/>
                  <a:chOff x="7506" y="5038"/>
                  <a:chExt cx="4648" cy="3514"/>
                </a:xfrm>
              </p:grpSpPr>
              <p:sp>
                <p:nvSpPr>
                  <p:cNvPr id="36" name="圆角矩形 35"/>
                  <p:cNvSpPr/>
                  <p:nvPr/>
                </p:nvSpPr>
                <p:spPr>
                  <a:xfrm>
                    <a:off x="7506" y="5038"/>
                    <a:ext cx="4648" cy="3514"/>
                  </a:xfrm>
                  <a:prstGeom prst="roundRect">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8752" y="5249"/>
                    <a:ext cx="2157" cy="625"/>
                  </a:xfrm>
                  <a:prstGeom prst="rect">
                    <a:avLst/>
                  </a:prstGeom>
                  <a:noFill/>
                </p:spPr>
                <p:txBody>
                  <a:bodyPr wrap="square" rtlCol="0">
                    <a:spAutoFit/>
                  </a:bodyPr>
                  <a:lstStyle/>
                  <a:p>
                    <a:pPr algn="ctr" fontAlgn="auto">
                      <a:lnSpc>
                        <a:spcPct val="120000"/>
                      </a:lnSpc>
                    </a:pP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38" name="文本框 37"/>
                  <p:cNvSpPr txBox="1"/>
                  <p:nvPr/>
                </p:nvSpPr>
                <p:spPr>
                  <a:xfrm>
                    <a:off x="7636" y="5644"/>
                    <a:ext cx="4331" cy="2179"/>
                  </a:xfrm>
                  <a:prstGeom prst="rect">
                    <a:avLst/>
                  </a:prstGeom>
                  <a:noFill/>
                </p:spPr>
                <p:txBody>
                  <a:bodyPr wrap="square" rtlCol="0">
                    <a:spAutoFit/>
                  </a:bodyPr>
                  <a:lstStyle/>
                  <a:p>
                    <a:pPr algn="ctr" fontAlgn="auto">
                      <a:lnSpc>
                        <a:spcPct val="150000"/>
                      </a:lnSpc>
                    </a:pPr>
                    <a:r>
                      <a:rPr lang="zh-CN" altLang="en-US" sz="1400" b="1" i="1" dirty="0">
                        <a:solidFill>
                          <a:schemeClr val="tx1">
                            <a:lumMod val="65000"/>
                            <a:lumOff val="35000"/>
                          </a:schemeClr>
                        </a:solidFill>
                        <a:latin typeface="汉仪中简黑简" panose="00020600040101010101" charset="-122"/>
                        <a:ea typeface="汉仪中简黑简" panose="00020600040101010101" charset="-122"/>
                      </a:rPr>
                      <a:t>社会责任感：</a:t>
                    </a:r>
                    <a:r>
                      <a:rPr lang="zh-CN" altLang="en-US" sz="1400" dirty="0">
                        <a:solidFill>
                          <a:schemeClr val="tx1">
                            <a:lumMod val="65000"/>
                            <a:lumOff val="35000"/>
                          </a:schemeClr>
                        </a:solidFill>
                        <a:latin typeface="汉仪中简黑简" panose="00020600040101010101" charset="-122"/>
                        <a:ea typeface="汉仪中简黑简" panose="00020600040101010101" charset="-122"/>
                      </a:rPr>
                      <a:t>通过加强对马克思主义的理解，可以增强大学生的社会责任感，使他们成为推动社会进步和文明发展的重要力量。</a:t>
                    </a:r>
                    <a:endParaRPr lang="en-US" altLang="zh-CN" sz="1400" dirty="0">
                      <a:solidFill>
                        <a:schemeClr val="tx1">
                          <a:lumMod val="65000"/>
                          <a:lumOff val="35000"/>
                        </a:schemeClr>
                      </a:solidFill>
                      <a:latin typeface="汉仪中简黑简" panose="00020600040101010101" charset="-122"/>
                      <a:ea typeface="汉仪中简黑简" panose="00020600040101010101" charset="-122"/>
                    </a:endParaRPr>
                  </a:p>
                </p:txBody>
              </p:sp>
            </p:grpSp>
          </p:gr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232000" y="411163"/>
            <a:ext cx="1728000" cy="645160"/>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rPr>
              <a:t>思想方面</a:t>
            </a: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1275080" y="2028825"/>
            <a:ext cx="7739380" cy="3499485"/>
            <a:chOff x="2203" y="3195"/>
            <a:chExt cx="12188" cy="5511"/>
          </a:xfrm>
        </p:grpSpPr>
        <p:sp>
          <p:nvSpPr>
            <p:cNvPr id="6" name="矩形 5"/>
            <p:cNvSpPr/>
            <p:nvPr/>
          </p:nvSpPr>
          <p:spPr>
            <a:xfrm>
              <a:off x="2203" y="3195"/>
              <a:ext cx="12188" cy="5511"/>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1E2836"/>
                </a:highlight>
              </a:endParaRPr>
            </a:p>
          </p:txBody>
        </p:sp>
        <p:grpSp>
          <p:nvGrpSpPr>
            <p:cNvPr id="39" name="组合 38"/>
            <p:cNvGrpSpPr/>
            <p:nvPr/>
          </p:nvGrpSpPr>
          <p:grpSpPr>
            <a:xfrm>
              <a:off x="2312" y="3561"/>
              <a:ext cx="8568" cy="4838"/>
              <a:chOff x="2552" y="3561"/>
              <a:chExt cx="8568" cy="4838"/>
            </a:xfrm>
          </p:grpSpPr>
          <p:sp>
            <p:nvSpPr>
              <p:cNvPr id="13" name="圆角矩形 12"/>
              <p:cNvSpPr/>
              <p:nvPr/>
            </p:nvSpPr>
            <p:spPr>
              <a:xfrm>
                <a:off x="2794" y="5016"/>
                <a:ext cx="7939" cy="57"/>
              </a:xfrm>
              <a:prstGeom prst="round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2552" y="5470"/>
                <a:ext cx="8568" cy="943"/>
                <a:chOff x="7188" y="3105"/>
                <a:chExt cx="10108" cy="943"/>
              </a:xfrm>
            </p:grpSpPr>
            <p:sp>
              <p:nvSpPr>
                <p:cNvPr id="25" name="文本框 24"/>
                <p:cNvSpPr txBox="1"/>
                <p:nvPr/>
              </p:nvSpPr>
              <p:spPr>
                <a:xfrm>
                  <a:off x="7188" y="3105"/>
                  <a:ext cx="2157" cy="625"/>
                </a:xfrm>
                <a:prstGeom prst="rect">
                  <a:avLst/>
                </a:prstGeom>
                <a:noFill/>
              </p:spPr>
              <p:txBody>
                <a:bodyPr wrap="square" rtlCol="0">
                  <a:spAutoFit/>
                </a:bodyPr>
                <a:lstStyle/>
                <a:p>
                  <a:pPr fontAlgn="auto">
                    <a:lnSpc>
                      <a:spcPct val="120000"/>
                    </a:lnSpc>
                  </a:pP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26" name="文本框 25"/>
                <p:cNvSpPr txBox="1"/>
                <p:nvPr/>
              </p:nvSpPr>
              <p:spPr>
                <a:xfrm>
                  <a:off x="7376" y="3563"/>
                  <a:ext cx="9920" cy="485"/>
                </a:xfrm>
                <a:prstGeom prst="rect">
                  <a:avLst/>
                </a:prstGeom>
                <a:noFill/>
              </p:spPr>
              <p:txBody>
                <a:bodyPr wrap="square" rtlCol="0">
                  <a:spAutoFit/>
                </a:bodyPr>
                <a:lstStyle/>
                <a:p>
                  <a:pPr algn="l"/>
                  <a:endParaRPr lang="zh-CN" altLang="en-US" sz="1400" b="0" i="0" dirty="0">
                    <a:solidFill>
                      <a:srgbClr val="060607"/>
                    </a:solidFill>
                    <a:effectLst/>
                    <a:highlight>
                      <a:srgbClr val="FFFFFF"/>
                    </a:highlight>
                    <a:latin typeface="-apple-system"/>
                  </a:endParaRPr>
                </a:p>
              </p:txBody>
            </p:sp>
          </p:grpSp>
          <p:sp>
            <p:nvSpPr>
              <p:cNvPr id="22" name="文本框 21"/>
              <p:cNvSpPr txBox="1"/>
              <p:nvPr/>
            </p:nvSpPr>
            <p:spPr>
              <a:xfrm>
                <a:off x="2552" y="7294"/>
                <a:ext cx="8409" cy="1105"/>
              </a:xfrm>
              <a:prstGeom prst="rect">
                <a:avLst/>
              </a:prstGeom>
              <a:noFill/>
            </p:spPr>
            <p:txBody>
              <a:bodyPr wrap="square" rtlCol="0">
                <a:spAutoFit/>
              </a:bodyPr>
              <a:lstStyle/>
              <a:p>
                <a:pPr fontAlgn="auto">
                  <a:lnSpc>
                    <a:spcPct val="150000"/>
                  </a:lnSpc>
                </a:pPr>
                <a:r>
                  <a:rPr lang="zh-CN" altLang="en-US" sz="1400" b="1" i="1" dirty="0">
                    <a:solidFill>
                      <a:schemeClr val="tx1">
                        <a:lumMod val="65000"/>
                        <a:lumOff val="35000"/>
                      </a:schemeClr>
                    </a:solidFill>
                    <a:latin typeface="汉仪中简黑简" panose="00020600040101010101" charset="-122"/>
                    <a:ea typeface="汉仪中简黑简" panose="00020600040101010101" charset="-122"/>
                  </a:rPr>
                  <a:t>培养创新精神：</a:t>
                </a:r>
                <a:r>
                  <a:rPr lang="zh-CN" altLang="en-US" sz="1400" dirty="0">
                    <a:solidFill>
                      <a:schemeClr val="tx1">
                        <a:lumMod val="65000"/>
                        <a:lumOff val="35000"/>
                      </a:schemeClr>
                    </a:solidFill>
                    <a:latin typeface="汉仪中简黑简" panose="00020600040101010101" charset="-122"/>
                    <a:ea typeface="汉仪中简黑简" panose="00020600040101010101" charset="-122"/>
                  </a:rPr>
                  <a:t>通过研究，可以鼓励大学生运用马克思主义的创新理论指导实际工作，培养他们的创新精神和实践能力。</a:t>
                </a:r>
                <a:endParaRPr lang="en-US" altLang="zh-CN" sz="1400" dirty="0">
                  <a:solidFill>
                    <a:schemeClr val="tx1">
                      <a:lumMod val="65000"/>
                      <a:lumOff val="35000"/>
                    </a:schemeClr>
                  </a:solidFill>
                  <a:latin typeface="汉仪中简黑简" panose="00020600040101010101" charset="-122"/>
                  <a:ea typeface="汉仪中简黑简" panose="00020600040101010101" charset="-122"/>
                </a:endParaRPr>
              </a:p>
            </p:txBody>
          </p:sp>
          <p:grpSp>
            <p:nvGrpSpPr>
              <p:cNvPr id="38" name="组合 37"/>
              <p:cNvGrpSpPr/>
              <p:nvPr/>
            </p:nvGrpSpPr>
            <p:grpSpPr>
              <a:xfrm>
                <a:off x="2763" y="3561"/>
                <a:ext cx="8004" cy="1134"/>
                <a:chOff x="2763" y="3561"/>
                <a:chExt cx="8004" cy="1134"/>
              </a:xfrm>
            </p:grpSpPr>
            <p:grpSp>
              <p:nvGrpSpPr>
                <p:cNvPr id="34" name="组合 33"/>
                <p:cNvGrpSpPr/>
                <p:nvPr/>
              </p:nvGrpSpPr>
              <p:grpSpPr>
                <a:xfrm>
                  <a:off x="5054" y="3561"/>
                  <a:ext cx="1132" cy="1134"/>
                  <a:chOff x="5054" y="3561"/>
                  <a:chExt cx="1132" cy="1134"/>
                </a:xfrm>
              </p:grpSpPr>
              <p:sp>
                <p:nvSpPr>
                  <p:cNvPr id="9" name="椭圆 8"/>
                  <p:cNvSpPr/>
                  <p:nvPr/>
                </p:nvSpPr>
                <p:spPr>
                  <a:xfrm>
                    <a:off x="5054" y="3561"/>
                    <a:ext cx="1133" cy="1134"/>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descr="343435333238383b333733333030393bbdccd3fd"/>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39" y="3847"/>
                    <a:ext cx="562" cy="562"/>
                  </a:xfrm>
                  <a:prstGeom prst="rect">
                    <a:avLst/>
                  </a:prstGeom>
                </p:spPr>
              </p:pic>
            </p:grpSp>
            <p:grpSp>
              <p:nvGrpSpPr>
                <p:cNvPr id="35" name="组合 34"/>
                <p:cNvGrpSpPr/>
                <p:nvPr/>
              </p:nvGrpSpPr>
              <p:grpSpPr>
                <a:xfrm>
                  <a:off x="7344" y="3561"/>
                  <a:ext cx="1132" cy="1134"/>
                  <a:chOff x="7344" y="3561"/>
                  <a:chExt cx="1132" cy="1134"/>
                </a:xfrm>
              </p:grpSpPr>
              <p:sp>
                <p:nvSpPr>
                  <p:cNvPr id="11" name="椭圆 10"/>
                  <p:cNvSpPr/>
                  <p:nvPr/>
                </p:nvSpPr>
                <p:spPr>
                  <a:xfrm>
                    <a:off x="7344" y="3561"/>
                    <a:ext cx="1133" cy="1134"/>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descr="343435383038323b343532383537323bbdccd3fdd7cad4b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9" y="3847"/>
                    <a:ext cx="562" cy="562"/>
                  </a:xfrm>
                  <a:prstGeom prst="rect">
                    <a:avLst/>
                  </a:prstGeom>
                </p:spPr>
              </p:pic>
            </p:grpSp>
            <p:grpSp>
              <p:nvGrpSpPr>
                <p:cNvPr id="33" name="组合 32"/>
                <p:cNvGrpSpPr/>
                <p:nvPr/>
              </p:nvGrpSpPr>
              <p:grpSpPr>
                <a:xfrm>
                  <a:off x="2763" y="3561"/>
                  <a:ext cx="1134" cy="1134"/>
                  <a:chOff x="2763" y="3561"/>
                  <a:chExt cx="1134" cy="1134"/>
                </a:xfrm>
              </p:grpSpPr>
              <p:sp>
                <p:nvSpPr>
                  <p:cNvPr id="8" name="椭圆 7"/>
                  <p:cNvSpPr/>
                  <p:nvPr/>
                </p:nvSpPr>
                <p:spPr>
                  <a:xfrm>
                    <a:off x="2763" y="3561"/>
                    <a:ext cx="1134" cy="1134"/>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descr="333639373139313b343435303834323bbdccd1a7b7bdcabd"/>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49" y="3847"/>
                    <a:ext cx="562" cy="562"/>
                  </a:xfrm>
                  <a:prstGeom prst="rect">
                    <a:avLst/>
                  </a:prstGeom>
                </p:spPr>
              </p:pic>
            </p:grpSp>
            <p:sp>
              <p:nvSpPr>
                <p:cNvPr id="12" name="椭圆 11"/>
                <p:cNvSpPr/>
                <p:nvPr/>
              </p:nvSpPr>
              <p:spPr>
                <a:xfrm>
                  <a:off x="9634" y="3561"/>
                  <a:ext cx="1133" cy="1134"/>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4" name="组合 3"/>
          <p:cNvGrpSpPr/>
          <p:nvPr/>
        </p:nvGrpSpPr>
        <p:grpSpPr>
          <a:xfrm flipH="1">
            <a:off x="7229475" y="2010410"/>
            <a:ext cx="3528060" cy="3528060"/>
            <a:chOff x="12266" y="3131"/>
            <a:chExt cx="5556" cy="5556"/>
          </a:xfrm>
        </p:grpSpPr>
        <p:pic>
          <p:nvPicPr>
            <p:cNvPr id="2" name="图片 1" descr="happy-graduates-university-smiling-posing-holsing-diplomas"/>
            <p:cNvPicPr>
              <a:picLocks noChangeAspect="1"/>
            </p:cNvPicPr>
            <p:nvPr/>
          </p:nvPicPr>
          <p:blipFill>
            <a:blip r:embed="rId10"/>
            <a:srcRect l="15481" t="2963" r="19617"/>
            <a:stretch>
              <a:fillRect/>
            </a:stretch>
          </p:blipFill>
          <p:spPr>
            <a:xfrm>
              <a:off x="12294" y="3158"/>
              <a:ext cx="5500" cy="5502"/>
            </a:xfrm>
            <a:prstGeom prst="ellipse">
              <a:avLst/>
            </a:prstGeom>
          </p:spPr>
        </p:pic>
        <p:sp>
          <p:nvSpPr>
            <p:cNvPr id="3" name="椭圆 2"/>
            <p:cNvSpPr/>
            <p:nvPr/>
          </p:nvSpPr>
          <p:spPr>
            <a:xfrm>
              <a:off x="12266" y="3131"/>
              <a:ext cx="5556" cy="5556"/>
            </a:xfrm>
            <a:prstGeom prst="ellipse">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1" name="图片 40" descr="333639373139313b343435303834333bbdccd1a7d6cac1bf"/>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88050" y="2414270"/>
            <a:ext cx="414020" cy="414020"/>
          </a:xfrm>
          <a:prstGeom prst="rect">
            <a:avLst/>
          </a:prstGeom>
        </p:spPr>
      </p:pic>
      <p:sp>
        <p:nvSpPr>
          <p:cNvPr id="24" name="文本框 23">
            <a:extLst>
              <a:ext uri="{FF2B5EF4-FFF2-40B4-BE49-F238E27FC236}">
                <a16:creationId xmlns:a16="http://schemas.microsoft.com/office/drawing/2014/main" id="{599E12AD-DAF4-FC4C-9198-BF89709AFB58}"/>
              </a:ext>
            </a:extLst>
          </p:cNvPr>
          <p:cNvSpPr txBox="1"/>
          <p:nvPr/>
        </p:nvSpPr>
        <p:spPr>
          <a:xfrm>
            <a:off x="1375637" y="3634495"/>
            <a:ext cx="5237040" cy="800219"/>
          </a:xfrm>
          <a:prstGeom prst="rect">
            <a:avLst/>
          </a:prstGeom>
          <a:noFill/>
        </p:spPr>
        <p:txBody>
          <a:bodyPr wrap="square" rtlCol="0">
            <a:spAutoFit/>
          </a:bodyPr>
          <a:lstStyle/>
          <a:p>
            <a:r>
              <a:rPr lang="zh-CN" altLang="en-US" sz="1400" b="1" i="1" dirty="0"/>
              <a:t>坚定理想信念</a:t>
            </a:r>
            <a:r>
              <a:rPr lang="zh-CN" altLang="en-US" sz="1400" dirty="0"/>
              <a:t>：研究有助于加强大学生对马克思主义的坚定信仰，培养他们全心全意为人民服务的宗旨，为社会主义事业培养合格的建设者和接班人</a:t>
            </a:r>
            <a:r>
              <a:rPr lang="zh-CN" altLang="en-US" dirty="0"/>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p:cNvGrpSpPr/>
          <p:nvPr/>
        </p:nvGrpSpPr>
        <p:grpSpPr>
          <a:xfrm>
            <a:off x="2197100" y="1863090"/>
            <a:ext cx="7174230" cy="3131820"/>
            <a:chOff x="3496" y="2934"/>
            <a:chExt cx="11298" cy="4932"/>
          </a:xfrm>
        </p:grpSpPr>
        <p:grpSp>
          <p:nvGrpSpPr>
            <p:cNvPr id="4" name="组合 3"/>
            <p:cNvGrpSpPr/>
            <p:nvPr/>
          </p:nvGrpSpPr>
          <p:grpSpPr>
            <a:xfrm>
              <a:off x="3496" y="2934"/>
              <a:ext cx="4932" cy="4932"/>
              <a:chOff x="10504" y="2543"/>
              <a:chExt cx="4932" cy="4932"/>
            </a:xfrm>
          </p:grpSpPr>
          <p:pic>
            <p:nvPicPr>
              <p:cNvPr id="2" name="图片 1" descr="happy-graduate-woman-mantle-rejoicing-laughing-smiling"/>
              <p:cNvPicPr>
                <a:picLocks noChangeAspect="1"/>
              </p:cNvPicPr>
              <p:nvPr/>
            </p:nvPicPr>
            <p:blipFill>
              <a:blip r:embed="rId5"/>
              <a:srcRect l="25241" r="8936"/>
              <a:stretch>
                <a:fillRect/>
              </a:stretch>
            </p:blipFill>
            <p:spPr>
              <a:xfrm flipH="1">
                <a:off x="10548" y="2587"/>
                <a:ext cx="4844" cy="4844"/>
              </a:xfrm>
              <a:prstGeom prst="ellipse">
                <a:avLst/>
              </a:prstGeom>
            </p:spPr>
          </p:pic>
          <p:sp>
            <p:nvSpPr>
              <p:cNvPr id="3" name="椭圆 2"/>
              <p:cNvSpPr/>
              <p:nvPr/>
            </p:nvSpPr>
            <p:spPr>
              <a:xfrm>
                <a:off x="10504" y="2543"/>
                <a:ext cx="4932" cy="4932"/>
              </a:xfrm>
              <a:prstGeom prst="ellipse">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0052" y="3715"/>
              <a:ext cx="4742" cy="4071"/>
              <a:chOff x="10052" y="3392"/>
              <a:chExt cx="4742" cy="4071"/>
            </a:xfrm>
          </p:grpSpPr>
          <p:sp>
            <p:nvSpPr>
              <p:cNvPr id="8" name="文本框 7"/>
              <p:cNvSpPr txBox="1"/>
              <p:nvPr/>
            </p:nvSpPr>
            <p:spPr>
              <a:xfrm>
                <a:off x="10666" y="3392"/>
                <a:ext cx="3515" cy="1016"/>
              </a:xfrm>
              <a:prstGeom prst="rect">
                <a:avLst/>
              </a:prstGeom>
              <a:noFill/>
            </p:spPr>
            <p:txBody>
              <a:bodyPr wrap="square" rtlCol="0">
                <a:spAutoFit/>
              </a:bodyPr>
              <a:lstStyle/>
              <a:p>
                <a:pPr algn="ctr"/>
                <a:r>
                  <a:rPr lang="en-US" altLang="zh-CN" sz="3600">
                    <a:solidFill>
                      <a:srgbClr val="920417"/>
                    </a:solidFill>
                    <a:latin typeface="汉仪粗宋简" panose="02010600000101010101" charset="-122"/>
                    <a:ea typeface="汉仪粗宋简" panose="02010600000101010101" charset="-122"/>
                  </a:rPr>
                  <a:t>PART-02</a:t>
                </a:r>
              </a:p>
            </p:txBody>
          </p:sp>
          <p:sp>
            <p:nvSpPr>
              <p:cNvPr id="9" name="文本框 8"/>
              <p:cNvSpPr txBox="1"/>
              <p:nvPr/>
            </p:nvSpPr>
            <p:spPr>
              <a:xfrm>
                <a:off x="10052" y="4179"/>
                <a:ext cx="4742" cy="3284"/>
              </a:xfrm>
              <a:prstGeom prst="rect">
                <a:avLst/>
              </a:prstGeom>
              <a:noFill/>
            </p:spPr>
            <p:txBody>
              <a:bodyPr wrap="square" rtlCol="0">
                <a:spAutoFit/>
              </a:bodyPr>
              <a:lstStyle/>
              <a:p>
                <a:pPr algn="ctr" fontAlgn="auto">
                  <a:lnSpc>
                    <a:spcPct val="120000"/>
                  </a:lnSpc>
                </a:pPr>
                <a:r>
                  <a:rPr lang="zh-CN" altLang="en-US" sz="5400">
                    <a:solidFill>
                      <a:srgbClr val="920417"/>
                    </a:solidFill>
                    <a:latin typeface="汉仪粗宋简" panose="02010600000101010101" charset="-122"/>
                    <a:ea typeface="汉仪粗宋简" panose="02010600000101010101" charset="-122"/>
                  </a:rPr>
                  <a:t>研究目的与问题</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        </a:t>
            </a:r>
            <a:r>
              <a:rPr lang="zh-CN" altLang="en-US" sz="2000" b="1" dirty="0">
                <a:solidFill>
                  <a:schemeClr val="tx1"/>
                </a:solidFill>
              </a:rPr>
              <a:t>了解大学生的看法</a:t>
            </a:r>
            <a:r>
              <a:rPr lang="zh-CN" altLang="en-US" dirty="0">
                <a:solidFill>
                  <a:schemeClr val="tx1"/>
                </a:solidFill>
              </a:rPr>
              <a:t>：调研旨在了解大学生对马克思主义的看法，包括他们的</a:t>
            </a:r>
            <a:r>
              <a:rPr lang="zh-CN" altLang="en-US" b="1" u="sng" dirty="0">
                <a:solidFill>
                  <a:schemeClr val="tx1"/>
                </a:solidFill>
              </a:rPr>
              <a:t>认知水平和态度。</a:t>
            </a:r>
            <a:endParaRPr lang="en-US" altLang="zh-CN" b="1" u="sng" dirty="0">
              <a:solidFill>
                <a:schemeClr val="tx1"/>
              </a:solidFill>
            </a:endParaRPr>
          </a:p>
          <a:p>
            <a:r>
              <a:rPr lang="en-US" altLang="zh-CN" dirty="0">
                <a:solidFill>
                  <a:schemeClr val="tx1"/>
                </a:solidFill>
              </a:rPr>
              <a:t>        </a:t>
            </a:r>
            <a:r>
              <a:rPr lang="zh-CN" altLang="en-US" b="1" u="sng" dirty="0">
                <a:solidFill>
                  <a:schemeClr val="tx1"/>
                </a:solidFill>
              </a:rPr>
              <a:t>理解程度</a:t>
            </a:r>
            <a:r>
              <a:rPr lang="zh-CN" altLang="en-US" dirty="0">
                <a:solidFill>
                  <a:schemeClr val="tx1"/>
                </a:solidFill>
              </a:rPr>
              <a:t>：研究大学生对马克思主义的理解和接受程度，以及他们对马克思主义教育的建议。</a:t>
            </a:r>
            <a:endParaRPr lang="en-US" altLang="zh-CN" dirty="0">
              <a:solidFill>
                <a:schemeClr val="tx1"/>
              </a:solidFill>
            </a:endParaRPr>
          </a:p>
          <a:p>
            <a:r>
              <a:rPr lang="en-US" altLang="zh-CN" dirty="0">
                <a:solidFill>
                  <a:schemeClr val="tx1"/>
                </a:solidFill>
              </a:rPr>
              <a:t>        </a:t>
            </a:r>
            <a:r>
              <a:rPr lang="zh-CN" altLang="en-US" b="1" u="sng" dirty="0">
                <a:solidFill>
                  <a:schemeClr val="tx1"/>
                </a:solidFill>
              </a:rPr>
              <a:t>教育形式</a:t>
            </a:r>
            <a:r>
              <a:rPr lang="zh-CN" altLang="en-US" dirty="0">
                <a:solidFill>
                  <a:schemeClr val="tx1"/>
                </a:solidFill>
              </a:rPr>
              <a:t>：探讨马克思主义在大学中的教育形式，以及这些形式是否满足学生的学习需求。</a:t>
            </a:r>
            <a:endParaRPr lang="en-US" altLang="zh-CN" dirty="0">
              <a:solidFill>
                <a:schemeClr val="tx1"/>
              </a:solidFill>
            </a:endParaRPr>
          </a:p>
          <a:p>
            <a:r>
              <a:rPr lang="zh-CN" altLang="en-US" dirty="0">
                <a:solidFill>
                  <a:schemeClr val="tx1"/>
                </a:solidFill>
              </a:rPr>
              <a:t>       </a:t>
            </a:r>
            <a:r>
              <a:rPr lang="zh-CN" altLang="en-US" b="1" u="sng" dirty="0">
                <a:solidFill>
                  <a:schemeClr val="tx1"/>
                </a:solidFill>
              </a:rPr>
              <a:t> 认同感</a:t>
            </a:r>
            <a:r>
              <a:rPr lang="zh-CN" altLang="en-US" dirty="0">
                <a:solidFill>
                  <a:schemeClr val="tx1"/>
                </a:solidFill>
              </a:rPr>
              <a:t>：调查大学生对马克思主义的认同感，以及这种认同感如何影响他们对马克思主义的学习。实际应用：分析大学生如何将马克思主义理论应用于实际生活和学习中，以及他们是否能够将理论联系中国的具体实际解决实际问题。</a:t>
            </a:r>
            <a:endParaRPr lang="en-US" altLang="zh-CN" dirty="0">
              <a:solidFill>
                <a:schemeClr val="tx1"/>
              </a:solidFill>
            </a:endParaRPr>
          </a:p>
          <a:p>
            <a:r>
              <a:rPr lang="zh-CN" altLang="en-US" dirty="0">
                <a:solidFill>
                  <a:schemeClr val="tx1"/>
                </a:solidFill>
              </a:rPr>
              <a:t>       </a:t>
            </a:r>
            <a:r>
              <a:rPr lang="zh-CN" altLang="en-US" b="1" u="sng" dirty="0">
                <a:solidFill>
                  <a:schemeClr val="tx1"/>
                </a:solidFill>
              </a:rPr>
              <a:t>改进教育</a:t>
            </a:r>
            <a:r>
              <a:rPr lang="zh-CN" altLang="en-US" dirty="0">
                <a:solidFill>
                  <a:schemeClr val="tx1"/>
                </a:solidFill>
              </a:rPr>
              <a:t>：提出改进措施和建议，以促进学生全面发展和社会主义事业的顺利推进。通过这项研究，可以更好地理解当前大学生群体对马克思主义的看法和态度，以及在今后相关教育课程的开展过程中，需要更加关注学生的认知水平和对马克思主义的正确理解能力，并不断优化教育形式，以便更好地将马克思主义的原理贯穿于实践。</a:t>
            </a:r>
            <a:endParaRPr lang="zh-CN" altLang="en-US" dirty="0"/>
          </a:p>
        </p:txBody>
      </p:sp>
      <p:sp>
        <p:nvSpPr>
          <p:cNvPr id="17" name="文本框 16"/>
          <p:cNvSpPr txBox="1"/>
          <p:nvPr/>
        </p:nvSpPr>
        <p:spPr>
          <a:xfrm>
            <a:off x="4272915" y="416560"/>
            <a:ext cx="3644900" cy="645160"/>
          </a:xfrm>
          <a:prstGeom prst="rect">
            <a:avLst/>
          </a:prstGeom>
          <a:noFill/>
        </p:spPr>
        <p:txBody>
          <a:bodyPr wrap="square" rtlCol="0">
            <a:spAutoFit/>
          </a:bodyPr>
          <a:lstStyle/>
          <a:p>
            <a:pPr algn="ctr" fontAlgn="auto">
              <a:lnSpc>
                <a:spcPct val="120000"/>
              </a:lnSpc>
            </a:pPr>
            <a:r>
              <a:rPr lang="zh-CN" altLang="en-US" sz="3000">
                <a:solidFill>
                  <a:srgbClr val="920417"/>
                </a:solidFill>
                <a:latin typeface="汉仪粗宋简" panose="02010600000101010101" charset="-122"/>
                <a:ea typeface="汉仪粗宋简" panose="02010600000101010101" charset="-122"/>
              </a:rPr>
              <a:t>研究目的与问题</a:t>
            </a: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p:cNvGrpSpPr/>
          <p:nvPr/>
        </p:nvGrpSpPr>
        <p:grpSpPr>
          <a:xfrm>
            <a:off x="2197100" y="1863090"/>
            <a:ext cx="7174230" cy="3131820"/>
            <a:chOff x="3496" y="2934"/>
            <a:chExt cx="11298" cy="4932"/>
          </a:xfrm>
        </p:grpSpPr>
        <p:grpSp>
          <p:nvGrpSpPr>
            <p:cNvPr id="4" name="组合 3"/>
            <p:cNvGrpSpPr/>
            <p:nvPr/>
          </p:nvGrpSpPr>
          <p:grpSpPr>
            <a:xfrm>
              <a:off x="3496" y="2934"/>
              <a:ext cx="4932" cy="4932"/>
              <a:chOff x="10504" y="2543"/>
              <a:chExt cx="4932" cy="4932"/>
            </a:xfrm>
          </p:grpSpPr>
          <p:pic>
            <p:nvPicPr>
              <p:cNvPr id="2" name="图片 1" descr="happy-graduate-woman-mantle-rejoicing-laughing-smiling"/>
              <p:cNvPicPr>
                <a:picLocks noChangeAspect="1"/>
              </p:cNvPicPr>
              <p:nvPr/>
            </p:nvPicPr>
            <p:blipFill>
              <a:blip r:embed="rId5"/>
              <a:srcRect l="25241" r="8936"/>
              <a:stretch>
                <a:fillRect/>
              </a:stretch>
            </p:blipFill>
            <p:spPr>
              <a:xfrm flipH="1">
                <a:off x="10548" y="2587"/>
                <a:ext cx="4844" cy="4844"/>
              </a:xfrm>
              <a:prstGeom prst="ellipse">
                <a:avLst/>
              </a:prstGeom>
            </p:spPr>
          </p:pic>
          <p:sp>
            <p:nvSpPr>
              <p:cNvPr id="3" name="椭圆 2"/>
              <p:cNvSpPr/>
              <p:nvPr/>
            </p:nvSpPr>
            <p:spPr>
              <a:xfrm>
                <a:off x="10504" y="2543"/>
                <a:ext cx="4932" cy="4932"/>
              </a:xfrm>
              <a:prstGeom prst="ellipse">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0052" y="3715"/>
              <a:ext cx="4742" cy="4071"/>
              <a:chOff x="10052" y="3392"/>
              <a:chExt cx="4742" cy="4071"/>
            </a:xfrm>
          </p:grpSpPr>
          <p:sp>
            <p:nvSpPr>
              <p:cNvPr id="8" name="文本框 7"/>
              <p:cNvSpPr txBox="1"/>
              <p:nvPr/>
            </p:nvSpPr>
            <p:spPr>
              <a:xfrm>
                <a:off x="10666" y="3392"/>
                <a:ext cx="3515" cy="1016"/>
              </a:xfrm>
              <a:prstGeom prst="rect">
                <a:avLst/>
              </a:prstGeom>
              <a:noFill/>
            </p:spPr>
            <p:txBody>
              <a:bodyPr wrap="square" rtlCol="0">
                <a:spAutoFit/>
              </a:bodyPr>
              <a:lstStyle/>
              <a:p>
                <a:pPr algn="ctr"/>
                <a:r>
                  <a:rPr lang="en-US" altLang="zh-CN" sz="3600">
                    <a:solidFill>
                      <a:srgbClr val="920417"/>
                    </a:solidFill>
                    <a:latin typeface="汉仪粗宋简" panose="02010600000101010101" charset="-122"/>
                    <a:ea typeface="汉仪粗宋简" panose="02010600000101010101" charset="-122"/>
                  </a:rPr>
                  <a:t>PART-03</a:t>
                </a:r>
              </a:p>
            </p:txBody>
          </p:sp>
          <p:sp>
            <p:nvSpPr>
              <p:cNvPr id="9" name="文本框 8"/>
              <p:cNvSpPr txBox="1"/>
              <p:nvPr/>
            </p:nvSpPr>
            <p:spPr>
              <a:xfrm>
                <a:off x="10052" y="4179"/>
                <a:ext cx="4742" cy="3284"/>
              </a:xfrm>
              <a:prstGeom prst="rect">
                <a:avLst/>
              </a:prstGeom>
              <a:noFill/>
            </p:spPr>
            <p:txBody>
              <a:bodyPr wrap="square" rtlCol="0">
                <a:spAutoFit/>
              </a:bodyPr>
              <a:lstStyle/>
              <a:p>
                <a:pPr algn="ctr" fontAlgn="auto">
                  <a:lnSpc>
                    <a:spcPct val="120000"/>
                  </a:lnSpc>
                </a:pPr>
                <a:r>
                  <a:rPr lang="zh-CN" altLang="en-US" sz="5400" dirty="0">
                    <a:solidFill>
                      <a:srgbClr val="920417"/>
                    </a:solidFill>
                    <a:latin typeface="汉仪粗宋简" panose="02010600000101010101" charset="-122"/>
                    <a:ea typeface="汉仪粗宋简" panose="02010600000101010101" charset="-122"/>
                  </a:rPr>
                  <a:t>调研方法与过程</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000000"/>
              </a:highlight>
            </a:endParaRPr>
          </a:p>
        </p:txBody>
      </p:sp>
      <p:sp>
        <p:nvSpPr>
          <p:cNvPr id="17" name="文本框 16"/>
          <p:cNvSpPr txBox="1"/>
          <p:nvPr/>
        </p:nvSpPr>
        <p:spPr>
          <a:xfrm>
            <a:off x="4479290" y="416560"/>
            <a:ext cx="3233420" cy="600036"/>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rPr>
              <a:t>调研方法</a:t>
            </a: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112473A4-20D7-2AB7-E196-304290BF1836}"/>
              </a:ext>
            </a:extLst>
          </p:cNvPr>
          <p:cNvSpPr txBox="1"/>
          <p:nvPr/>
        </p:nvSpPr>
        <p:spPr>
          <a:xfrm>
            <a:off x="618978" y="1486486"/>
            <a:ext cx="10578905" cy="3816429"/>
          </a:xfrm>
          <a:prstGeom prst="rect">
            <a:avLst/>
          </a:prstGeom>
          <a:noFill/>
        </p:spPr>
        <p:txBody>
          <a:bodyPr wrap="square" rtlCol="0">
            <a:spAutoFit/>
          </a:bodyPr>
          <a:lstStyle/>
          <a:p>
            <a:r>
              <a:rPr lang="zh-CN" altLang="en-US" sz="2000" b="1" dirty="0"/>
              <a:t>     问卷调查</a:t>
            </a:r>
            <a:r>
              <a:rPr lang="zh-CN" altLang="en-US" dirty="0"/>
              <a:t>：作为主要的调研方法，通过设计问卷来收集青岛地区大学生对马克思主义的认知水平、态度、理解程度和教育建议等信息。</a:t>
            </a:r>
            <a:endParaRPr lang="en-US" altLang="zh-CN" dirty="0"/>
          </a:p>
          <a:p>
            <a:endParaRPr lang="en-US" altLang="zh-CN" dirty="0"/>
          </a:p>
          <a:p>
            <a:endParaRPr lang="en-US" altLang="zh-CN" dirty="0"/>
          </a:p>
          <a:p>
            <a:r>
              <a:rPr lang="zh-CN" altLang="en-US" dirty="0"/>
              <a:t>     </a:t>
            </a:r>
            <a:r>
              <a:rPr lang="zh-CN" altLang="en-US" sz="2000" b="1" dirty="0"/>
              <a:t>访谈调查</a:t>
            </a:r>
            <a:r>
              <a:rPr lang="zh-CN" altLang="en-US" dirty="0"/>
              <a:t>：通过访谈的方式深入了解大学生对马克思主义的看法，以及他们对教育形式和认同感的具体意见。</a:t>
            </a:r>
            <a:endParaRPr lang="en-US" altLang="zh-CN" dirty="0"/>
          </a:p>
          <a:p>
            <a:endParaRPr lang="en-US" altLang="zh-CN" dirty="0"/>
          </a:p>
          <a:p>
            <a:endParaRPr lang="en-US" altLang="zh-CN" dirty="0"/>
          </a:p>
          <a:p>
            <a:r>
              <a:rPr lang="zh-CN" altLang="en-US" dirty="0"/>
              <a:t>     </a:t>
            </a:r>
            <a:r>
              <a:rPr lang="zh-CN" altLang="en-US" sz="2000" b="1" dirty="0"/>
              <a:t>文献分析</a:t>
            </a:r>
            <a:r>
              <a:rPr lang="zh-CN" altLang="en-US" dirty="0"/>
              <a:t>：研究相关的文献资料，以了解马克思主义理论及其在教育中的应用情况，为调研提供理论支撑。</a:t>
            </a:r>
            <a:endParaRPr lang="en-US" altLang="zh-CN" dirty="0"/>
          </a:p>
          <a:p>
            <a:endParaRPr lang="en-US" altLang="zh-CN" dirty="0"/>
          </a:p>
          <a:p>
            <a:endParaRPr lang="en-US" altLang="zh-CN" dirty="0"/>
          </a:p>
          <a:p>
            <a:r>
              <a:rPr lang="zh-CN" altLang="en-US" dirty="0"/>
              <a:t>     </a:t>
            </a:r>
            <a:r>
              <a:rPr lang="zh-CN" altLang="en-US" sz="2000" b="1" dirty="0"/>
              <a:t>实地考察</a:t>
            </a:r>
            <a:r>
              <a:rPr lang="zh-CN" altLang="en-US" dirty="0"/>
              <a:t>：通过实地考察，观察和了解大学生在实际学习和生活中对马克思主义的接触和应用情况。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000000"/>
              </a:highlight>
            </a:endParaRPr>
          </a:p>
        </p:txBody>
      </p:sp>
      <p:sp>
        <p:nvSpPr>
          <p:cNvPr id="17" name="文本框 16"/>
          <p:cNvSpPr txBox="1"/>
          <p:nvPr/>
        </p:nvSpPr>
        <p:spPr>
          <a:xfrm>
            <a:off x="4479290" y="416560"/>
            <a:ext cx="3233420" cy="600036"/>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rPr>
              <a:t>调研过程</a:t>
            </a: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5F1BF92C-2A4F-57E2-ED13-2589D80593B7}"/>
              </a:ext>
            </a:extLst>
          </p:cNvPr>
          <p:cNvSpPr txBox="1"/>
          <p:nvPr/>
        </p:nvSpPr>
        <p:spPr>
          <a:xfrm>
            <a:off x="891833" y="1237576"/>
            <a:ext cx="9894277" cy="4985980"/>
          </a:xfrm>
          <a:prstGeom prst="rect">
            <a:avLst/>
          </a:prstGeom>
          <a:noFill/>
        </p:spPr>
        <p:txBody>
          <a:bodyPr wrap="square" rtlCol="0">
            <a:spAutoFit/>
          </a:bodyPr>
          <a:lstStyle/>
          <a:p>
            <a:r>
              <a:rPr lang="zh-CN" altLang="en-US" sz="2000" b="1" dirty="0"/>
              <a:t>调研准备</a:t>
            </a:r>
            <a:r>
              <a:rPr lang="zh-CN" altLang="en-US" dirty="0"/>
              <a:t>：确定调研时间与地点：调研时间为</a:t>
            </a:r>
            <a:r>
              <a:rPr lang="en-US" altLang="zh-CN" dirty="0"/>
              <a:t>2024</a:t>
            </a:r>
            <a:r>
              <a:rPr lang="zh-CN" altLang="en-US" dirty="0"/>
              <a:t>年</a:t>
            </a:r>
            <a:r>
              <a:rPr lang="en-US" altLang="zh-CN" dirty="0"/>
              <a:t>3</a:t>
            </a:r>
            <a:r>
              <a:rPr lang="zh-CN" altLang="en-US" dirty="0"/>
              <a:t>月</a:t>
            </a:r>
            <a:r>
              <a:rPr lang="en-US" altLang="zh-CN" dirty="0"/>
              <a:t>8</a:t>
            </a:r>
            <a:r>
              <a:rPr lang="zh-CN" altLang="en-US" dirty="0"/>
              <a:t>日至</a:t>
            </a:r>
            <a:r>
              <a:rPr lang="en-US" altLang="zh-CN" dirty="0"/>
              <a:t>4</a:t>
            </a:r>
            <a:r>
              <a:rPr lang="zh-CN" altLang="en-US" dirty="0"/>
              <a:t>月</a:t>
            </a:r>
            <a:r>
              <a:rPr lang="en-US" altLang="zh-CN" dirty="0"/>
              <a:t>26</a:t>
            </a:r>
            <a:r>
              <a:rPr lang="zh-CN" altLang="en-US" dirty="0"/>
              <a:t>日，地点为青岛。</a:t>
            </a:r>
            <a:endParaRPr lang="en-US" altLang="zh-CN" dirty="0"/>
          </a:p>
          <a:p>
            <a:endParaRPr lang="en-US" altLang="zh-CN" dirty="0"/>
          </a:p>
          <a:p>
            <a:r>
              <a:rPr lang="zh-CN" altLang="en-US" sz="2000" b="1" dirty="0"/>
              <a:t>选取调研对象</a:t>
            </a:r>
            <a:r>
              <a:rPr lang="zh-CN" altLang="en-US" dirty="0"/>
              <a:t>：青岛地区大学生群体。</a:t>
            </a:r>
            <a:endParaRPr lang="en-US" altLang="zh-CN" dirty="0"/>
          </a:p>
          <a:p>
            <a:endParaRPr lang="en-US" altLang="zh-CN" dirty="0"/>
          </a:p>
          <a:p>
            <a:r>
              <a:rPr lang="zh-CN" altLang="en-US" sz="2000" b="1" dirty="0"/>
              <a:t>设计调研方案</a:t>
            </a:r>
            <a:r>
              <a:rPr lang="zh-CN" altLang="en-US" dirty="0"/>
              <a:t>：包括调研方法、内容和预期目标。</a:t>
            </a:r>
            <a:endParaRPr lang="en-US" altLang="zh-CN" dirty="0"/>
          </a:p>
          <a:p>
            <a:endParaRPr lang="en-US" altLang="zh-CN" dirty="0"/>
          </a:p>
          <a:p>
            <a:r>
              <a:rPr lang="zh-CN" altLang="en-US" sz="2000" b="1" dirty="0"/>
              <a:t>调研内容</a:t>
            </a:r>
            <a:r>
              <a:rPr lang="zh-CN" altLang="en-US" dirty="0"/>
              <a:t>：调查青岛大学生对马克思主义的基本概念、起源、基本原理以及其在中国历史中的地位等方面的认知水平。了解大学生对马克思主义的态度和理解，包括支持程度、认同度以及对其实践运用的看法。探究大学生在全球化、信息化和网络化背景下对马克思主义的接受程度和相关信息获取途径。调查大学生对马克思主义在实际生活和学习中的应用情况，以及他们将理论联系中国具体实际、解决实际问题的能力。</a:t>
            </a:r>
            <a:endParaRPr lang="en-US" altLang="zh-CN" dirty="0"/>
          </a:p>
          <a:p>
            <a:endParaRPr lang="en-US" altLang="zh-CN" dirty="0"/>
          </a:p>
          <a:p>
            <a:r>
              <a:rPr lang="zh-CN" altLang="en-US" sz="2000" b="1" dirty="0"/>
              <a:t>数据分析</a:t>
            </a:r>
            <a:r>
              <a:rPr lang="zh-CN" altLang="en-US" dirty="0"/>
              <a:t>：对收集到的问卷数据进行整理和分析，包括样本对象的性别比例、教育背景等。分析大学生对马克思主义的看法、理解程度、教育建议、教育形式以及认同感。</a:t>
            </a:r>
            <a:endParaRPr lang="en-US" altLang="zh-CN" dirty="0"/>
          </a:p>
          <a:p>
            <a:endParaRPr lang="en-US" altLang="zh-CN" dirty="0"/>
          </a:p>
          <a:p>
            <a:r>
              <a:rPr lang="zh-CN" altLang="en-US" sz="2000" b="1" dirty="0"/>
              <a:t>结果反馈</a:t>
            </a:r>
            <a:r>
              <a:rPr lang="zh-CN" altLang="en-US" dirty="0"/>
              <a:t>：根据调研结果，提出存在的问题和改进建议，如如何结合实际理解马克思主义、如何吸引大学生对马克思理论的兴趣、如何将马克思主义应用于实际生活中等。</a:t>
            </a:r>
          </a:p>
        </p:txBody>
      </p:sp>
    </p:spTree>
    <p:custDataLst>
      <p:tags r:id="rId1"/>
    </p:custDataLst>
    <p:extLst>
      <p:ext uri="{BB962C8B-B14F-4D97-AF65-F5344CB8AC3E}">
        <p14:creationId xmlns:p14="http://schemas.microsoft.com/office/powerpoint/2010/main" val="3850336659"/>
      </p:ext>
    </p:ext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232000" y="411163"/>
            <a:ext cx="1728000" cy="1154034"/>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sym typeface="+mn-ea"/>
              </a:rPr>
              <a:t>社会调查方面</a:t>
            </a:r>
            <a:endParaRPr lang="zh-CN" altLang="en-US" sz="3000" dirty="0">
              <a:solidFill>
                <a:srgbClr val="920417"/>
              </a:solidFill>
              <a:latin typeface="汉仪粗宋简" panose="02010600000101010101" charset="-122"/>
              <a:ea typeface="汉仪粗宋简" panose="02010600000101010101" charset="-122"/>
            </a:endParaRP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1095375" y="2247900"/>
            <a:ext cx="2762250" cy="2762250"/>
            <a:chOff x="5050076" y="3007191"/>
            <a:chExt cx="2091848" cy="2091848"/>
          </a:xfrm>
        </p:grpSpPr>
        <p:sp>
          <p:nvSpPr>
            <p:cNvPr id="41" name="椭圆 40"/>
            <p:cNvSpPr/>
            <p:nvPr/>
          </p:nvSpPr>
          <p:spPr>
            <a:xfrm>
              <a:off x="5312229" y="3269344"/>
              <a:ext cx="1567542" cy="1567542"/>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latin typeface="汉仪中简黑简" panose="00020600040101010101" charset="-122"/>
                  <a:ea typeface="汉仪中简黑简" panose="00020600040101010101" charset="-122"/>
                </a:rPr>
                <a:t>社会</a:t>
              </a:r>
              <a:endParaRPr lang="en-US" altLang="zh-CN" sz="4000" dirty="0">
                <a:latin typeface="汉仪中简黑简" panose="00020600040101010101" charset="-122"/>
                <a:ea typeface="汉仪中简黑简" panose="00020600040101010101" charset="-122"/>
              </a:endParaRPr>
            </a:p>
            <a:p>
              <a:pPr algn="ctr"/>
              <a:r>
                <a:rPr lang="zh-CN" altLang="en-US" sz="4000" dirty="0">
                  <a:latin typeface="汉仪中简黑简" panose="00020600040101010101" charset="-122"/>
                  <a:ea typeface="汉仪中简黑简" panose="00020600040101010101" charset="-122"/>
                </a:rPr>
                <a:t>实践</a:t>
              </a:r>
            </a:p>
          </p:txBody>
        </p:sp>
        <p:sp>
          <p:nvSpPr>
            <p:cNvPr id="50" name="椭圆 49"/>
            <p:cNvSpPr/>
            <p:nvPr/>
          </p:nvSpPr>
          <p:spPr>
            <a:xfrm>
              <a:off x="5050076" y="3007191"/>
              <a:ext cx="2091848" cy="2091848"/>
            </a:xfrm>
            <a:prstGeom prst="ellipse">
              <a:avLst/>
            </a:prstGeom>
            <a:noFill/>
            <a:ln>
              <a:gradFill>
                <a:gsLst>
                  <a:gs pos="0">
                    <a:srgbClr val="920417"/>
                  </a:gs>
                  <a:gs pos="100000">
                    <a:srgbClr val="8A2710">
                      <a:alpha val="0"/>
                    </a:srgbClr>
                  </a:gs>
                </a:gsLst>
                <a:lin ang="5400000" scaled="1"/>
              </a:gra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3426460" y="2015490"/>
            <a:ext cx="1840865" cy="550545"/>
            <a:chOff x="3150435" y="2256232"/>
            <a:chExt cx="1840665" cy="550710"/>
          </a:xfrm>
        </p:grpSpPr>
        <p:sp>
          <p:nvSpPr>
            <p:cNvPr id="46" name="椭圆 45"/>
            <p:cNvSpPr/>
            <p:nvPr/>
          </p:nvSpPr>
          <p:spPr>
            <a:xfrm>
              <a:off x="3150435" y="2256232"/>
              <a:ext cx="550710" cy="550710"/>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汉仪中简黑简" panose="00020600040101010101" charset="-122"/>
                  <a:ea typeface="汉仪中简黑简" panose="00020600040101010101" charset="-122"/>
                </a:rPr>
                <a:t>1</a:t>
              </a:r>
              <a:endParaRPr lang="zh-CN" altLang="en-US" sz="2000" dirty="0">
                <a:latin typeface="汉仪中简黑简" panose="00020600040101010101" charset="-122"/>
                <a:ea typeface="汉仪中简黑简" panose="00020600040101010101" charset="-122"/>
              </a:endParaRPr>
            </a:p>
          </p:txBody>
        </p:sp>
        <p:sp>
          <p:nvSpPr>
            <p:cNvPr id="60" name="文本框 59"/>
            <p:cNvSpPr txBox="1"/>
            <p:nvPr/>
          </p:nvSpPr>
          <p:spPr>
            <a:xfrm>
              <a:off x="3721100" y="2343506"/>
              <a:ext cx="1270000" cy="398780"/>
            </a:xfrm>
            <a:prstGeom prst="rect">
              <a:avLst/>
            </a:prstGeom>
            <a:noFill/>
          </p:spPr>
          <p:txBody>
            <a:bodyPr wrap="square" rtlCol="0">
              <a:spAutoFit/>
            </a:bodyPr>
            <a:lstStyle/>
            <a:p>
              <a:pPr algn="just"/>
              <a:endParaRPr lang="zh-CN" altLang="en-US" sz="2000" i="1" dirty="0">
                <a:gradFill>
                  <a:gsLst>
                    <a:gs pos="25000">
                      <a:srgbClr val="9E2D12"/>
                    </a:gs>
                    <a:gs pos="84000">
                      <a:srgbClr val="73210D"/>
                    </a:gs>
                  </a:gsLst>
                  <a:path path="circle">
                    <a:fillToRect l="100000" t="100000"/>
                  </a:path>
                </a:gradFill>
                <a:effectLst>
                  <a:outerShdw blurRad="38100" dist="38100" dir="2700000" algn="tl">
                    <a:srgbClr val="000000">
                      <a:alpha val="9000"/>
                    </a:srgbClr>
                  </a:outerShdw>
                </a:effectLst>
                <a:latin typeface="汉仪中简黑简" panose="00020600040101010101" charset="-122"/>
                <a:ea typeface="汉仪中简黑简" panose="00020600040101010101" charset="-122"/>
                <a:sym typeface="汉仪中简黑简" panose="00020600040101010101" charset="-122"/>
              </a:endParaRPr>
            </a:p>
          </p:txBody>
        </p:sp>
      </p:grpSp>
      <p:sp>
        <p:nvSpPr>
          <p:cNvPr id="52" name="椭圆 51"/>
          <p:cNvSpPr/>
          <p:nvPr/>
        </p:nvSpPr>
        <p:spPr>
          <a:xfrm>
            <a:off x="3426460" y="4692650"/>
            <a:ext cx="550545" cy="550545"/>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汉仪中简黑简" panose="00020600040101010101" charset="-122"/>
                <a:ea typeface="汉仪中简黑简" panose="00020600040101010101" charset="-122"/>
              </a:rPr>
              <a:t>3</a:t>
            </a:r>
            <a:endParaRPr lang="zh-CN" altLang="en-US" sz="2000" dirty="0">
              <a:latin typeface="汉仪中简黑简" panose="00020600040101010101" charset="-122"/>
              <a:ea typeface="汉仪中简黑简" panose="00020600040101010101" charset="-122"/>
            </a:endParaRPr>
          </a:p>
        </p:txBody>
      </p:sp>
      <p:sp>
        <p:nvSpPr>
          <p:cNvPr id="51" name="椭圆 50"/>
          <p:cNvSpPr/>
          <p:nvPr/>
        </p:nvSpPr>
        <p:spPr>
          <a:xfrm>
            <a:off x="4006850" y="3354070"/>
            <a:ext cx="550545" cy="550545"/>
          </a:xfrm>
          <a:prstGeom prst="ellipse">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汉仪中简黑简" panose="00020600040101010101" charset="-122"/>
                <a:ea typeface="汉仪中简黑简" panose="00020600040101010101" charset="-122"/>
              </a:rPr>
              <a:t>2</a:t>
            </a:r>
            <a:endParaRPr lang="zh-CN" altLang="en-US" sz="2000" dirty="0">
              <a:latin typeface="汉仪中简黑简" panose="00020600040101010101" charset="-122"/>
              <a:ea typeface="汉仪中简黑简" panose="00020600040101010101" charset="-122"/>
            </a:endParaRPr>
          </a:p>
        </p:txBody>
      </p:sp>
      <p:cxnSp>
        <p:nvCxnSpPr>
          <p:cNvPr id="49" name="直接连接符 48"/>
          <p:cNvCxnSpPr/>
          <p:nvPr/>
        </p:nvCxnSpPr>
        <p:spPr>
          <a:xfrm>
            <a:off x="3904615" y="2960370"/>
            <a:ext cx="7082790" cy="0"/>
          </a:xfrm>
          <a:prstGeom prst="line">
            <a:avLst/>
          </a:prstGeom>
          <a:ln>
            <a:solidFill>
              <a:srgbClr val="920417"/>
            </a:solidFill>
          </a:ln>
        </p:spPr>
        <p:style>
          <a:lnRef idx="1">
            <a:schemeClr val="accent3"/>
          </a:lnRef>
          <a:fillRef idx="0">
            <a:schemeClr val="accent3"/>
          </a:fillRef>
          <a:effectRef idx="0">
            <a:schemeClr val="accent3"/>
          </a:effectRef>
          <a:fontRef idx="minor">
            <a:schemeClr val="tx1"/>
          </a:fontRef>
        </p:style>
      </p:cxnSp>
      <p:cxnSp>
        <p:nvCxnSpPr>
          <p:cNvPr id="67" name="直接连接符 66"/>
          <p:cNvCxnSpPr/>
          <p:nvPr/>
        </p:nvCxnSpPr>
        <p:spPr>
          <a:xfrm>
            <a:off x="3904615" y="4298315"/>
            <a:ext cx="7082790" cy="0"/>
          </a:xfrm>
          <a:prstGeom prst="line">
            <a:avLst/>
          </a:prstGeom>
          <a:ln>
            <a:solidFill>
              <a:srgbClr val="920417"/>
            </a:solidFill>
          </a:ln>
        </p:spPr>
        <p:style>
          <a:lnRef idx="1">
            <a:schemeClr val="accent3"/>
          </a:lnRef>
          <a:fillRef idx="0">
            <a:schemeClr val="accent3"/>
          </a:fillRef>
          <a:effectRef idx="0">
            <a:schemeClr val="accent3"/>
          </a:effectRef>
          <a:fontRef idx="minor">
            <a:schemeClr val="tx1"/>
          </a:fontRef>
        </p:style>
      </p:cxnSp>
      <p:sp>
        <p:nvSpPr>
          <p:cNvPr id="55" name="文本框 54"/>
          <p:cNvSpPr txBox="1"/>
          <p:nvPr/>
        </p:nvSpPr>
        <p:spPr>
          <a:xfrm>
            <a:off x="4045820" y="2036127"/>
            <a:ext cx="1834280" cy="397738"/>
          </a:xfrm>
          <a:prstGeom prst="rect">
            <a:avLst/>
          </a:prstGeom>
          <a:noFill/>
        </p:spPr>
        <p:txBody>
          <a:bodyPr wrap="square" rtlCol="0">
            <a:spAutoFit/>
          </a:bodyPr>
          <a:lstStyle/>
          <a:p>
            <a:pPr fontAlgn="auto">
              <a:lnSpc>
                <a:spcPct val="120000"/>
              </a:lnSpc>
            </a:pPr>
            <a:r>
              <a:rPr lang="zh-CN" altLang="en-US" sz="1800" dirty="0">
                <a:solidFill>
                  <a:schemeClr val="tx1">
                    <a:lumMod val="65000"/>
                    <a:lumOff val="35000"/>
                  </a:schemeClr>
                </a:solidFill>
                <a:latin typeface="汉仪中简黑简" panose="00020600040101010101" charset="-122"/>
                <a:ea typeface="汉仪中简黑简" panose="00020600040101010101" charset="-122"/>
              </a:rPr>
              <a:t>社会背景调查：</a:t>
            </a: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56" name="文本框 55"/>
          <p:cNvSpPr txBox="1"/>
          <p:nvPr/>
        </p:nvSpPr>
        <p:spPr>
          <a:xfrm>
            <a:off x="4113530" y="4709795"/>
            <a:ext cx="2291080" cy="397738"/>
          </a:xfrm>
          <a:prstGeom prst="rect">
            <a:avLst/>
          </a:prstGeom>
          <a:noFill/>
        </p:spPr>
        <p:txBody>
          <a:bodyPr wrap="square" rtlCol="0">
            <a:spAutoFit/>
          </a:bodyPr>
          <a:lstStyle/>
          <a:p>
            <a:pPr fontAlgn="auto">
              <a:lnSpc>
                <a:spcPct val="120000"/>
              </a:lnSpc>
            </a:pPr>
            <a:r>
              <a:rPr lang="zh-CN" altLang="en-US" sz="1800" dirty="0">
                <a:solidFill>
                  <a:schemeClr val="tx1">
                    <a:lumMod val="65000"/>
                    <a:lumOff val="35000"/>
                  </a:schemeClr>
                </a:solidFill>
                <a:latin typeface="汉仪中简黑简" panose="00020600040101010101" charset="-122"/>
                <a:ea typeface="汉仪中简黑简" panose="00020600040101010101" charset="-122"/>
              </a:rPr>
              <a:t>社会调查数据分析：</a:t>
            </a: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57" name="文本框 56"/>
          <p:cNvSpPr txBox="1"/>
          <p:nvPr/>
        </p:nvSpPr>
        <p:spPr>
          <a:xfrm>
            <a:off x="4580890" y="3448183"/>
            <a:ext cx="1761490" cy="397738"/>
          </a:xfrm>
          <a:prstGeom prst="rect">
            <a:avLst/>
          </a:prstGeom>
          <a:noFill/>
        </p:spPr>
        <p:txBody>
          <a:bodyPr wrap="square" rtlCol="0">
            <a:spAutoFit/>
          </a:bodyPr>
          <a:lstStyle/>
          <a:p>
            <a:pPr fontAlgn="auto">
              <a:lnSpc>
                <a:spcPct val="120000"/>
              </a:lnSpc>
            </a:pPr>
            <a:r>
              <a:rPr lang="zh-CN" altLang="en-US" sz="1800" dirty="0">
                <a:solidFill>
                  <a:schemeClr val="tx1">
                    <a:lumMod val="65000"/>
                    <a:lumOff val="35000"/>
                  </a:schemeClr>
                </a:solidFill>
                <a:latin typeface="汉仪中简黑简" panose="00020600040101010101" charset="-122"/>
                <a:ea typeface="汉仪中简黑简" panose="00020600040101010101" charset="-122"/>
              </a:rPr>
              <a:t>专家意见征集：</a:t>
            </a:r>
            <a:endParaRPr lang="zh-CN" altLang="en-US" dirty="0">
              <a:solidFill>
                <a:schemeClr val="tx1">
                  <a:lumMod val="75000"/>
                  <a:lumOff val="25000"/>
                </a:schemeClr>
              </a:solidFill>
              <a:latin typeface="汉仪粗宋简" panose="02010600000101010101" charset="-122"/>
              <a:ea typeface="汉仪粗宋简" panose="02010600000101010101" charset="-122"/>
            </a:endParaRPr>
          </a:p>
        </p:txBody>
      </p:sp>
      <p:sp>
        <p:nvSpPr>
          <p:cNvPr id="58" name="文本框 57"/>
          <p:cNvSpPr txBox="1"/>
          <p:nvPr/>
        </p:nvSpPr>
        <p:spPr>
          <a:xfrm>
            <a:off x="4557395" y="2337500"/>
            <a:ext cx="6481445" cy="701667"/>
          </a:xfrm>
          <a:prstGeom prst="rect">
            <a:avLst/>
          </a:prstGeom>
          <a:noFill/>
        </p:spPr>
        <p:txBody>
          <a:bodyPr wrap="square" rtlCol="0">
            <a:spAutoFit/>
          </a:bodyPr>
          <a:lstStyle/>
          <a:p>
            <a:pPr fontAlgn="auto">
              <a:lnSpc>
                <a:spcPct val="150000"/>
              </a:lnSpc>
            </a:pPr>
            <a:r>
              <a:rPr lang="zh-CN" altLang="en-US" sz="1400" dirty="0">
                <a:solidFill>
                  <a:schemeClr val="tx1">
                    <a:lumMod val="65000"/>
                    <a:lumOff val="35000"/>
                  </a:schemeClr>
                </a:solidFill>
                <a:latin typeface="汉仪中简黑简" panose="00020600040101010101" charset="-122"/>
                <a:ea typeface="汉仪中简黑简" panose="00020600040101010101" charset="-122"/>
              </a:rPr>
              <a:t>    调查大学生所处的社会环境，包括所在国家或地区的政治、经济、文化背景，以及媒体对马克思主义的报道和宣传情况等。</a:t>
            </a:r>
          </a:p>
        </p:txBody>
      </p:sp>
      <p:sp>
        <p:nvSpPr>
          <p:cNvPr id="59" name="文本框 58"/>
          <p:cNvSpPr txBox="1"/>
          <p:nvPr/>
        </p:nvSpPr>
        <p:spPr>
          <a:xfrm>
            <a:off x="4674235" y="3895725"/>
            <a:ext cx="6481445" cy="701667"/>
          </a:xfrm>
          <a:prstGeom prst="rect">
            <a:avLst/>
          </a:prstGeom>
          <a:noFill/>
        </p:spPr>
        <p:txBody>
          <a:bodyPr wrap="square" rtlCol="0">
            <a:spAutoFit/>
          </a:bodyPr>
          <a:lstStyle/>
          <a:p>
            <a:pPr fontAlgn="auto">
              <a:lnSpc>
                <a:spcPct val="150000"/>
              </a:lnSpc>
            </a:pPr>
            <a:r>
              <a:rPr lang="zh-CN" altLang="en-US" sz="1400" dirty="0">
                <a:solidFill>
                  <a:schemeClr val="tx1">
                    <a:lumMod val="65000"/>
                    <a:lumOff val="35000"/>
                  </a:schemeClr>
                </a:solidFill>
                <a:latin typeface="汉仪中简黑简" panose="00020600040101010101" charset="-122"/>
                <a:ea typeface="汉仪中简黑简" panose="00020600040101010101" charset="-122"/>
              </a:rPr>
              <a:t>    向马克思主义学者、教育专家等专业人士征求意见，了解他们对大学生对马克思主义认识的评价和建议。</a:t>
            </a:r>
          </a:p>
        </p:txBody>
      </p:sp>
      <p:sp>
        <p:nvSpPr>
          <p:cNvPr id="61" name="文本框 60"/>
          <p:cNvSpPr txBox="1"/>
          <p:nvPr/>
        </p:nvSpPr>
        <p:spPr>
          <a:xfrm>
            <a:off x="4074795" y="5245100"/>
            <a:ext cx="6481445" cy="701667"/>
          </a:xfrm>
          <a:prstGeom prst="rect">
            <a:avLst/>
          </a:prstGeom>
          <a:noFill/>
        </p:spPr>
        <p:txBody>
          <a:bodyPr wrap="square" rtlCol="0">
            <a:spAutoFit/>
          </a:bodyPr>
          <a:lstStyle/>
          <a:p>
            <a:pPr fontAlgn="auto">
              <a:lnSpc>
                <a:spcPct val="150000"/>
              </a:lnSpc>
            </a:pPr>
            <a:r>
              <a:rPr lang="zh-CN" altLang="en-US" sz="1400" dirty="0">
                <a:solidFill>
                  <a:schemeClr val="tx1">
                    <a:lumMod val="65000"/>
                    <a:lumOff val="35000"/>
                  </a:schemeClr>
                </a:solidFill>
                <a:latin typeface="汉仪中简黑简" panose="00020600040101010101" charset="-122"/>
                <a:ea typeface="汉仪中简黑简" panose="00020600040101010101" charset="-122"/>
              </a:rPr>
              <a:t>    分析社会调查数据，结合实验结果，探讨大学生对马克思主义认识的形成和影响因素，提出相关政策建议或者教育改革措施。</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p:cNvGrpSpPr/>
          <p:nvPr/>
        </p:nvGrpSpPr>
        <p:grpSpPr>
          <a:xfrm>
            <a:off x="2197100" y="1863090"/>
            <a:ext cx="7174230" cy="3131820"/>
            <a:chOff x="3496" y="2934"/>
            <a:chExt cx="11298" cy="4932"/>
          </a:xfrm>
        </p:grpSpPr>
        <p:grpSp>
          <p:nvGrpSpPr>
            <p:cNvPr id="4" name="组合 3"/>
            <p:cNvGrpSpPr/>
            <p:nvPr/>
          </p:nvGrpSpPr>
          <p:grpSpPr>
            <a:xfrm>
              <a:off x="3496" y="2934"/>
              <a:ext cx="4932" cy="4932"/>
              <a:chOff x="10504" y="2543"/>
              <a:chExt cx="4932" cy="4932"/>
            </a:xfrm>
          </p:grpSpPr>
          <p:pic>
            <p:nvPicPr>
              <p:cNvPr id="2" name="图片 1" descr="happy-graduate-woman-mantle-rejoicing-laughing-smiling"/>
              <p:cNvPicPr>
                <a:picLocks noChangeAspect="1"/>
              </p:cNvPicPr>
              <p:nvPr/>
            </p:nvPicPr>
            <p:blipFill>
              <a:blip r:embed="rId5"/>
              <a:srcRect l="25241" r="8936"/>
              <a:stretch>
                <a:fillRect/>
              </a:stretch>
            </p:blipFill>
            <p:spPr>
              <a:xfrm flipH="1">
                <a:off x="10548" y="2587"/>
                <a:ext cx="4844" cy="4844"/>
              </a:xfrm>
              <a:prstGeom prst="ellipse">
                <a:avLst/>
              </a:prstGeom>
            </p:spPr>
          </p:pic>
          <p:sp>
            <p:nvSpPr>
              <p:cNvPr id="3" name="椭圆 2"/>
              <p:cNvSpPr/>
              <p:nvPr/>
            </p:nvSpPr>
            <p:spPr>
              <a:xfrm>
                <a:off x="10504" y="2543"/>
                <a:ext cx="4932" cy="4932"/>
              </a:xfrm>
              <a:prstGeom prst="ellipse">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0052" y="3715"/>
              <a:ext cx="4742" cy="4071"/>
              <a:chOff x="10052" y="3392"/>
              <a:chExt cx="4742" cy="4071"/>
            </a:xfrm>
          </p:grpSpPr>
          <p:sp>
            <p:nvSpPr>
              <p:cNvPr id="8" name="文本框 7"/>
              <p:cNvSpPr txBox="1"/>
              <p:nvPr/>
            </p:nvSpPr>
            <p:spPr>
              <a:xfrm>
                <a:off x="10666" y="3392"/>
                <a:ext cx="3515" cy="1016"/>
              </a:xfrm>
              <a:prstGeom prst="rect">
                <a:avLst/>
              </a:prstGeom>
              <a:noFill/>
            </p:spPr>
            <p:txBody>
              <a:bodyPr wrap="square" rtlCol="0">
                <a:spAutoFit/>
              </a:bodyPr>
              <a:lstStyle/>
              <a:p>
                <a:pPr algn="ctr"/>
                <a:r>
                  <a:rPr lang="en-US" altLang="zh-CN" sz="3600">
                    <a:solidFill>
                      <a:srgbClr val="920417"/>
                    </a:solidFill>
                    <a:latin typeface="汉仪粗宋简" panose="02010600000101010101" charset="-122"/>
                    <a:ea typeface="汉仪粗宋简" panose="02010600000101010101" charset="-122"/>
                  </a:rPr>
                  <a:t>PART-04</a:t>
                </a:r>
              </a:p>
            </p:txBody>
          </p:sp>
          <p:sp>
            <p:nvSpPr>
              <p:cNvPr id="9" name="文本框 8"/>
              <p:cNvSpPr txBox="1"/>
              <p:nvPr/>
            </p:nvSpPr>
            <p:spPr>
              <a:xfrm>
                <a:off x="10052" y="4179"/>
                <a:ext cx="4742" cy="3284"/>
              </a:xfrm>
              <a:prstGeom prst="rect">
                <a:avLst/>
              </a:prstGeom>
              <a:noFill/>
            </p:spPr>
            <p:txBody>
              <a:bodyPr wrap="square" rtlCol="0">
                <a:spAutoFit/>
              </a:bodyPr>
              <a:lstStyle/>
              <a:p>
                <a:pPr algn="ctr" fontAlgn="auto">
                  <a:lnSpc>
                    <a:spcPct val="120000"/>
                  </a:lnSpc>
                </a:pPr>
                <a:r>
                  <a:rPr lang="zh-CN" altLang="en-US" sz="5400">
                    <a:solidFill>
                      <a:srgbClr val="920417"/>
                    </a:solidFill>
                    <a:latin typeface="汉仪粗宋简" panose="02010600000101010101" charset="-122"/>
                    <a:ea typeface="汉仪粗宋简" panose="02010600000101010101" charset="-122"/>
                  </a:rPr>
                  <a:t>调研结果与分析</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4608830" y="411480"/>
            <a:ext cx="2974975" cy="645160"/>
          </a:xfrm>
          <a:prstGeom prst="rect">
            <a:avLst/>
          </a:prstGeom>
          <a:noFill/>
        </p:spPr>
        <p:txBody>
          <a:bodyPr wrap="square" rtlCol="0">
            <a:spAutoFit/>
          </a:bodyPr>
          <a:lstStyle/>
          <a:p>
            <a:pPr algn="ctr" fontAlgn="auto">
              <a:lnSpc>
                <a:spcPct val="120000"/>
              </a:lnSpc>
            </a:pPr>
            <a:r>
              <a:rPr lang="zh-CN" altLang="en-US" sz="3000">
                <a:solidFill>
                  <a:srgbClr val="920417"/>
                </a:solidFill>
                <a:latin typeface="汉仪粗宋简" panose="02010600000101010101" charset="-122"/>
                <a:ea typeface="汉仪粗宋简" panose="02010600000101010101" charset="-122"/>
                <a:sym typeface="+mn-ea"/>
              </a:rPr>
              <a:t>调研结果与分析</a:t>
            </a:r>
            <a:endParaRPr lang="zh-CN" altLang="en-US" sz="3000">
              <a:solidFill>
                <a:srgbClr val="920417"/>
              </a:solidFill>
              <a:latin typeface="汉仪粗宋简" panose="02010600000101010101" charset="-122"/>
              <a:ea typeface="汉仪粗宋简" panose="02010600000101010101" charset="-122"/>
            </a:endParaRP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865196273" name="图表 1"/>
          <p:cNvGraphicFramePr/>
          <p:nvPr/>
        </p:nvGraphicFramePr>
        <p:xfrm>
          <a:off x="5556885" y="1125220"/>
          <a:ext cx="4596765" cy="24542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2111459" name="图表 2"/>
          <p:cNvGraphicFramePr/>
          <p:nvPr/>
        </p:nvGraphicFramePr>
        <p:xfrm>
          <a:off x="743585" y="1125220"/>
          <a:ext cx="4472940" cy="2454275"/>
        </p:xfrm>
        <a:graphic>
          <a:graphicData uri="http://schemas.openxmlformats.org/drawingml/2006/chart">
            <c:chart xmlns:c="http://schemas.openxmlformats.org/drawingml/2006/chart" xmlns:r="http://schemas.openxmlformats.org/officeDocument/2006/relationships" r:id="rId5"/>
          </a:graphicData>
        </a:graphic>
      </p:graphicFrame>
      <p:sp>
        <p:nvSpPr>
          <p:cNvPr id="2" name="文本框 1"/>
          <p:cNvSpPr txBox="1"/>
          <p:nvPr/>
        </p:nvSpPr>
        <p:spPr>
          <a:xfrm>
            <a:off x="1232535" y="3831590"/>
            <a:ext cx="8611235" cy="2030095"/>
          </a:xfrm>
          <a:prstGeom prst="rect">
            <a:avLst/>
          </a:prstGeom>
          <a:noFill/>
        </p:spPr>
        <p:txBody>
          <a:bodyPr wrap="square" rtlCol="0">
            <a:spAutoFit/>
          </a:bodyPr>
          <a:lstStyle/>
          <a:p>
            <a:r>
              <a:rPr lang="en-US" altLang="zh-CN" dirty="0"/>
              <a:t>       </a:t>
            </a:r>
            <a:r>
              <a:rPr lang="zh-CN" altLang="en-US" dirty="0"/>
              <a:t>通过对大学生对马克思主义的看法进行调查，我们发现了一系列不同的观点和态度。大部分学生对马克思主义持肯定态度，认为其理论体系深刻、科学性强，对解决社会问题有积极意义。有很少一部分学生则持有否定或怀疑态度，认为马克思主义理论已经过时，不适用于当今社会，甚至认为其带有某种政治倾向。 在当前社会背景下，大学生对于马克思主义教育的需求也在不断发生变化。随着社会经济的发展和知识结构的变革，马克思主义教育需要更加贴近实际、注重实践、强调创新，以满足学生的学习需求和社会发展的需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608830" y="411480"/>
            <a:ext cx="2974975" cy="645160"/>
          </a:xfrm>
          <a:prstGeom prst="rect">
            <a:avLst/>
          </a:prstGeom>
          <a:noFill/>
        </p:spPr>
        <p:txBody>
          <a:bodyPr wrap="square" rtlCol="0">
            <a:spAutoFit/>
          </a:bodyPr>
          <a:lstStyle/>
          <a:p>
            <a:pPr algn="ctr" fontAlgn="auto">
              <a:lnSpc>
                <a:spcPct val="120000"/>
              </a:lnSpc>
            </a:pPr>
            <a:r>
              <a:rPr lang="zh-CN" altLang="en-US" sz="3000">
                <a:solidFill>
                  <a:srgbClr val="920417"/>
                </a:solidFill>
                <a:latin typeface="汉仪粗宋简" panose="02010600000101010101" charset="-122"/>
                <a:ea typeface="汉仪粗宋简" panose="02010600000101010101" charset="-122"/>
                <a:sym typeface="+mn-ea"/>
              </a:rPr>
              <a:t>调研结果与分析</a:t>
            </a:r>
            <a:endParaRPr lang="zh-CN" altLang="en-US" sz="3000">
              <a:solidFill>
                <a:srgbClr val="920417"/>
              </a:solidFill>
              <a:latin typeface="汉仪粗宋简" panose="02010600000101010101" charset="-122"/>
              <a:ea typeface="汉仪粗宋简" panose="02010600000101010101" charset="-122"/>
            </a:endParaRP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816012275" name="图表 3"/>
          <p:cNvGraphicFramePr/>
          <p:nvPr/>
        </p:nvGraphicFramePr>
        <p:xfrm>
          <a:off x="5880100" y="1259205"/>
          <a:ext cx="5485130" cy="307721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96085870" name="图表 4"/>
          <p:cNvGraphicFramePr/>
          <p:nvPr/>
        </p:nvGraphicFramePr>
        <p:xfrm>
          <a:off x="605790" y="1258888"/>
          <a:ext cx="5274310" cy="3076575"/>
        </p:xfrm>
        <a:graphic>
          <a:graphicData uri="http://schemas.openxmlformats.org/drawingml/2006/chart">
            <c:chart xmlns:c="http://schemas.openxmlformats.org/drawingml/2006/chart" xmlns:r="http://schemas.openxmlformats.org/officeDocument/2006/relationships" r:id="rId5"/>
          </a:graphicData>
        </a:graphic>
      </p:graphicFrame>
      <p:sp>
        <p:nvSpPr>
          <p:cNvPr id="3" name="文本框 2"/>
          <p:cNvSpPr txBox="1"/>
          <p:nvPr/>
        </p:nvSpPr>
        <p:spPr>
          <a:xfrm>
            <a:off x="1375410" y="4395470"/>
            <a:ext cx="9693275" cy="2030095"/>
          </a:xfrm>
          <a:prstGeom prst="rect">
            <a:avLst/>
          </a:prstGeom>
          <a:noFill/>
        </p:spPr>
        <p:txBody>
          <a:bodyPr wrap="square" rtlCol="0">
            <a:spAutoFit/>
          </a:bodyPr>
          <a:lstStyle/>
          <a:p>
            <a:r>
              <a:rPr lang="zh-CN" altLang="en-US"/>
              <a:t>调查显示，大学生对于马克思主义的认同感存在着一定的差异。大部分学生对马克思主义持积极认同态度，认为其是解决社会问题的有效工具和思想武器；而少数学生则对马克思主义持保留或质疑态度，认为其理论体系已经过时或不适用于当前社会。</a:t>
            </a:r>
          </a:p>
          <a:p>
            <a:endParaRPr lang="zh-CN" altLang="en-US"/>
          </a:p>
          <a:p>
            <a:r>
              <a:rPr lang="zh-CN" altLang="en-US"/>
              <a:t>这种差异的存在，既受到学生个人观念和社会环境的影响，也与当前马克思主义教育的不足有一定关系。因此，加强对马克思主义的教育和引导，提升学生对其的认同感和理解程度，具有重要的现实意义。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4650"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608830" y="411480"/>
            <a:ext cx="2974975" cy="645160"/>
          </a:xfrm>
          <a:prstGeom prst="rect">
            <a:avLst/>
          </a:prstGeom>
          <a:noFill/>
        </p:spPr>
        <p:txBody>
          <a:bodyPr wrap="square" rtlCol="0">
            <a:spAutoFit/>
          </a:bodyPr>
          <a:lstStyle/>
          <a:p>
            <a:pPr algn="ctr" fontAlgn="auto">
              <a:lnSpc>
                <a:spcPct val="120000"/>
              </a:lnSpc>
            </a:pPr>
            <a:r>
              <a:rPr lang="zh-CN" altLang="en-US" sz="3000">
                <a:solidFill>
                  <a:srgbClr val="920417"/>
                </a:solidFill>
                <a:latin typeface="汉仪粗宋简" panose="02010600000101010101" charset="-122"/>
                <a:ea typeface="汉仪粗宋简" panose="02010600000101010101" charset="-122"/>
                <a:sym typeface="+mn-ea"/>
              </a:rPr>
              <a:t>调研结果与分析</a:t>
            </a:r>
            <a:endParaRPr lang="zh-CN" altLang="en-US" sz="3000">
              <a:solidFill>
                <a:srgbClr val="920417"/>
              </a:solidFill>
              <a:latin typeface="汉仪粗宋简" panose="02010600000101010101" charset="-122"/>
              <a:ea typeface="汉仪粗宋简" panose="02010600000101010101" charset="-122"/>
            </a:endParaRP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45632462" name="图表 5"/>
          <p:cNvGraphicFramePr/>
          <p:nvPr/>
        </p:nvGraphicFramePr>
        <p:xfrm>
          <a:off x="513080" y="1124268"/>
          <a:ext cx="5274310" cy="3076575"/>
        </p:xfrm>
        <a:graphic>
          <a:graphicData uri="http://schemas.openxmlformats.org/drawingml/2006/chart">
            <c:chart xmlns:c="http://schemas.openxmlformats.org/drawingml/2006/chart" xmlns:r="http://schemas.openxmlformats.org/officeDocument/2006/relationships" r:id="rId4"/>
          </a:graphicData>
        </a:graphic>
      </p:graphicFrame>
      <p:sp>
        <p:nvSpPr>
          <p:cNvPr id="2" name="文本框 1"/>
          <p:cNvSpPr txBox="1"/>
          <p:nvPr/>
        </p:nvSpPr>
        <p:spPr>
          <a:xfrm>
            <a:off x="2190115" y="4883785"/>
            <a:ext cx="7404100" cy="1198880"/>
          </a:xfrm>
          <a:prstGeom prst="rect">
            <a:avLst/>
          </a:prstGeom>
          <a:noFill/>
        </p:spPr>
        <p:txBody>
          <a:bodyPr wrap="square" rtlCol="0">
            <a:spAutoFit/>
          </a:bodyPr>
          <a:lstStyle/>
          <a:p>
            <a:r>
              <a:rPr lang="zh-CN" altLang="en-US"/>
              <a:t>综上所述，对大学生对马克思主义的看法、理解程度、教育建议、教育形式以及认同感进行深入分析，有助于更好地了解当前马克思主义教育的现状和问题，并提出相应的改进措施和建议，促进学生全面发展和社会主义事业的顺利推进。</a:t>
            </a:r>
          </a:p>
        </p:txBody>
      </p:sp>
      <p:sp>
        <p:nvSpPr>
          <p:cNvPr id="4" name="文本框 3"/>
          <p:cNvSpPr txBox="1"/>
          <p:nvPr/>
        </p:nvSpPr>
        <p:spPr>
          <a:xfrm>
            <a:off x="6250940" y="1416685"/>
            <a:ext cx="5431155" cy="3138170"/>
          </a:xfrm>
          <a:prstGeom prst="rect">
            <a:avLst/>
          </a:prstGeom>
          <a:noFill/>
        </p:spPr>
        <p:txBody>
          <a:bodyPr wrap="square" rtlCol="0">
            <a:spAutoFit/>
          </a:bodyPr>
          <a:lstStyle/>
          <a:p>
            <a:r>
              <a:rPr lang="zh-CN" altLang="en-US"/>
              <a:t>调查显示，大学生对于马克思主义的认同感存在着一定的差异。大部分学生对马克思主义持积极认同态度，认为其是解决社会问题的有效工具和思想武器；而少数学生则对马克思主义持保留或质疑态度，认为其理论体系已经过时或不适用于当前社会。</a:t>
            </a:r>
          </a:p>
          <a:p>
            <a:endParaRPr lang="zh-CN" altLang="en-US"/>
          </a:p>
          <a:p>
            <a:r>
              <a:rPr lang="zh-CN" altLang="en-US"/>
              <a:t>这种差异的存在，既受到学生个人观念和社会环境的影响，也与当前马克思主义教育的不足有一定关系。因此，加强对马克思主义的教育和引导，提升学生对其的认同感和理解程度，具有重要的现实意义。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p:cNvGrpSpPr/>
          <p:nvPr/>
        </p:nvGrpSpPr>
        <p:grpSpPr>
          <a:xfrm>
            <a:off x="2177782" y="1863090"/>
            <a:ext cx="7174230" cy="3131820"/>
            <a:chOff x="3496" y="2934"/>
            <a:chExt cx="11298" cy="4932"/>
          </a:xfrm>
        </p:grpSpPr>
        <p:grpSp>
          <p:nvGrpSpPr>
            <p:cNvPr id="4" name="组合 3"/>
            <p:cNvGrpSpPr/>
            <p:nvPr/>
          </p:nvGrpSpPr>
          <p:grpSpPr>
            <a:xfrm>
              <a:off x="3496" y="2934"/>
              <a:ext cx="4932" cy="4932"/>
              <a:chOff x="10504" y="2543"/>
              <a:chExt cx="4932" cy="4932"/>
            </a:xfrm>
          </p:grpSpPr>
          <p:pic>
            <p:nvPicPr>
              <p:cNvPr id="2" name="图片 1" descr="happy-graduate-woman-mantle-rejoicing-laughing-smiling"/>
              <p:cNvPicPr>
                <a:picLocks noChangeAspect="1"/>
              </p:cNvPicPr>
              <p:nvPr/>
            </p:nvPicPr>
            <p:blipFill>
              <a:blip r:embed="rId5"/>
              <a:srcRect l="25241" r="8936"/>
              <a:stretch>
                <a:fillRect/>
              </a:stretch>
            </p:blipFill>
            <p:spPr>
              <a:xfrm flipH="1">
                <a:off x="10548" y="2587"/>
                <a:ext cx="4844" cy="4844"/>
              </a:xfrm>
              <a:prstGeom prst="ellipse">
                <a:avLst/>
              </a:prstGeom>
            </p:spPr>
          </p:pic>
          <p:sp>
            <p:nvSpPr>
              <p:cNvPr id="3" name="椭圆 2"/>
              <p:cNvSpPr/>
              <p:nvPr/>
            </p:nvSpPr>
            <p:spPr>
              <a:xfrm>
                <a:off x="10504" y="2543"/>
                <a:ext cx="4932" cy="4932"/>
              </a:xfrm>
              <a:prstGeom prst="ellipse">
                <a:avLst/>
              </a:prstGeom>
              <a:noFill/>
              <a:ln>
                <a:solidFill>
                  <a:srgbClr val="9204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0052" y="3715"/>
              <a:ext cx="4742" cy="1840"/>
              <a:chOff x="10052" y="3392"/>
              <a:chExt cx="4742" cy="1840"/>
            </a:xfrm>
          </p:grpSpPr>
          <p:sp>
            <p:nvSpPr>
              <p:cNvPr id="8" name="文本框 7"/>
              <p:cNvSpPr txBox="1"/>
              <p:nvPr/>
            </p:nvSpPr>
            <p:spPr>
              <a:xfrm>
                <a:off x="10666" y="3392"/>
                <a:ext cx="3515" cy="1016"/>
              </a:xfrm>
              <a:prstGeom prst="rect">
                <a:avLst/>
              </a:prstGeom>
              <a:noFill/>
            </p:spPr>
            <p:txBody>
              <a:bodyPr wrap="square" rtlCol="0">
                <a:spAutoFit/>
              </a:bodyPr>
              <a:lstStyle/>
              <a:p>
                <a:pPr algn="ctr"/>
                <a:r>
                  <a:rPr lang="en-US" altLang="zh-CN" sz="3600">
                    <a:solidFill>
                      <a:srgbClr val="920417"/>
                    </a:solidFill>
                    <a:latin typeface="汉仪粗宋简" panose="02010600000101010101" charset="-122"/>
                    <a:ea typeface="汉仪粗宋简" panose="02010600000101010101" charset="-122"/>
                  </a:rPr>
                  <a:t>PART-07</a:t>
                </a:r>
              </a:p>
            </p:txBody>
          </p:sp>
          <p:sp>
            <p:nvSpPr>
              <p:cNvPr id="9" name="文本框 8"/>
              <p:cNvSpPr txBox="1"/>
              <p:nvPr/>
            </p:nvSpPr>
            <p:spPr>
              <a:xfrm>
                <a:off x="10052" y="4179"/>
                <a:ext cx="4742" cy="1053"/>
              </a:xfrm>
              <a:prstGeom prst="rect">
                <a:avLst/>
              </a:prstGeom>
              <a:noFill/>
            </p:spPr>
            <p:txBody>
              <a:bodyPr wrap="square" rtlCol="0">
                <a:spAutoFit/>
              </a:bodyPr>
              <a:lstStyle/>
              <a:p>
                <a:pPr algn="ctr" fontAlgn="auto">
                  <a:lnSpc>
                    <a:spcPct val="120000"/>
                  </a:lnSpc>
                </a:pPr>
                <a:r>
                  <a:rPr lang="zh-CN" altLang="en-US" sz="5400" dirty="0">
                    <a:solidFill>
                      <a:srgbClr val="920417"/>
                    </a:solidFill>
                    <a:latin typeface="汉仪粗宋简" panose="02010600000101010101" charset="-122"/>
                    <a:ea typeface="汉仪粗宋简" panose="02010600000101010101" charset="-122"/>
                  </a:rPr>
                  <a:t>致谢</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80125" y="0"/>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80125" y="3390265"/>
            <a:ext cx="6111875" cy="3467735"/>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3390265"/>
            <a:ext cx="6111875" cy="3467735"/>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58775" y="340995"/>
            <a:ext cx="11442700" cy="617601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在撰写这篇思想政治理论实践报告的过程中，我深感自己受到了许多人的帮助和支持。首先，我要衷心感谢我的指导老师李瑾，她不仅在报告的选题、结构、内容和格式上给予了我悉心的指导和耐心的帮助，而且在调研过程中给予了我许多宝贵的意见和建议。此外，我还要感谢我的同学们和朋友们，他们在实践过程中给予我很多帮助和支持，尤其是在数据收集和整理方面，他们为我提供了丰富的资料和案例，使我的报告更加充实和准确。我还要感谢学院领导和老师们为我们提供了良好的学习和实践环境，让我们在思想政治理论教育中不断成长和提高。同时，感谢那些在调研过程中接受我采访的受访者，他们的观点和意见使我对思想政治理论实践有了更深入的了解和认识。在此，我向所有帮助过我的人表示衷心的感谢和崇高的敬意！</a:t>
            </a:r>
          </a:p>
        </p:txBody>
      </p:sp>
      <p:sp>
        <p:nvSpPr>
          <p:cNvPr id="17" name="文本框 16"/>
          <p:cNvSpPr txBox="1"/>
          <p:nvPr/>
        </p:nvSpPr>
        <p:spPr>
          <a:xfrm>
            <a:off x="4737100" y="416560"/>
            <a:ext cx="2717165" cy="600036"/>
          </a:xfrm>
          <a:prstGeom prst="rect">
            <a:avLst/>
          </a:prstGeom>
          <a:noFill/>
        </p:spPr>
        <p:txBody>
          <a:bodyPr wrap="square" rtlCol="0">
            <a:spAutoFit/>
          </a:bodyPr>
          <a:lstStyle/>
          <a:p>
            <a:pPr algn="ctr" fontAlgn="auto">
              <a:lnSpc>
                <a:spcPct val="120000"/>
              </a:lnSpc>
            </a:pPr>
            <a:r>
              <a:rPr lang="zh-CN" altLang="en-US" sz="3000" dirty="0">
                <a:solidFill>
                  <a:srgbClr val="920417"/>
                </a:solidFill>
                <a:latin typeface="汉仪粗宋简" panose="02010600000101010101" charset="-122"/>
                <a:ea typeface="汉仪粗宋简" panose="02010600000101010101" charset="-122"/>
                <a:sym typeface="+mn-ea"/>
              </a:rPr>
              <a:t>致谢</a:t>
            </a:r>
            <a:endParaRPr lang="zh-CN" altLang="en-US" sz="3000" dirty="0">
              <a:solidFill>
                <a:srgbClr val="920417"/>
              </a:solidFill>
              <a:latin typeface="汉仪粗宋简" panose="02010600000101010101" charset="-122"/>
              <a:ea typeface="汉仪粗宋简" panose="02010600000101010101" charset="-122"/>
            </a:endParaRPr>
          </a:p>
        </p:txBody>
      </p:sp>
      <p:grpSp>
        <p:nvGrpSpPr>
          <p:cNvPr id="18" name="组合 17"/>
          <p:cNvGrpSpPr/>
          <p:nvPr/>
        </p:nvGrpSpPr>
        <p:grpSpPr>
          <a:xfrm>
            <a:off x="5355590" y="1025525"/>
            <a:ext cx="1480820" cy="35560"/>
            <a:chOff x="7634" y="6188"/>
            <a:chExt cx="2332" cy="56"/>
          </a:xfrm>
        </p:grpSpPr>
        <p:sp>
          <p:nvSpPr>
            <p:cNvPr id="19" name="矩形 18"/>
            <p:cNvSpPr/>
            <p:nvPr/>
          </p:nvSpPr>
          <p:spPr>
            <a:xfrm>
              <a:off x="7634"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460" y="6188"/>
              <a:ext cx="680"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86" y="6188"/>
              <a:ext cx="680"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1226774080"/>
      </p:ext>
    </p:ext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541"/>
          <p:cNvPicPr>
            <a:picLocks noChangeAspect="1"/>
          </p:cNvPicPr>
          <p:nvPr/>
        </p:nvPicPr>
        <p:blipFill>
          <a:blip r:embed="rId4"/>
          <a:srcRect l="604" t="407" b="537"/>
          <a:stretch>
            <a:fillRect/>
          </a:stretch>
        </p:blipFill>
        <p:spPr>
          <a:xfrm>
            <a:off x="0" y="635"/>
            <a:ext cx="12192000" cy="6857365"/>
          </a:xfrm>
          <a:prstGeom prst="rect">
            <a:avLst/>
          </a:prstGeom>
        </p:spPr>
      </p:pic>
      <p:grpSp>
        <p:nvGrpSpPr>
          <p:cNvPr id="30" name="组合 29"/>
          <p:cNvGrpSpPr/>
          <p:nvPr/>
        </p:nvGrpSpPr>
        <p:grpSpPr>
          <a:xfrm>
            <a:off x="2188845" y="1591310"/>
            <a:ext cx="7777480" cy="3435985"/>
            <a:chOff x="3447" y="2506"/>
            <a:chExt cx="12248" cy="5411"/>
          </a:xfrm>
        </p:grpSpPr>
        <p:sp>
          <p:nvSpPr>
            <p:cNvPr id="7" name="文本框 6"/>
            <p:cNvSpPr txBox="1"/>
            <p:nvPr/>
          </p:nvSpPr>
          <p:spPr>
            <a:xfrm>
              <a:off x="5082" y="2506"/>
              <a:ext cx="9399" cy="1212"/>
            </a:xfrm>
            <a:prstGeom prst="rect">
              <a:avLst/>
            </a:prstGeom>
            <a:noFill/>
          </p:spPr>
          <p:txBody>
            <a:bodyPr wrap="square" rtlCol="0">
              <a:spAutoFit/>
            </a:bodyPr>
            <a:lstStyle/>
            <a:p>
              <a:pPr algn="ctr" fontAlgn="auto">
                <a:lnSpc>
                  <a:spcPct val="120000"/>
                </a:lnSpc>
              </a:pPr>
              <a:r>
                <a:rPr lang="zh-CN" altLang="en-US" sz="4000" dirty="0">
                  <a:latin typeface="汉仪粗宋简" panose="02010600000101010101" charset="-122"/>
                  <a:ea typeface="汉仪粗宋简" panose="02010600000101010101" charset="-122"/>
                  <a:cs typeface="汉仪粗宋简" panose="02010600000101010101" charset="-122"/>
                </a:rPr>
                <a:t>演示完毕，感谢观看</a:t>
              </a:r>
            </a:p>
          </p:txBody>
        </p:sp>
        <p:sp>
          <p:nvSpPr>
            <p:cNvPr id="16" name="文本框 15"/>
            <p:cNvSpPr txBox="1"/>
            <p:nvPr/>
          </p:nvSpPr>
          <p:spPr>
            <a:xfrm>
              <a:off x="3447" y="4573"/>
              <a:ext cx="12189" cy="3344"/>
            </a:xfrm>
            <a:prstGeom prst="rect">
              <a:avLst/>
            </a:prstGeom>
            <a:noFill/>
          </p:spPr>
          <p:txBody>
            <a:bodyPr wrap="square" rtlCol="0">
              <a:spAutoFit/>
            </a:bodyPr>
            <a:lstStyle/>
            <a:p>
              <a:pPr algn="ctr"/>
              <a:r>
                <a:rPr lang="zh-CN" altLang="en-US" sz="6600" dirty="0">
                  <a:solidFill>
                    <a:srgbClr val="920417"/>
                  </a:solidFill>
                  <a:latin typeface="汉仪雅酷黑简" panose="00020600040101010101" charset="-122"/>
                  <a:ea typeface="汉仪雅酷黑简" panose="00020600040101010101" charset="-122"/>
                  <a:cs typeface="汉仪雅酷黑简" panose="00020600040101010101" charset="-122"/>
                  <a:sym typeface="+mn-ea"/>
                </a:rPr>
                <a:t>思想政治理论实践</a:t>
              </a:r>
            </a:p>
            <a:p>
              <a:pPr algn="ctr"/>
              <a:r>
                <a:rPr lang="zh-CN" altLang="en-US" sz="6600" dirty="0">
                  <a:solidFill>
                    <a:srgbClr val="920417"/>
                  </a:solidFill>
                  <a:latin typeface="汉仪雅酷黑简" panose="00020600040101010101" charset="-122"/>
                  <a:ea typeface="汉仪雅酷黑简" panose="00020600040101010101" charset="-122"/>
                  <a:cs typeface="汉仪雅酷黑简" panose="00020600040101010101" charset="-122"/>
                  <a:sym typeface="+mn-ea"/>
                </a:rPr>
                <a:t>调研报告</a:t>
              </a:r>
              <a:endParaRPr lang="zh-CN" altLang="en-US" sz="6600" dirty="0">
                <a:solidFill>
                  <a:srgbClr val="920417"/>
                </a:solidFill>
                <a:latin typeface="汉仪雅酷黑简" panose="00020600040101010101" charset="-122"/>
                <a:ea typeface="汉仪雅酷黑简" panose="00020600040101010101" charset="-122"/>
                <a:cs typeface="汉仪雅酷黑简" panose="00020600040101010101" charset="-122"/>
              </a:endParaRPr>
            </a:p>
          </p:txBody>
        </p:sp>
        <p:sp>
          <p:nvSpPr>
            <p:cNvPr id="19" name="文本框 18"/>
            <p:cNvSpPr txBox="1"/>
            <p:nvPr/>
          </p:nvSpPr>
          <p:spPr>
            <a:xfrm>
              <a:off x="3506" y="4854"/>
              <a:ext cx="12189" cy="520"/>
            </a:xfrm>
            <a:prstGeom prst="rect">
              <a:avLst/>
            </a:prstGeom>
            <a:noFill/>
          </p:spPr>
          <p:txBody>
            <a:bodyPr wrap="square" rtlCol="0">
              <a:spAutoFit/>
            </a:bodyPr>
            <a:lstStyle/>
            <a:p>
              <a:pPr algn="ctr" fontAlgn="auto">
                <a:lnSpc>
                  <a:spcPct val="120000"/>
                </a:lnSpc>
              </a:pPr>
              <a:endParaRPr lang="zh-CN" altLang="en-US" sz="1400" dirty="0">
                <a:solidFill>
                  <a:schemeClr val="tx1">
                    <a:lumMod val="65000"/>
                    <a:lumOff val="35000"/>
                  </a:schemeClr>
                </a:solidFill>
                <a:latin typeface="汉仪中简黑简" panose="00020600040101010101" charset="-122"/>
                <a:ea typeface="汉仪中简黑简" panose="00020600040101010101" charset="-122"/>
              </a:endParaRPr>
            </a:p>
          </p:txBody>
        </p:sp>
        <p:grpSp>
          <p:nvGrpSpPr>
            <p:cNvPr id="24" name="组合 23"/>
            <p:cNvGrpSpPr/>
            <p:nvPr/>
          </p:nvGrpSpPr>
          <p:grpSpPr>
            <a:xfrm>
              <a:off x="7634" y="6188"/>
              <a:ext cx="3932" cy="56"/>
              <a:chOff x="5969" y="6203"/>
              <a:chExt cx="3932" cy="56"/>
            </a:xfrm>
          </p:grpSpPr>
          <p:sp>
            <p:nvSpPr>
              <p:cNvPr id="21" name="矩形 20"/>
              <p:cNvSpPr/>
              <p:nvPr/>
            </p:nvSpPr>
            <p:spPr>
              <a:xfrm>
                <a:off x="5969" y="6203"/>
                <a:ext cx="1148"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361" y="6203"/>
                <a:ext cx="1148" cy="57"/>
              </a:xfrm>
              <a:prstGeom prst="rect">
                <a:avLst/>
              </a:prstGeom>
              <a:solidFill>
                <a:srgbClr val="9204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753" y="6203"/>
                <a:ext cx="1148" cy="57"/>
              </a:xfrm>
              <a:prstGeom prst="rect">
                <a:avLst/>
              </a:pr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3" name="任意多边形 32"/>
          <p:cNvSpPr/>
          <p:nvPr/>
        </p:nvSpPr>
        <p:spPr>
          <a:xfrm>
            <a:off x="0" y="3978910"/>
            <a:ext cx="605790" cy="689026"/>
          </a:xfrm>
          <a:custGeom>
            <a:avLst/>
            <a:gdLst/>
            <a:ahLst/>
            <a:cxnLst>
              <a:cxn ang="3">
                <a:pos x="hc" y="t"/>
              </a:cxn>
              <a:cxn ang="cd2">
                <a:pos x="l" y="vc"/>
              </a:cxn>
              <a:cxn ang="cd4">
                <a:pos x="hc" y="b"/>
              </a:cxn>
              <a:cxn ang="0">
                <a:pos x="r" y="vc"/>
              </a:cxn>
            </a:cxnLst>
            <a:rect l="l" t="t" r="r" b="b"/>
            <a:pathLst>
              <a:path w="954" h="1085">
                <a:moveTo>
                  <a:pt x="0" y="0"/>
                </a:moveTo>
                <a:lnTo>
                  <a:pt x="954" y="0"/>
                </a:lnTo>
                <a:lnTo>
                  <a:pt x="954" y="413"/>
                </a:lnTo>
                <a:lnTo>
                  <a:pt x="0" y="1085"/>
                </a:lnTo>
                <a:lnTo>
                  <a:pt x="0" y="0"/>
                </a:lnTo>
                <a:close/>
              </a:path>
            </a:pathLst>
          </a:custGeom>
          <a:solidFill>
            <a:srgbClr val="1E28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80c3893c-571d-4be4-a87e-2d368d250cb4"/>
  <p:tag name="COMMONDATA" val="eyJjb3VudCI6MiwiaGRpZCI6IjJkMDlmZGY4ZjVlOWQ0MWVmNjM2M2MwM2JlYTlkODRmIiwidXNlckNvdW50Ijox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36.4,&quot;left&quot;:130.5,&quot;top&quot;:158.85,&quot;width&quot;:688.25}"/>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汉仪中简黑简"/>
        <a:cs typeface=""/>
      </a:majorFont>
      <a:minorFont>
        <a:latin typeface="Arial"/>
        <a:ea typeface="汉仪中简黑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粗宋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汉仪粗宋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粗宋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汉仪粗宋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1672</Words>
  <Application>Microsoft Office PowerPoint</Application>
  <PresentationFormat>宽屏</PresentationFormat>
  <Paragraphs>106</Paragraphs>
  <Slides>19</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汉仪粗宋简</vt:lpstr>
      <vt:lpstr>Calibri</vt:lpstr>
      <vt:lpstr>Arial</vt:lpstr>
      <vt:lpstr>汉仪雅酷黑简</vt:lpstr>
      <vt:lpstr>-apple-system</vt:lpstr>
      <vt:lpstr>汉仪中简黑简</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委晟 鞠</cp:lastModifiedBy>
  <cp:revision>164</cp:revision>
  <dcterms:created xsi:type="dcterms:W3CDTF">2019-06-19T02:08:00Z</dcterms:created>
  <dcterms:modified xsi:type="dcterms:W3CDTF">2024-04-30T12:16:07Z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FE95D6E7DB394BEB8F62374E68E5DCBF_12</vt:lpwstr>
  </property>
  <property fmtid="{D5CDD505-2E9C-101B-9397-08002B2CF9AE}" pid="4" name="KSOTemplateUUID">
    <vt:lpwstr>v1.0_mb_wONK8vsAgW6whMt1GWN5Eg==</vt:lpwstr>
  </property>
</Properties>
</file>