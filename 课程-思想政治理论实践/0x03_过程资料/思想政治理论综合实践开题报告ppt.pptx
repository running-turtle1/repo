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61" r:id="rId5"/>
    <p:sldId id="262" r:id="rId6"/>
    <p:sldId id="280" r:id="rId7"/>
    <p:sldId id="281" r:id="rId8"/>
    <p:sldId id="257" r:id="rId9"/>
  </p:sldIdLst>
  <p:sldSz cx="12192000" cy="6858000"/>
  <p:notesSz cx="6858000" cy="9144000"/>
  <p:embeddedFontLst>
    <p:embeddedFont>
      <p:font typeface="汉仪中简黑简" panose="00020600040101010101" charset="-122"/>
      <p:regular r:id="rId14"/>
    </p:embeddedFont>
    <p:embeddedFont>
      <p:font typeface="汉仪粗宋简" panose="02010600000101010101" charset="-122"/>
      <p:regular r:id="rId15"/>
    </p:embeddedFont>
    <p:embeddedFont>
      <p:font typeface="汉仪雅酷黑简" panose="00020600040101010101" charset="-122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417"/>
    <a:srgbClr val="E91B35"/>
    <a:srgbClr val="FFFFFF"/>
    <a:srgbClr val="EFEFEF"/>
    <a:srgbClr val="F2F2F2"/>
    <a:srgbClr val="D8D8D8"/>
    <a:srgbClr val="F5F5F5"/>
    <a:srgbClr val="1E2836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47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汉仪粗宋简" panose="0201060000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汉仪粗宋简" panose="02010600000101010101" charset="-122"/>
              </a:rPr>
            </a:fld>
            <a:endParaRPr lang="zh-CN" altLang="en-US">
              <a:ea typeface="汉仪粗宋简" panose="0201060000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汉仪粗宋简" panose="0201060000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汉仪粗宋简" panose="02010600000101010101" charset="-122"/>
              </a:rPr>
            </a:fld>
            <a:endParaRPr lang="zh-CN" altLang="en-US">
              <a:ea typeface="汉仪粗宋简" panose="0201060000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汉仪粗宋简" panose="0201060000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汉仪粗宋简" panose="0201060000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汉仪粗宋简" panose="0201060000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汉仪粗宋简" panose="0201060000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汉仪粗宋简" panose="0201060000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汉仪粗宋简" panose="0201060000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汉仪粗宋简" panose="0201060000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汉仪粗宋简" panose="0201060000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汉仪粗宋简" panose="0201060000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中简黑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604" t="407" b="537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1941830" y="1476375"/>
            <a:ext cx="8695055" cy="4222750"/>
            <a:chOff x="3058" y="2325"/>
            <a:chExt cx="13693" cy="6650"/>
          </a:xfrm>
        </p:grpSpPr>
        <p:sp>
          <p:nvSpPr>
            <p:cNvPr id="7" name="文本框 6"/>
            <p:cNvSpPr txBox="1"/>
            <p:nvPr/>
          </p:nvSpPr>
          <p:spPr>
            <a:xfrm>
              <a:off x="6992" y="2325"/>
              <a:ext cx="5216" cy="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20000"/>
                </a:lnSpc>
              </a:pPr>
              <a:r>
                <a:rPr lang="en-US" altLang="zh-CN" sz="2800">
                  <a:latin typeface="汉仪粗宋简" panose="02010600000101010101" charset="-122"/>
                  <a:ea typeface="汉仪粗宋简" panose="02010600000101010101" charset="-122"/>
                  <a:cs typeface="汉仪粗宋简" panose="02010600000101010101" charset="-122"/>
                </a:rPr>
                <a:t>2023-2024-2 </a:t>
              </a:r>
              <a:r>
                <a:rPr lang="zh-CN" altLang="en-US" sz="2800">
                  <a:latin typeface="汉仪粗宋简" panose="02010600000101010101" charset="-122"/>
                  <a:ea typeface="汉仪粗宋简" panose="02010600000101010101" charset="-122"/>
                  <a:cs typeface="汉仪粗宋简" panose="02010600000101010101" charset="-122"/>
                </a:rPr>
                <a:t>学年</a:t>
              </a:r>
              <a:endParaRPr lang="zh-CN" altLang="en-US" sz="2800">
                <a:latin typeface="汉仪粗宋简" panose="02010600000101010101" charset="-122"/>
                <a:ea typeface="汉仪粗宋简" panose="02010600000101010101" charset="-122"/>
                <a:cs typeface="汉仪粗宋简" panose="02010600000101010101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058" y="3657"/>
              <a:ext cx="13581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6600">
                  <a:solidFill>
                    <a:srgbClr val="920417"/>
                  </a:solidFill>
                  <a:latin typeface="汉仪雅酷黑简" panose="00020600040101010101" charset="-122"/>
                  <a:ea typeface="汉仪雅酷黑简" panose="00020600040101010101" charset="-122"/>
                  <a:cs typeface="汉仪雅酷黑简" panose="00020600040101010101" charset="-122"/>
                </a:rPr>
                <a:t>思想时间政治开题报告</a:t>
              </a:r>
              <a:endParaRPr lang="zh-CN" altLang="en-US" sz="6600">
                <a:solidFill>
                  <a:srgbClr val="920417"/>
                </a:solidFill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 rot="0">
              <a:off x="7634" y="6188"/>
              <a:ext cx="3932" cy="56"/>
              <a:chOff x="5969" y="6203"/>
              <a:chExt cx="3932" cy="56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5969" y="6203"/>
                <a:ext cx="1148" cy="57"/>
              </a:xfrm>
              <a:prstGeom prst="rect">
                <a:avLst/>
              </a:prstGeom>
              <a:solidFill>
                <a:srgbClr val="1E28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361" y="6203"/>
                <a:ext cx="1148" cy="57"/>
              </a:xfrm>
              <a:prstGeom prst="rect">
                <a:avLst/>
              </a:prstGeom>
              <a:solidFill>
                <a:srgbClr val="92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8753" y="6203"/>
                <a:ext cx="1148" cy="57"/>
              </a:xfrm>
              <a:prstGeom prst="rect">
                <a:avLst/>
              </a:prstGeom>
              <a:solidFill>
                <a:srgbClr val="1E28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7" name="矩形 26"/>
            <p:cNvSpPr/>
            <p:nvPr/>
          </p:nvSpPr>
          <p:spPr>
            <a:xfrm>
              <a:off x="13144" y="7351"/>
              <a:ext cx="3607" cy="1624"/>
            </a:xfrm>
            <a:prstGeom prst="rect">
              <a:avLst/>
            </a:prstGeom>
            <a:solidFill>
              <a:srgbClr val="9204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ym typeface="+mn-ea"/>
                </a:rPr>
                <a:t>小组成员</a:t>
              </a:r>
              <a:r>
                <a:rPr lang="en-US" altLang="zh-CN" sz="1600">
                  <a:sym typeface="+mn-ea"/>
                </a:rPr>
                <a:t>(</a:t>
              </a:r>
              <a:r>
                <a:rPr lang="zh-CN" altLang="en-US" sz="1600">
                  <a:sym typeface="+mn-ea"/>
                </a:rPr>
                <a:t>计算</a:t>
              </a:r>
              <a:r>
                <a:rPr lang="en-US" altLang="zh-CN" sz="1600">
                  <a:sym typeface="+mn-ea"/>
                </a:rPr>
                <a:t>224) : </a:t>
              </a:r>
              <a:endParaRPr lang="en-US" altLang="zh-CN" sz="1600"/>
            </a:p>
            <a:p>
              <a:pPr algn="ctr"/>
              <a:r>
                <a:rPr lang="en-US" altLang="zh-CN" sz="1600">
                  <a:sym typeface="+mn-ea"/>
                </a:rPr>
                <a:t> 魏鹏超、王广、鞠委晟、王旭、薛瑞民、陈大地</a:t>
              </a:r>
              <a:endParaRPr lang="en-US" altLang="zh-CN" sz="1600"/>
            </a:p>
            <a:p>
              <a:pPr algn="ctr"/>
              <a:endParaRPr lang="zh-CN" altLang="en-US" sz="1600">
                <a:latin typeface="汉仪粗宋简" panose="02010600000101010101" charset="-122"/>
                <a:ea typeface="汉仪粗宋简" panose="02010600000101010101" charset="-122"/>
              </a:endParaRPr>
            </a:p>
          </p:txBody>
        </p:sp>
      </p:grpSp>
      <p:sp>
        <p:nvSpPr>
          <p:cNvPr id="33" name="任意多边形 32"/>
          <p:cNvSpPr/>
          <p:nvPr/>
        </p:nvSpPr>
        <p:spPr>
          <a:xfrm>
            <a:off x="0" y="3978910"/>
            <a:ext cx="605790" cy="689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4" h="1085">
                <a:moveTo>
                  <a:pt x="0" y="0"/>
                </a:moveTo>
                <a:lnTo>
                  <a:pt x="954" y="0"/>
                </a:lnTo>
                <a:lnTo>
                  <a:pt x="954" y="413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2780" t="4269" r="2331" b="5876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5346065" y="769620"/>
            <a:ext cx="1480820" cy="877570"/>
            <a:chOff x="8419" y="1077"/>
            <a:chExt cx="2332" cy="1382"/>
          </a:xfrm>
        </p:grpSpPr>
        <p:sp>
          <p:nvSpPr>
            <p:cNvPr id="2" name="文本框 1"/>
            <p:cNvSpPr txBox="1"/>
            <p:nvPr/>
          </p:nvSpPr>
          <p:spPr>
            <a:xfrm>
              <a:off x="8494" y="1077"/>
              <a:ext cx="221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>
                  <a:solidFill>
                    <a:srgbClr val="920417"/>
                  </a:solidFill>
                  <a:latin typeface="汉仪雅酷黑简" panose="00020600040101010101" charset="-122"/>
                  <a:ea typeface="汉仪雅酷黑简" panose="00020600040101010101" charset="-122"/>
                </a:rPr>
                <a:t>目录</a:t>
              </a:r>
              <a:endParaRPr lang="zh-CN" altLang="en-US" sz="4800">
                <a:solidFill>
                  <a:srgbClr val="920417"/>
                </a:solidFill>
                <a:latin typeface="汉仪雅酷黑简" panose="00020600040101010101" charset="-122"/>
                <a:ea typeface="汉仪雅酷黑简" panose="00020600040101010101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 rot="0">
              <a:off x="8419" y="2403"/>
              <a:ext cx="2332" cy="56"/>
              <a:chOff x="7634" y="6188"/>
              <a:chExt cx="2332" cy="56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7634" y="6188"/>
                <a:ext cx="680" cy="57"/>
              </a:xfrm>
              <a:prstGeom prst="rect">
                <a:avLst/>
              </a:prstGeom>
              <a:solidFill>
                <a:srgbClr val="1E28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460" y="6188"/>
                <a:ext cx="680" cy="57"/>
              </a:xfrm>
              <a:prstGeom prst="rect">
                <a:avLst/>
              </a:prstGeom>
              <a:solidFill>
                <a:srgbClr val="92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9286" y="6188"/>
                <a:ext cx="680" cy="57"/>
              </a:xfrm>
              <a:prstGeom prst="rect">
                <a:avLst/>
              </a:prstGeom>
              <a:solidFill>
                <a:srgbClr val="1E28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1558290" y="1928495"/>
            <a:ext cx="9076690" cy="3002280"/>
            <a:chOff x="2451" y="3007"/>
            <a:chExt cx="14294" cy="4728"/>
          </a:xfrm>
        </p:grpSpPr>
        <p:grpSp>
          <p:nvGrpSpPr>
            <p:cNvPr id="28" name="组合 27"/>
            <p:cNvGrpSpPr/>
            <p:nvPr/>
          </p:nvGrpSpPr>
          <p:grpSpPr>
            <a:xfrm>
              <a:off x="2451" y="3007"/>
              <a:ext cx="3308" cy="4728"/>
              <a:chOff x="2451" y="3007"/>
              <a:chExt cx="3308" cy="4728"/>
            </a:xfrm>
          </p:grpSpPr>
          <p:sp>
            <p:nvSpPr>
              <p:cNvPr id="13" name="矩形 12"/>
              <p:cNvSpPr/>
              <p:nvPr>
                <p:custDataLst>
                  <p:tags r:id="rId3"/>
                </p:custDataLst>
              </p:nvPr>
            </p:nvSpPr>
            <p:spPr>
              <a:xfrm>
                <a:off x="2451" y="3007"/>
                <a:ext cx="3308" cy="4728"/>
              </a:xfrm>
              <a:prstGeom prst="rect">
                <a:avLst/>
              </a:prstGeom>
              <a:noFill/>
              <a:ln w="12700" cmpd="sng">
                <a:solidFill>
                  <a:srgbClr val="92041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2795" y="3920"/>
                <a:ext cx="2618" cy="3147"/>
                <a:chOff x="2795" y="3398"/>
                <a:chExt cx="2618" cy="3147"/>
              </a:xfrm>
            </p:grpSpPr>
            <p:sp>
              <p:nvSpPr>
                <p:cNvPr id="22" name="文本框 21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3171" y="3398"/>
                  <a:ext cx="1869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5400">
                      <a:solidFill>
                        <a:srgbClr val="920417"/>
                      </a:solidFill>
                      <a:latin typeface="汉仪雅酷黑简" panose="00020600040101010101" charset="-122"/>
                      <a:ea typeface="汉仪雅酷黑简" panose="00020600040101010101" charset="-122"/>
                    </a:rPr>
                    <a:t>01</a:t>
                  </a:r>
                  <a:endParaRPr lang="en-US" altLang="zh-CN" sz="5400">
                    <a:solidFill>
                      <a:srgbClr val="920417"/>
                    </a:solidFill>
                    <a:latin typeface="汉仪雅酷黑简" panose="00020600040101010101" charset="-122"/>
                    <a:ea typeface="汉仪雅酷黑简" panose="00020600040101010101" charset="-122"/>
                  </a:endParaRPr>
                </a:p>
              </p:txBody>
            </p:sp>
            <p:sp>
              <p:nvSpPr>
                <p:cNvPr id="23" name="文本框 22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2795" y="5039"/>
                  <a:ext cx="2618" cy="15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我们要干什么</a:t>
                  </a:r>
                  <a:r>
                    <a:rPr lang="en-US" altLang="zh-CN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?</a:t>
                  </a:r>
                  <a:endParaRPr lang="en-US" altLang="zh-CN" sz="2800">
                    <a:solidFill>
                      <a:srgbClr val="920417"/>
                    </a:solidFill>
                    <a:latin typeface="汉仪粗宋简" panose="02010600000101010101" charset="-122"/>
                    <a:ea typeface="汉仪粗宋简" panose="02010600000101010101" charset="-122"/>
                  </a:endParaRPr>
                </a:p>
              </p:txBody>
            </p:sp>
          </p:grpSp>
        </p:grpSp>
        <p:grpSp>
          <p:nvGrpSpPr>
            <p:cNvPr id="29" name="组合 28"/>
            <p:cNvGrpSpPr/>
            <p:nvPr/>
          </p:nvGrpSpPr>
          <p:grpSpPr>
            <a:xfrm>
              <a:off x="7927" y="3007"/>
              <a:ext cx="3308" cy="4728"/>
              <a:chOff x="4493" y="3007"/>
              <a:chExt cx="3308" cy="4728"/>
            </a:xfrm>
          </p:grpSpPr>
          <p:sp>
            <p:nvSpPr>
              <p:cNvPr id="30" name="矩形 29"/>
              <p:cNvSpPr/>
              <p:nvPr>
                <p:custDataLst>
                  <p:tags r:id="rId6"/>
                </p:custDataLst>
              </p:nvPr>
            </p:nvSpPr>
            <p:spPr>
              <a:xfrm>
                <a:off x="4493" y="3007"/>
                <a:ext cx="3308" cy="4728"/>
              </a:xfrm>
              <a:prstGeom prst="rect">
                <a:avLst/>
              </a:prstGeom>
              <a:noFill/>
              <a:ln w="12700" cmpd="sng">
                <a:solidFill>
                  <a:srgbClr val="92041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4855" y="3920"/>
                <a:ext cx="2618" cy="3037"/>
                <a:chOff x="4855" y="3398"/>
                <a:chExt cx="2618" cy="3037"/>
              </a:xfrm>
            </p:grpSpPr>
            <p:sp>
              <p:nvSpPr>
                <p:cNvPr id="32" name="文本框 31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5212" y="3398"/>
                  <a:ext cx="1869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5400">
                      <a:solidFill>
                        <a:srgbClr val="920417"/>
                      </a:solidFill>
                      <a:latin typeface="汉仪雅酷黑简" panose="00020600040101010101" charset="-122"/>
                      <a:ea typeface="汉仪雅酷黑简" panose="00020600040101010101" charset="-122"/>
                    </a:rPr>
                    <a:t>02</a:t>
                  </a:r>
                  <a:endParaRPr lang="en-US" altLang="zh-CN" sz="5400">
                    <a:solidFill>
                      <a:srgbClr val="920417"/>
                    </a:solidFill>
                    <a:latin typeface="汉仪雅酷黑简" panose="00020600040101010101" charset="-122"/>
                    <a:ea typeface="汉仪雅酷黑简" panose="00020600040101010101" charset="-122"/>
                  </a:endParaRPr>
                </a:p>
              </p:txBody>
            </p:sp>
            <p:sp>
              <p:nvSpPr>
                <p:cNvPr id="33" name="文本框 32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4855" y="5039"/>
                  <a:ext cx="2618" cy="1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为什么这么做</a:t>
                  </a:r>
                  <a:r>
                    <a:rPr lang="en-US" altLang="zh-CN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?</a:t>
                  </a:r>
                  <a:endParaRPr lang="en-US" altLang="zh-CN" sz="2800">
                    <a:solidFill>
                      <a:srgbClr val="920417"/>
                    </a:solidFill>
                    <a:latin typeface="汉仪粗宋简" panose="02010600000101010101" charset="-122"/>
                    <a:ea typeface="汉仪粗宋简" panose="02010600000101010101" charset="-122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3437" y="3007"/>
              <a:ext cx="3308" cy="4728"/>
              <a:chOff x="6569" y="3007"/>
              <a:chExt cx="3308" cy="4728"/>
            </a:xfrm>
          </p:grpSpPr>
          <p:sp>
            <p:nvSpPr>
              <p:cNvPr id="36" name="矩形 35"/>
              <p:cNvSpPr/>
              <p:nvPr>
                <p:custDataLst>
                  <p:tags r:id="rId9"/>
                </p:custDataLst>
              </p:nvPr>
            </p:nvSpPr>
            <p:spPr>
              <a:xfrm>
                <a:off x="6569" y="3007"/>
                <a:ext cx="3308" cy="4728"/>
              </a:xfrm>
              <a:prstGeom prst="rect">
                <a:avLst/>
              </a:prstGeom>
              <a:noFill/>
              <a:ln w="12700" cmpd="sng">
                <a:solidFill>
                  <a:srgbClr val="92041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37" name="组合 36"/>
              <p:cNvGrpSpPr/>
              <p:nvPr/>
            </p:nvGrpSpPr>
            <p:grpSpPr>
              <a:xfrm>
                <a:off x="6915" y="3920"/>
                <a:ext cx="2618" cy="3147"/>
                <a:chOff x="6915" y="3398"/>
                <a:chExt cx="2618" cy="3147"/>
              </a:xfrm>
            </p:grpSpPr>
            <p:sp>
              <p:nvSpPr>
                <p:cNvPr id="38" name="文本框 37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7289" y="3398"/>
                  <a:ext cx="1869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5400">
                      <a:solidFill>
                        <a:srgbClr val="920417"/>
                      </a:solidFill>
                      <a:latin typeface="汉仪雅酷黑简" panose="00020600040101010101" charset="-122"/>
                      <a:ea typeface="汉仪雅酷黑简" panose="00020600040101010101" charset="-122"/>
                    </a:rPr>
                    <a:t>03</a:t>
                  </a:r>
                  <a:endParaRPr lang="en-US" altLang="zh-CN" sz="5400">
                    <a:solidFill>
                      <a:srgbClr val="920417"/>
                    </a:solidFill>
                    <a:latin typeface="汉仪雅酷黑简" panose="00020600040101010101" charset="-122"/>
                    <a:ea typeface="汉仪雅酷黑简" panose="00020600040101010101" charset="-122"/>
                  </a:endParaRPr>
                </a:p>
              </p:txBody>
            </p:sp>
            <p:sp>
              <p:nvSpPr>
                <p:cNvPr id="39" name="文本框 38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915" y="5041"/>
                  <a:ext cx="2618" cy="1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  <a:sym typeface="+mn-ea"/>
                    </a:rPr>
                    <a:t>我们要怎么做</a:t>
                  </a:r>
                  <a:r>
                    <a:rPr lang="en-US" altLang="zh-CN" sz="2800">
                      <a:solidFill>
                        <a:srgbClr val="920417"/>
                      </a:solidFill>
                      <a:latin typeface="汉仪粗宋简" panose="02010600000101010101" charset="-122"/>
                      <a:ea typeface="汉仪粗宋简" panose="02010600000101010101" charset="-122"/>
                      <a:sym typeface="+mn-ea"/>
                    </a:rPr>
                    <a:t>?</a:t>
                  </a:r>
                  <a:endParaRPr lang="zh-CN" altLang="en-US" sz="2800">
                    <a:solidFill>
                      <a:srgbClr val="920417"/>
                    </a:solidFill>
                    <a:latin typeface="汉仪粗宋简" panose="02010600000101010101" charset="-122"/>
                    <a:ea typeface="汉仪粗宋简" panose="02010600000101010101" charset="-122"/>
                  </a:endParaRPr>
                </a:p>
              </p:txBody>
            </p:sp>
          </p:grpSp>
        </p:grpSp>
      </p:grp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604" t="407" b="537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33" name="任意多边形 32"/>
          <p:cNvSpPr/>
          <p:nvPr/>
        </p:nvSpPr>
        <p:spPr>
          <a:xfrm>
            <a:off x="0" y="3978910"/>
            <a:ext cx="605790" cy="689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4" h="1085">
                <a:moveTo>
                  <a:pt x="0" y="0"/>
                </a:moveTo>
                <a:lnTo>
                  <a:pt x="954" y="0"/>
                </a:lnTo>
                <a:lnTo>
                  <a:pt x="954" y="413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51380" y="575945"/>
            <a:ext cx="2232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PART-01</a:t>
            </a:r>
            <a:endParaRPr lang="en-US" altLang="zh-CN" sz="36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4170045" y="637540"/>
            <a:ext cx="346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我们要干什么</a:t>
            </a:r>
            <a:r>
              <a:rPr lang="en-US" altLang="zh-CN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?</a:t>
            </a:r>
            <a:endParaRPr lang="en-US" altLang="zh-CN" sz="28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grpSp>
        <p:nvGrpSpPr>
          <p:cNvPr id="50" name="组合 49"/>
          <p:cNvGrpSpPr/>
          <p:nvPr>
            <p:custDataLst>
              <p:tags r:id="rId3"/>
            </p:custDataLst>
          </p:nvPr>
        </p:nvGrpSpPr>
        <p:grpSpPr>
          <a:xfrm>
            <a:off x="2076450" y="2010410"/>
            <a:ext cx="5561330" cy="3312795"/>
            <a:chOff x="3270" y="3166"/>
            <a:chExt cx="8758" cy="5217"/>
          </a:xfrm>
        </p:grpSpPr>
        <p:sp>
          <p:nvSpPr>
            <p:cNvPr id="5" name="圆角矩形 4"/>
            <p:cNvSpPr/>
            <p:nvPr/>
          </p:nvSpPr>
          <p:spPr>
            <a:xfrm>
              <a:off x="6219" y="3166"/>
              <a:ext cx="5809" cy="1323"/>
            </a:xfrm>
            <a:prstGeom prst="roundRect">
              <a:avLst/>
            </a:prstGeom>
            <a:noFill/>
            <a:ln w="12700" cmpd="sng">
              <a:solidFill>
                <a:srgbClr val="92041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 rot="0">
              <a:off x="3270" y="3204"/>
              <a:ext cx="8472" cy="5179"/>
              <a:chOff x="3431" y="3204"/>
              <a:chExt cx="8472" cy="5179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666" y="3204"/>
                <a:ext cx="5237" cy="1285"/>
                <a:chOff x="6696" y="3204"/>
                <a:chExt cx="5237" cy="1285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8236" y="3204"/>
                  <a:ext cx="2157" cy="6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fontAlgn="auto">
                    <a:lnSpc>
                      <a:spcPct val="120000"/>
                    </a:lnSpc>
                  </a:pPr>
                  <a:r>
                    <a: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调研题目</a:t>
                  </a:r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6696" y="3745"/>
                  <a:ext cx="5237" cy="7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fontAlgn="auto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rgbClr val="1E2836"/>
                      </a:solidFill>
                      <a:uFillTx/>
                      <a:latin typeface="汉仪中简黑简" panose="00020600040101010101" charset="-122"/>
                      <a:ea typeface="汉仪中简黑简" panose="00020600040101010101" charset="-122"/>
                    </a:rPr>
                    <a:t>青岛大学生对马克思主义的认识与理解</a:t>
                  </a:r>
                  <a:endParaRPr lang="zh-CN" altLang="en-US" sz="1400">
                    <a:solidFill>
                      <a:srgbClr val="1E2836"/>
                    </a:solidFill>
                    <a:uFillTx/>
                    <a:latin typeface="汉仪中简黑简" panose="00020600040101010101" charset="-122"/>
                    <a:ea typeface="汉仪中简黑简" panose="00020600040101010101" charset="-122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 rot="0">
                <a:off x="3431" y="4966"/>
                <a:ext cx="5137" cy="3417"/>
                <a:chOff x="3431" y="4966"/>
                <a:chExt cx="5137" cy="3417"/>
              </a:xfrm>
            </p:grpSpPr>
            <p:sp>
              <p:nvSpPr>
                <p:cNvPr id="28" name="圆角矩形 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549" y="4966"/>
                  <a:ext cx="4900" cy="3417"/>
                </a:xfrm>
                <a:prstGeom prst="roundRect">
                  <a:avLst/>
                </a:prstGeom>
                <a:noFill/>
                <a:ln>
                  <a:solidFill>
                    <a:srgbClr val="92041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1" name="文本框 30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4771" y="5067"/>
                  <a:ext cx="2157" cy="6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 fontAlgn="auto">
                    <a:lnSpc>
                      <a:spcPct val="120000"/>
                    </a:lnSpc>
                  </a:pPr>
                  <a:r>
                    <a: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汉仪粗宋简" panose="02010600000101010101" charset="-122"/>
                      <a:ea typeface="汉仪粗宋简" panose="02010600000101010101" charset="-122"/>
                    </a:rPr>
                    <a:t>调研内容</a:t>
                  </a:r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431" y="5553"/>
                  <a:ext cx="5137" cy="2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l" fontAlgn="auto">
                    <a:lnSpc>
                      <a:spcPct val="150000"/>
                    </a:lnSpc>
                  </a:pPr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汉仪中简黑简" panose="00020600040101010101" charset="-122"/>
                      <a:ea typeface="汉仪中简黑简" panose="00020600040101010101" charset="-122"/>
                    </a:rPr>
                    <a:t>1. 大学生对马克思主义的认知水</a:t>
                  </a:r>
                  <a:r>
                    <a:rPr lang="zh-CN" altLang="en-US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汉仪中简黑简" panose="00020600040101010101" charset="-122"/>
                      <a:ea typeface="汉仪中简黑简" panose="00020600040101010101" charset="-122"/>
                    </a:rPr>
                    <a:t>平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</a:endParaRPr>
                </a:p>
                <a:p>
                  <a:pPr algn="l" fontAlgn="auto">
                    <a:lnSpc>
                      <a:spcPct val="150000"/>
                    </a:lnSpc>
                  </a:pPr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汉仪中简黑简" panose="00020600040101010101" charset="-122"/>
                      <a:ea typeface="汉仪中简黑简" panose="00020600040101010101" charset="-122"/>
                    </a:rPr>
                    <a:t>2.大学生对马克思主义的理解和态度</a:t>
                  </a:r>
                  <a:endPara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</a:endParaRPr>
                </a:p>
                <a:p>
                  <a:pPr algn="l" fontAlgn="auto">
                    <a:lnSpc>
                      <a:spcPct val="150000"/>
                    </a:lnSpc>
                  </a:pPr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汉仪中简黑简" panose="00020600040101010101" charset="-122"/>
                      <a:ea typeface="汉仪中简黑简" panose="00020600040101010101" charset="-122"/>
                    </a:rPr>
                    <a:t>3.大学生在全球化、信息化和网络化背景下的马克思主义接受程度</a:t>
                  </a:r>
                  <a:endPara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</a:endParaRPr>
                </a:p>
                <a:p>
                  <a:pPr algn="l" fontAlgn="auto">
                    <a:lnSpc>
                      <a:spcPct val="150000"/>
                    </a:lnSpc>
                  </a:pPr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汉仪中简黑简" panose="00020600040101010101" charset="-122"/>
                      <a:ea typeface="汉仪中简黑简" panose="00020600040101010101" charset="-122"/>
                    </a:rPr>
                    <a:t>4.马克思主义在大学生中的实际应用</a:t>
                  </a:r>
                  <a:endPara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</a:endParaRPr>
                </a:p>
              </p:txBody>
            </p:sp>
          </p:grpSp>
        </p:grpSp>
      </p:grpSp>
      <p:sp>
        <p:nvSpPr>
          <p:cNvPr id="53" name="圆角矩形 52"/>
          <p:cNvSpPr/>
          <p:nvPr>
            <p:custDataLst>
              <p:tags r:id="rId7"/>
            </p:custDataLst>
          </p:nvPr>
        </p:nvSpPr>
        <p:spPr>
          <a:xfrm>
            <a:off x="6409055" y="3153410"/>
            <a:ext cx="3180080" cy="2169795"/>
          </a:xfrm>
          <a:prstGeom prst="roundRect">
            <a:avLst/>
          </a:prstGeom>
          <a:noFill/>
          <a:ln>
            <a:solidFill>
              <a:srgbClr val="920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7314565" y="3217545"/>
            <a:ext cx="136969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0000101010101" charset="-122"/>
                <a:ea typeface="汉仪粗宋简" panose="02010600000101010101" charset="-122"/>
              </a:rPr>
              <a:t>调研方法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9"/>
            </p:custDataLst>
          </p:nvPr>
        </p:nvSpPr>
        <p:spPr>
          <a:xfrm>
            <a:off x="6327140" y="3526155"/>
            <a:ext cx="3261995" cy="1595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1. </a:t>
            </a: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问卷调查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(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主要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)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latin typeface="汉仪中简黑简" panose="00020600040101010101" charset="-122"/>
              <a:ea typeface="汉仪中简黑简" panose="00020600040101010101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2.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访谈调查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汉仪中简黑简" panose="00020600040101010101" charset="-122"/>
              <a:ea typeface="汉仪中简黑简" panose="00020600040101010101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3.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文献分析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汉仪中简黑简" panose="00020600040101010101" charset="-122"/>
              <a:ea typeface="汉仪中简黑简" panose="00020600040101010101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4.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</a:rPr>
              <a:t>实地考察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汉仪中简黑简" panose="00020600040101010101" charset="-122"/>
              <a:ea typeface="汉仪中简黑简" panose="00020600040101010101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604" t="407" b="537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33" name="任意多边形 32"/>
          <p:cNvSpPr/>
          <p:nvPr/>
        </p:nvSpPr>
        <p:spPr>
          <a:xfrm>
            <a:off x="0" y="3978910"/>
            <a:ext cx="605790" cy="689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4" h="1085">
                <a:moveTo>
                  <a:pt x="0" y="0"/>
                </a:moveTo>
                <a:lnTo>
                  <a:pt x="954" y="0"/>
                </a:lnTo>
                <a:lnTo>
                  <a:pt x="954" y="413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51380" y="575945"/>
            <a:ext cx="2232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PART-02</a:t>
            </a:r>
            <a:endParaRPr lang="en-US" altLang="zh-CN" sz="36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4170045" y="637540"/>
            <a:ext cx="346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为什么这么做</a:t>
            </a:r>
            <a:r>
              <a:rPr lang="en-US" altLang="zh-CN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?</a:t>
            </a:r>
            <a:endParaRPr lang="en-US" altLang="zh-CN" sz="28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grpSp>
        <p:nvGrpSpPr>
          <p:cNvPr id="45" name="组合 44"/>
          <p:cNvGrpSpPr/>
          <p:nvPr>
            <p:custDataLst>
              <p:tags r:id="rId3"/>
            </p:custDataLst>
          </p:nvPr>
        </p:nvGrpSpPr>
        <p:grpSpPr>
          <a:xfrm rot="0">
            <a:off x="3426460" y="2015490"/>
            <a:ext cx="1840865" cy="550545"/>
            <a:chOff x="3150435" y="2256232"/>
            <a:chExt cx="1840665" cy="550710"/>
          </a:xfrm>
        </p:grpSpPr>
        <p:sp>
          <p:nvSpPr>
            <p:cNvPr id="46" name="椭圆 45"/>
            <p:cNvSpPr/>
            <p:nvPr>
              <p:custDataLst>
                <p:tags r:id="rId4"/>
              </p:custDataLst>
            </p:nvPr>
          </p:nvSpPr>
          <p:spPr>
            <a:xfrm>
              <a:off x="3150435" y="2256232"/>
              <a:ext cx="550710" cy="550710"/>
            </a:xfrm>
            <a:prstGeom prst="ellipse">
              <a:avLst/>
            </a:prstGeom>
            <a:solidFill>
              <a:srgbClr val="9204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 dirty="0">
                  <a:latin typeface="汉仪中简黑简" panose="00020600040101010101" charset="-122"/>
                  <a:ea typeface="汉仪中简黑简" panose="00020600040101010101" charset="-122"/>
                </a:rPr>
                <a:t>1</a:t>
              </a:r>
              <a:endParaRPr lang="zh-CN" altLang="en-US" sz="2000" dirty="0">
                <a:latin typeface="汉仪中简黑简" panose="00020600040101010101" charset="-122"/>
                <a:ea typeface="汉仪中简黑简" panose="00020600040101010101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721100" y="2343506"/>
              <a:ext cx="12700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just"/>
              <a:endParaRPr lang="zh-CN" altLang="en-US" sz="2000" i="1" dirty="0">
                <a:gradFill>
                  <a:gsLst>
                    <a:gs pos="25000">
                      <a:srgbClr val="9E2D12"/>
                    </a:gs>
                    <a:gs pos="84000">
                      <a:srgbClr val="73210D"/>
                    </a:gs>
                  </a:gsLst>
                  <a:path path="circle">
                    <a:fillToRect l="100000" t="100000"/>
                  </a:path>
                </a:gradFill>
                <a:effectLst>
                  <a:outerShdw blurRad="38100" dist="38100" dir="2700000" algn="tl">
                    <a:srgbClr val="000000">
                      <a:alpha val="9000"/>
                    </a:srgbClr>
                  </a:outerShdw>
                </a:effectLst>
                <a:latin typeface="汉仪中简黑简" panose="00020600040101010101" charset="-122"/>
                <a:ea typeface="汉仪中简黑简" panose="00020600040101010101" charset="-122"/>
                <a:sym typeface="汉仪中简黑简" panose="00020600040101010101" charset="-122"/>
              </a:endParaRPr>
            </a:p>
          </p:txBody>
        </p:sp>
      </p:grpSp>
      <p:sp>
        <p:nvSpPr>
          <p:cNvPr id="52" name="椭圆 51"/>
          <p:cNvSpPr/>
          <p:nvPr>
            <p:custDataLst>
              <p:tags r:id="rId5"/>
            </p:custDataLst>
          </p:nvPr>
        </p:nvSpPr>
        <p:spPr>
          <a:xfrm>
            <a:off x="3426460" y="4692650"/>
            <a:ext cx="550545" cy="550545"/>
          </a:xfrm>
          <a:prstGeom prst="ellipse">
            <a:avLst/>
          </a:prstGeom>
          <a:solidFill>
            <a:srgbClr val="92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dirty="0">
                <a:latin typeface="汉仪中简黑简" panose="00020600040101010101" charset="-122"/>
                <a:ea typeface="汉仪中简黑简" panose="00020600040101010101" charset="-122"/>
              </a:rPr>
              <a:t>3</a:t>
            </a:r>
            <a:endParaRPr lang="zh-CN" altLang="en-US" sz="2000" dirty="0">
              <a:latin typeface="汉仪中简黑简" panose="00020600040101010101" charset="-122"/>
              <a:ea typeface="汉仪中简黑简" panose="00020600040101010101" charset="-122"/>
            </a:endParaRPr>
          </a:p>
        </p:txBody>
      </p:sp>
      <p:sp>
        <p:nvSpPr>
          <p:cNvPr id="51" name="椭圆 50"/>
          <p:cNvSpPr/>
          <p:nvPr>
            <p:custDataLst>
              <p:tags r:id="rId6"/>
            </p:custDataLst>
          </p:nvPr>
        </p:nvSpPr>
        <p:spPr>
          <a:xfrm>
            <a:off x="4006850" y="3354070"/>
            <a:ext cx="550545" cy="550545"/>
          </a:xfrm>
          <a:prstGeom prst="ellipse">
            <a:avLst/>
          </a:prstGeom>
          <a:solidFill>
            <a:srgbClr val="92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dirty="0">
                <a:latin typeface="汉仪中简黑简" panose="00020600040101010101" charset="-122"/>
                <a:ea typeface="汉仪中简黑简" panose="00020600040101010101" charset="-122"/>
              </a:rPr>
              <a:t>2</a:t>
            </a:r>
            <a:endParaRPr lang="zh-CN" altLang="en-US" sz="2000" dirty="0">
              <a:latin typeface="汉仪中简黑简" panose="00020600040101010101" charset="-122"/>
              <a:ea typeface="汉仪中简黑简" panose="00020600040101010101" charset="-122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7"/>
            </p:custDataLst>
          </p:nvPr>
        </p:nvCxnSpPr>
        <p:spPr>
          <a:xfrm>
            <a:off x="3904615" y="2960370"/>
            <a:ext cx="7082790" cy="0"/>
          </a:xfrm>
          <a:prstGeom prst="line">
            <a:avLst/>
          </a:prstGeom>
          <a:ln>
            <a:solidFill>
              <a:srgbClr val="920417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>
            <p:custDataLst>
              <p:tags r:id="rId8"/>
            </p:custDataLst>
          </p:nvPr>
        </p:nvCxnSpPr>
        <p:spPr>
          <a:xfrm>
            <a:off x="3904615" y="4298315"/>
            <a:ext cx="7082790" cy="0"/>
          </a:xfrm>
          <a:prstGeom prst="line">
            <a:avLst/>
          </a:prstGeom>
          <a:ln>
            <a:solidFill>
              <a:srgbClr val="920417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4086225" y="1743710"/>
            <a:ext cx="690689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0000101010101" charset="-122"/>
                <a:ea typeface="汉仪粗宋简" panose="02010600000101010101" charset="-122"/>
              </a:rPr>
              <a:t>当代大学生是马克思主义意识形态教育的主体,他们对马克思主义意识形态的认识、理解、判断和选择,将直接影响我国未来发展的方向和未来社会的进步。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0"/>
            </p:custDataLst>
          </p:nvPr>
        </p:nvSpPr>
        <p:spPr>
          <a:xfrm>
            <a:off x="4086225" y="4605020"/>
            <a:ext cx="702246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0000101010101" charset="-122"/>
                <a:ea typeface="汉仪粗宋简" panose="02010600000101010101" charset="-122"/>
              </a:rPr>
              <a:t>大学生是社会主义现代化建设的生力军和接班人，然而随着全球化、信息化和网络化的迅速发展，必然对当代大学生的马克思主义意识形态教育带来新的挑战和难题。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1"/>
            </p:custDataLst>
          </p:nvPr>
        </p:nvSpPr>
        <p:spPr>
          <a:xfrm>
            <a:off x="4687570" y="3085465"/>
            <a:ext cx="607695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粗宋简" panose="02010600000101010101" charset="-122"/>
                <a:ea typeface="汉仪粗宋简" panose="02010600000101010101" charset="-122"/>
              </a:rPr>
              <a:t>大学生是祖国未来的希望和社会主义现代化建设的栋梁之材,他们对马克思主义意识形态是否正确地认识、理解、判断、评价和选择,将直接影响到国家、民族的兴衰成败。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1095375" y="2247900"/>
            <a:ext cx="2762250" cy="2762250"/>
            <a:chOff x="5050076" y="3007191"/>
            <a:chExt cx="2091848" cy="2091848"/>
          </a:xfrm>
        </p:grpSpPr>
        <p:sp>
          <p:nvSpPr>
            <p:cNvPr id="41" name="椭圆 40"/>
            <p:cNvSpPr/>
            <p:nvPr/>
          </p:nvSpPr>
          <p:spPr>
            <a:xfrm>
              <a:off x="5312229" y="3269344"/>
              <a:ext cx="1567542" cy="1567542"/>
            </a:xfrm>
            <a:prstGeom prst="ellipse">
              <a:avLst/>
            </a:prstGeom>
            <a:solidFill>
              <a:srgbClr val="9204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000" dirty="0">
                  <a:latin typeface="汉仪中简黑简" panose="00020600040101010101" charset="-122"/>
                  <a:ea typeface="汉仪中简黑简" panose="00020600040101010101" charset="-122"/>
                </a:rPr>
                <a:t>选题原因</a:t>
              </a:r>
              <a:endParaRPr lang="zh-CN" altLang="en-US" sz="4000" dirty="0">
                <a:latin typeface="汉仪中简黑简" panose="00020600040101010101" charset="-122"/>
                <a:ea typeface="汉仪中简黑简" panose="00020600040101010101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050076" y="3007191"/>
              <a:ext cx="2091848" cy="2091848"/>
            </a:xfrm>
            <a:prstGeom prst="ellipse">
              <a:avLst/>
            </a:prstGeom>
            <a:noFill/>
            <a:ln>
              <a:gradFill>
                <a:gsLst>
                  <a:gs pos="0">
                    <a:srgbClr val="920417"/>
                  </a:gs>
                  <a:gs pos="100000">
                    <a:srgbClr val="8A2710">
                      <a:alpha val="0"/>
                    </a:srgbClr>
                  </a:gs>
                </a:gsLst>
                <a:lin ang="5400000" scaled="1"/>
              </a:gra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604" t="407" b="537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33" name="任意多边形 32"/>
          <p:cNvSpPr/>
          <p:nvPr/>
        </p:nvSpPr>
        <p:spPr>
          <a:xfrm>
            <a:off x="0" y="3978910"/>
            <a:ext cx="605790" cy="689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4" h="1085">
                <a:moveTo>
                  <a:pt x="0" y="0"/>
                </a:moveTo>
                <a:lnTo>
                  <a:pt x="954" y="0"/>
                </a:lnTo>
                <a:lnTo>
                  <a:pt x="954" y="413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51380" y="575945"/>
            <a:ext cx="2232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PART-03</a:t>
            </a:r>
            <a:endParaRPr lang="en-US" altLang="zh-CN" sz="36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4170045" y="637540"/>
            <a:ext cx="346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我们要怎么做</a:t>
            </a:r>
            <a:r>
              <a:rPr lang="en-US" altLang="zh-CN" sz="2800">
                <a:solidFill>
                  <a:srgbClr val="920417"/>
                </a:solidFill>
                <a:latin typeface="汉仪粗宋简" panose="02010600000101010101" charset="-122"/>
                <a:ea typeface="汉仪粗宋简" panose="02010600000101010101" charset="-122"/>
              </a:rPr>
              <a:t>?</a:t>
            </a:r>
            <a:endParaRPr lang="en-US" altLang="zh-CN" sz="2800">
              <a:solidFill>
                <a:srgbClr val="920417"/>
              </a:solidFill>
              <a:latin typeface="汉仪粗宋简" panose="02010600000101010101" charset="-122"/>
              <a:ea typeface="汉仪粗宋简" panose="0201060000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1925" y="3909060"/>
            <a:ext cx="8916035" cy="1118870"/>
            <a:chOff x="6219" y="3166"/>
            <a:chExt cx="14041" cy="1762"/>
          </a:xfrm>
        </p:grpSpPr>
        <p:sp>
          <p:nvSpPr>
            <p:cNvPr id="5" name="圆角矩形 4"/>
            <p:cNvSpPr/>
            <p:nvPr/>
          </p:nvSpPr>
          <p:spPr>
            <a:xfrm>
              <a:off x="6219" y="3166"/>
              <a:ext cx="14041" cy="1762"/>
            </a:xfrm>
            <a:prstGeom prst="roundRect">
              <a:avLst/>
            </a:prstGeom>
            <a:noFill/>
            <a:ln w="12700" cmpd="sng">
              <a:solidFill>
                <a:srgbClr val="92041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 rot="0">
              <a:off x="6219" y="3204"/>
              <a:ext cx="13756" cy="1596"/>
              <a:chOff x="6410" y="3204"/>
              <a:chExt cx="13756" cy="1596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6410" y="3204"/>
                <a:ext cx="2157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fontAlgn="auto">
                  <a:lnSpc>
                    <a:spcPct val="120000"/>
                  </a:lnSpc>
                </a:pPr>
                <a:r>
                  <a: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文献分析</a:t>
                </a:r>
                <a:r>
                  <a:rPr 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：</a:t>
                </a:r>
                <a:endParaRPr lang="zh-CN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粗宋简" panose="02010600000101010101" charset="-122"/>
                  <a:ea typeface="汉仪粗宋简" panose="02010600000101010101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410" y="3745"/>
                <a:ext cx="13756" cy="10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fontAlgn="auto"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1E2836"/>
                    </a:solidFill>
                    <a:uFillTx/>
                    <a:latin typeface="汉仪中简黑简" panose="00020600040101010101" charset="-122"/>
                    <a:ea typeface="汉仪中简黑简" panose="00020600040101010101" charset="-122"/>
                  </a:rPr>
                  <a:t>梳理相关文献，包括历史资料、学术研究、教育教学实践等，了解马克思主义教育的发展历程、理论基础以及目前的研究热点和问题。</a:t>
                </a:r>
                <a:endParaRPr lang="zh-CN" altLang="en-US" sz="1400">
                  <a:solidFill>
                    <a:srgbClr val="1E2836"/>
                  </a:solidFill>
                  <a:uFillTx/>
                  <a:latin typeface="汉仪中简黑简" panose="00020600040101010101" charset="-122"/>
                  <a:ea typeface="汉仪中简黑简" panose="00020600040101010101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431925" y="2565400"/>
            <a:ext cx="8916035" cy="1118870"/>
            <a:chOff x="6219" y="3166"/>
            <a:chExt cx="14041" cy="1762"/>
          </a:xfrm>
        </p:grpSpPr>
        <p:sp>
          <p:nvSpPr>
            <p:cNvPr id="4" name="圆角矩形 3"/>
            <p:cNvSpPr/>
            <p:nvPr/>
          </p:nvSpPr>
          <p:spPr>
            <a:xfrm>
              <a:off x="6219" y="3166"/>
              <a:ext cx="14041" cy="1762"/>
            </a:xfrm>
            <a:prstGeom prst="roundRect">
              <a:avLst/>
            </a:prstGeom>
            <a:noFill/>
            <a:ln w="12700" cmpd="sng">
              <a:solidFill>
                <a:srgbClr val="92041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 rot="0">
              <a:off x="6219" y="3204"/>
              <a:ext cx="13756" cy="1596"/>
              <a:chOff x="6410" y="3204"/>
              <a:chExt cx="13756" cy="1596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6410" y="3204"/>
                <a:ext cx="2157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fontAlgn="auto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访谈调查</a:t>
                </a:r>
                <a:r>
                  <a:rPr lang="en-US" alt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:</a:t>
                </a:r>
                <a:endParaRPr lang="en-US" altLang="zh-CN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粗宋简" panose="02010600000101010101" charset="-122"/>
                  <a:ea typeface="汉仪粗宋简" panose="02010600000101010101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6410" y="3745"/>
                <a:ext cx="13756" cy="10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fontAlgn="auto"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1E2836"/>
                    </a:solidFill>
                    <a:uFillTx/>
                    <a:latin typeface="汉仪中简黑简" panose="00020600040101010101" charset="-122"/>
                    <a:ea typeface="汉仪中简黑简" panose="00020600040101010101" charset="-122"/>
                  </a:rPr>
                  <a:t>选择一定数量的青岛大学生进行深入交流，探究他们对马克思主义的认知、态度和应用情况，以及相关影响因素的具体表现</a:t>
                </a:r>
                <a:endParaRPr lang="zh-CN" altLang="en-US" sz="1400">
                  <a:solidFill>
                    <a:srgbClr val="1E2836"/>
                  </a:solidFill>
                  <a:uFillTx/>
                  <a:latin typeface="汉仪中简黑简" panose="00020600040101010101" charset="-122"/>
                  <a:ea typeface="汉仪中简黑简" panose="00020600040101010101" charset="-122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1431925" y="1303020"/>
            <a:ext cx="8916035" cy="1118870"/>
            <a:chOff x="6219" y="3166"/>
            <a:chExt cx="14041" cy="1762"/>
          </a:xfrm>
        </p:grpSpPr>
        <p:sp>
          <p:nvSpPr>
            <p:cNvPr id="12" name="圆角矩形 11"/>
            <p:cNvSpPr/>
            <p:nvPr/>
          </p:nvSpPr>
          <p:spPr>
            <a:xfrm>
              <a:off x="6219" y="3166"/>
              <a:ext cx="14041" cy="1762"/>
            </a:xfrm>
            <a:prstGeom prst="roundRect">
              <a:avLst/>
            </a:prstGeom>
            <a:noFill/>
            <a:ln w="12700" cmpd="sng">
              <a:solidFill>
                <a:srgbClr val="92041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 rot="0">
              <a:off x="6219" y="3204"/>
              <a:ext cx="13756" cy="1596"/>
              <a:chOff x="6410" y="3204"/>
              <a:chExt cx="13756" cy="1596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6410" y="3204"/>
                <a:ext cx="4482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fontAlgn="auto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问卷调查</a:t>
                </a:r>
                <a:r>
                  <a:rPr lang="en-US" alt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(</a:t>
                </a:r>
                <a:r>
                  <a: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主要内容</a:t>
                </a:r>
                <a:r>
                  <a:rPr lang="en-US" alt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):</a:t>
                </a:r>
                <a:endParaRPr lang="en-US" altLang="zh-CN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粗宋简" panose="02010600000101010101" charset="-122"/>
                  <a:ea typeface="汉仪粗宋简" panose="02010600000101010101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410" y="3745"/>
                <a:ext cx="13756" cy="10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fontAlgn="auto"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1E2836"/>
                    </a:solidFill>
                    <a:uFillTx/>
                    <a:latin typeface="汉仪中简黑简" panose="00020600040101010101" charset="-122"/>
                    <a:ea typeface="汉仪中简黑简" panose="00020600040101010101" charset="-122"/>
                  </a:rPr>
                  <a:t>设计针对青岛大学生的问卷调查，涵盖马克思主义基本概念、理论认知、态度和实际应用等方面的内容，以量化的方式收集大规模的数据。</a:t>
                </a:r>
                <a:endParaRPr lang="zh-CN" altLang="en-US" sz="1400">
                  <a:solidFill>
                    <a:srgbClr val="1E2836"/>
                  </a:solidFill>
                  <a:uFillTx/>
                  <a:latin typeface="汉仪中简黑简" panose="00020600040101010101" charset="-122"/>
                  <a:ea typeface="汉仪中简黑简" panose="00020600040101010101" charset="-122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431925" y="5252720"/>
            <a:ext cx="8916035" cy="1118870"/>
            <a:chOff x="6219" y="3166"/>
            <a:chExt cx="14041" cy="1762"/>
          </a:xfrm>
        </p:grpSpPr>
        <p:sp>
          <p:nvSpPr>
            <p:cNvPr id="17" name="圆角矩形 16"/>
            <p:cNvSpPr/>
            <p:nvPr/>
          </p:nvSpPr>
          <p:spPr>
            <a:xfrm>
              <a:off x="6219" y="3166"/>
              <a:ext cx="14041" cy="1762"/>
            </a:xfrm>
            <a:prstGeom prst="roundRect">
              <a:avLst/>
            </a:prstGeom>
            <a:noFill/>
            <a:ln w="12700" cmpd="sng">
              <a:solidFill>
                <a:srgbClr val="92041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 rot="0">
              <a:off x="6219" y="3204"/>
              <a:ext cx="13756" cy="1596"/>
              <a:chOff x="6410" y="3204"/>
              <a:chExt cx="13756" cy="1596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6410" y="3204"/>
                <a:ext cx="2157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fontAlgn="auto">
                  <a:lnSpc>
                    <a:spcPct val="120000"/>
                  </a:lnSpc>
                </a:pPr>
                <a:r>
                  <a: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实地观察</a:t>
                </a:r>
                <a:r>
                  <a:rPr 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粗宋简" panose="02010600000101010101" charset="-122"/>
                    <a:ea typeface="汉仪粗宋简" panose="02010600000101010101" charset="-122"/>
                  </a:rPr>
                  <a:t>：</a:t>
                </a:r>
                <a:endParaRPr lang="zh-CN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粗宋简" panose="02010600000101010101" charset="-122"/>
                  <a:ea typeface="汉仪粗宋简" panose="02010600000101010101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6410" y="3745"/>
                <a:ext cx="13756" cy="10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fontAlgn="auto"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1E2836"/>
                    </a:solidFill>
                    <a:uFillTx/>
                    <a:latin typeface="汉仪中简黑简" panose="00020600040101010101" charset="-122"/>
                    <a:ea typeface="汉仪中简黑简" panose="00020600040101010101" charset="-122"/>
                  </a:rPr>
                  <a:t>实地走访大学校园（以青岛科技大学为例），观察大学生的《马克思主义基本原理》课程的开展情况和学生学习状况。</a:t>
                </a:r>
                <a:endParaRPr lang="zh-CN" altLang="en-US" sz="1400">
                  <a:solidFill>
                    <a:srgbClr val="1E2836"/>
                  </a:solidFill>
                  <a:uFillTx/>
                  <a:latin typeface="汉仪中简黑简" panose="00020600040101010101" charset="-122"/>
                  <a:ea typeface="汉仪中简黑简" panose="00020600040101010101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541"/>
          <p:cNvPicPr>
            <a:picLocks noChangeAspect="1"/>
          </p:cNvPicPr>
          <p:nvPr/>
        </p:nvPicPr>
        <p:blipFill>
          <a:blip r:embed="rId1"/>
          <a:srcRect l="604" t="407" b="537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65270" y="3125470"/>
            <a:ext cx="341185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20000"/>
              </a:lnSpc>
            </a:pPr>
            <a:r>
              <a:rPr lang="zh-CN" altLang="en-US" sz="2800">
                <a:latin typeface="汉仪粗宋简" panose="02010600000101010101" charset="-122"/>
                <a:ea typeface="汉仪粗宋简" panose="02010600000101010101" charset="-122"/>
                <a:cs typeface="汉仪粗宋简" panose="02010600000101010101" charset="-122"/>
              </a:rPr>
              <a:t>演示完毕，感谢</a:t>
            </a:r>
            <a:r>
              <a:rPr lang="zh-CN" altLang="en-US" sz="2800">
                <a:latin typeface="汉仪粗宋简" panose="02010600000101010101" charset="-122"/>
                <a:ea typeface="汉仪粗宋简" panose="02010600000101010101" charset="-122"/>
                <a:cs typeface="汉仪粗宋简" panose="02010600000101010101" charset="-122"/>
              </a:rPr>
              <a:t>观看</a:t>
            </a:r>
            <a:endParaRPr lang="zh-CN" altLang="en-US" sz="2800">
              <a:latin typeface="汉仪粗宋简" panose="02010600000101010101" charset="-122"/>
              <a:ea typeface="汉仪粗宋简" panose="02010600000101010101" charset="-122"/>
              <a:cs typeface="汉仪粗宋简" panose="02010600000101010101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0" y="3978910"/>
            <a:ext cx="605790" cy="689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4" h="1085">
                <a:moveTo>
                  <a:pt x="0" y="0"/>
                </a:moveTo>
                <a:lnTo>
                  <a:pt x="954" y="0"/>
                </a:lnTo>
                <a:lnTo>
                  <a:pt x="954" y="413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4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5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6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7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8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19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20.xml><?xml version="1.0" encoding="utf-8"?>
<p:tagLst xmlns:p="http://schemas.openxmlformats.org/presentationml/2006/main">
  <p:tag name="KSO_WM_DIAGRAM_VIRTUALLY_FRAME" val="{&quot;height&quot;:270.6,&quot;left&quot;:138.25,&quot;top&quot;:151.85,&quot;width&quot;:680.5}"/>
</p:tagLst>
</file>

<file path=ppt/tags/tag21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22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25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26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27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28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29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30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31.xml><?xml version="1.0" encoding="utf-8"?>
<p:tagLst xmlns:p="http://schemas.openxmlformats.org/presentationml/2006/main">
  <p:tag name="KSO_WM_DIAGRAM_VIRTUALLY_FRAME" val="{&quot;height&quot;:270.45,&quot;left&quot;:147.75,&quot;top&quot;:158.3,&quot;width&quot;:697.5}"/>
</p:tagLst>
</file>

<file path=ppt/tags/tag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34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35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36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37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38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39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40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41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42.xml><?xml version="1.0" encoding="utf-8"?>
<p:tagLst xmlns:p="http://schemas.openxmlformats.org/presentationml/2006/main">
  <p:tag name="KSO_WM_DIAGRAM_VIRTUALLY_FRAME" val="{&quot;height&quot;:381.3,&quot;left&quot;:269.8,&quot;top&quot;:158.7,&quot;width&quot;:690.2}"/>
</p:tagLst>
</file>

<file path=ppt/tags/tag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4.xml><?xml version="1.0" encoding="utf-8"?>
<p:tagLst xmlns:p="http://schemas.openxmlformats.org/presentationml/2006/main">
  <p:tag name="KSO_WM_DIAGRAM_VIRTUALLY_FRAME" val="{&quot;height&quot;:270.6,&quot;left&quot;:122.7,&quot;top&quot;:151.85,&quot;width&quot;:714.7}"/>
</p:tagLst>
</file>

<file path=ppt/tags/tag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7.xml><?xml version="1.0" encoding="utf-8"?>
<p:tagLst xmlns:p="http://schemas.openxmlformats.org/presentationml/2006/main">
  <p:tag name="KSO_WPP_MARK_KEY" val="80c3893c-571d-4be4-a87e-2d368d250cb4"/>
  <p:tag name="COMMONDATA" val="eyJjb3VudCI6MSwiaGRpZCI6IjUxOWZjYjJjMDJhZDNkZGE3ZjhhYTkyMmEyOGZhY2IzIiwidXNlckNvdW50IjoxfQ=="/>
  <p:tag name="commondata" val="eyJjb3VudCI6MiwiaGRpZCI6ImVhMTUwYjBiZDBmMDdkMjljNDc0NWU2MzRiOWIxZWNkIiwidXNlckNvdW50Ijox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中简黑简"/>
        <a:cs typeface=""/>
      </a:majorFont>
      <a:minorFont>
        <a:latin typeface="Arial"/>
        <a:ea typeface="汉仪中简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粗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汉仪粗宋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粗宋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汉仪粗宋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WPS 演示</Application>
  <PresentationFormat>宽屏</PresentationFormat>
  <Paragraphs>84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汉仪中简黑简</vt:lpstr>
      <vt:lpstr>Wingdings</vt:lpstr>
      <vt:lpstr>汉仪粗宋简</vt:lpstr>
      <vt:lpstr>汉仪雅酷黑简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蔚破冲</cp:lastModifiedBy>
  <cp:revision>165</cp:revision>
  <dcterms:created xsi:type="dcterms:W3CDTF">2019-06-19T02:08:00Z</dcterms:created>
  <dcterms:modified xsi:type="dcterms:W3CDTF">2024-04-01T06:07:22Z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3F8DE672A7EC4938A4713B8B8579AA46</vt:lpwstr>
  </property>
  <property fmtid="{D5CDD505-2E9C-101B-9397-08002B2CF9AE}" pid="4" name="KSOTemplateUUID">
    <vt:lpwstr>v1.0_mb_wONK8vsAgW6whMt1GWN5Eg==</vt:lpwstr>
  </property>
</Properties>
</file>