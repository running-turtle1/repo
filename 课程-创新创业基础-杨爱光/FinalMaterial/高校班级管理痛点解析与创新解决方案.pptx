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8" r:id="rId3"/>
    <p:sldId id="259" r:id="rId4"/>
    <p:sldId id="260" r:id="rId5"/>
    <p:sldId id="261" r:id="rId6"/>
    <p:sldId id="262" r:id="rId7"/>
    <p:sldId id="285" r:id="rId8"/>
    <p:sldId id="286"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60" y="37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地 陈" userId="fdfc7d6b726e012b" providerId="LiveId" clId="{B95E4325-6FC8-4418-9ED7-99E792C43631}"/>
    <pc:docChg chg="modSld">
      <pc:chgData name="大地 陈" userId="fdfc7d6b726e012b" providerId="LiveId" clId="{B95E4325-6FC8-4418-9ED7-99E792C43631}" dt="2024-07-13T11:21:35.295" v="0" actId="20577"/>
      <pc:docMkLst>
        <pc:docMk/>
      </pc:docMkLst>
      <pc:sldChg chg="modSp mod">
        <pc:chgData name="大地 陈" userId="fdfc7d6b726e012b" providerId="LiveId" clId="{B95E4325-6FC8-4418-9ED7-99E792C43631}" dt="2024-07-13T11:21:35.295" v="0" actId="20577"/>
        <pc:sldMkLst>
          <pc:docMk/>
          <pc:sldMk cId="0" sldId="271"/>
        </pc:sldMkLst>
        <pc:spChg chg="mod">
          <ac:chgData name="大地 陈" userId="fdfc7d6b726e012b" providerId="LiveId" clId="{B95E4325-6FC8-4418-9ED7-99E792C43631}" dt="2024-07-13T11:21:35.295" v="0" actId="20577"/>
          <ac:spMkLst>
            <pc:docMk/>
            <pc:sldMk cId="0" sldId="271"/>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78DFCC-589B-4A60-9C12-59D686ADFEC6}" type="datetimeFigureOut">
              <a:rPr lang="zh-CN" altLang="en-US" smtClean="0"/>
              <a:t>2024/7/13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CCC3E0-7DDF-45E7-A937-AD50A2B51CF3}" type="slidenum">
              <a:rPr lang="zh-CN" altLang="en-US" smtClean="0"/>
              <a:t>‹#›</a:t>
            </a:fld>
            <a:endParaRPr lang="zh-CN" altLang="en-US"/>
          </a:p>
        </p:txBody>
      </p:sp>
    </p:spTree>
    <p:extLst>
      <p:ext uri="{BB962C8B-B14F-4D97-AF65-F5344CB8AC3E}">
        <p14:creationId xmlns:p14="http://schemas.microsoft.com/office/powerpoint/2010/main" val="385486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在这次演讲中，我将通过以下几个关键部分来为大家详细介绍我们的方案。首先是市场痛点的分析，我们会深入探讨当前行业所遇到的问题和挑战。接着，我们将分享解决方案的核心思想和实施方法，以应对这些市场痛点。然后，我们会进行详尽的市场分析和竞争分析，帮助我们了解当前市场的发展趋势和竞争对手的情况。接下来，我们将介绍我们的商业模式，包括盈利模式、客户关系和运营策略等方面。然后，我们将重点讲解营销推广策略，包括市场定位、品牌建设和数字营销等方面。在展示我们的解决方案之前，让我们先来了解一下我们团队的成员情况。随后，我会向大家展示我们在市场中取得的一些重要成绩和里程碑事件。最后，我们会展望我们的发展计划和未来的发展方向，以期实现更大的成功。通过本次演讲，希望大家对我们的解决方案有一个全面而清晰的了解。</a:t>
            </a:r>
          </a:p>
        </p:txBody>
      </p:sp>
      <p:sp>
        <p:nvSpPr>
          <p:cNvPr id="4" name="Slide Number Placeholder 3"/>
          <p:cNvSpPr>
            <a:spLocks noGrp="1"/>
          </p:cNvSpPr>
          <p:nvPr>
            <p:ph type="sldNum" sz="quarter" idx="10"/>
          </p:nvPr>
        </p:nvSpPr>
        <p:spPr/>
        <p:txBody>
          <a:bodyPr/>
          <a:lstStyle/>
          <a:p>
            <a:fld id="{6101C5E1-D8E9-464D-A93E-CE21651935A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分析当代高校班级管理的痛点作为我们的出发点。当前高校班级管理面临信息不透明、效率低下等问题，这些问题严重影响了管理的效率和质量，同时也降低了学生的满意度。因此，我们必须深入剖析这些问题的实质，以期找到有效的解决方法。那么这一页我们来探讨创新班级管理解决方案。结合市场需求和用户痛点，我们需要设计出一套创新的班级管理规划方案。这个方案应该以提高管理效率和学生满意度为目标，通过引入新的技术和管理模式，实现班级管理的创新和升级。这部分我们将对所提出的班级管理解决方案进行市场前景的展望。通过对市场的深入分析和预测，我们可以了解所提出解决方案的增长潜力和可能面临的竞争情况。这将为我们的未来发展提供重要的参考，帮助我们制定更科学和合理的发展策略。</a:t>
            </a:r>
          </a:p>
        </p:txBody>
      </p:sp>
      <p:sp>
        <p:nvSpPr>
          <p:cNvPr id="4" name="Slide Number Placeholder 3"/>
          <p:cNvSpPr>
            <a:spLocks noGrp="1"/>
          </p:cNvSpPr>
          <p:nvPr>
            <p:ph type="sldNum" sz="quarter" idx="10"/>
          </p:nvPr>
        </p:nvSpPr>
        <p:spPr/>
        <p:txBody>
          <a:bodyPr/>
          <a:lstStyle/>
          <a:p>
            <a:fld id="{6101C5E1-D8E9-464D-A93E-CE21651935A7}"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市场痛点是一个关键问题，需要我们深入研究并解决。真实需求分析是解决这个问题的关键步骤之一。通过对市场的调研和分析，我们可以了解消费者的真实需求和痛点所在。接下来，我们将讨论产品来源与痛点对应的关系。通过了解产品的来源，我们可以更好地满足消费者的需求，并解决他们的痛点。</a:t>
            </a:r>
          </a:p>
        </p:txBody>
      </p:sp>
      <p:sp>
        <p:nvSpPr>
          <p:cNvPr id="4" name="Slide Number Placeholder 3"/>
          <p:cNvSpPr>
            <a:spLocks noGrp="1"/>
          </p:cNvSpPr>
          <p:nvPr>
            <p:ph type="sldNum" sz="quarter" idx="10"/>
          </p:nvPr>
        </p:nvSpPr>
        <p:spPr/>
        <p:txBody>
          <a:bodyPr/>
          <a:lstStyle/>
          <a:p>
            <a:fld id="{6101C5E1-D8E9-464D-A93E-CE21651935A7}"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深入探讨真实需求分析的重要性。首先，我们需要认识到的是用户痛点识别的必要性。通过深入观察和了解，我们可以发现用户在日常生活中所遇到的问题和困扰，这些问题就是我们要解决的关键点，也是产品的改进方向。那么这一页，我们来谈谈产品解决方案的创新。面对用户的这些问题，我们不仅要提出解决方案，更要在这个过程中进行创新。创新是使产品具有竞争力的关键因素，它能够让我们的产品在满足用户需求的同时，也保持独特的优势。这部分，我们将讨论如何确保痛点的有效解决。我们的产品设计始终围绕解决用户的痛点，而不仅仅是追求技术或功能的新颖。我们会通过实际操作进行验证，确保我们的产品真正可以帮助用户解决问题，实现产品的价值。</a:t>
            </a:r>
          </a:p>
        </p:txBody>
      </p:sp>
      <p:sp>
        <p:nvSpPr>
          <p:cNvPr id="4" name="Slide Number Placeholder 3"/>
          <p:cNvSpPr>
            <a:spLocks noGrp="1"/>
          </p:cNvSpPr>
          <p:nvPr>
            <p:ph type="sldNum" sz="quarter" idx="10"/>
          </p:nvPr>
        </p:nvSpPr>
        <p:spPr/>
        <p:txBody>
          <a:bodyPr/>
          <a:lstStyle/>
          <a:p>
            <a:fld id="{6101C5E1-D8E9-464D-A93E-CE21651935A7}" type="slidenum">
              <a:rPr lang="en-US" smtClean="0"/>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产品来源与痛点对应的话题为切入点，深入探讨如何通过观察和了解用户需求来创造出切实有效的解决方案。那么这一页，我们首先来看痛点的发现与产品来源。在创业过程中，我们需要密切关注用户生活，深入观察并记录他们在日常生活中遇到的困扰和问题。这些问题正是我们产品的来源所在。通过对用户需求的深入了解和挖掘，我们能够更好地把握市场动态，为产品的开发奠定坚实的基础。接下来是解决方案的设计阶段。我们的产品不仅仅是凭空想象出来的，而是根据用户的真实痛点设计出来的。在这个阶段，我们要紧密关注用户的需求和痛点，通过分析市场数据、调研用户反馈以及进行用户访谈等方式，收集大量的信息和洞察。这些数据和洞察力将为我们提供宝贵的参考，帮助我们精确定位问题，并找到最佳的解决方案。最后，产品与痛点的完美对应是我们创业的基础。通过深入研究用户需求和痛点，我们的产品能够精准地解决用户在生活中遇到的一系列难题。这样的产品不仅能够满足市场需求，还能够提升用户的体验和满意度。只有真正解决了用户的实际问题，我们的产品才能够在竞争激烈的市场中脱颖而出，获得成功。在这部分中，我们从痛点的发现、解决方案的设计到产品与痛点的完美对应，详细探讨了如何通过观察和了解用户需求来创造出切实有效的产品。作为创业者，我们要始终保持敏锐的洞察力，紧跟市场动态，不断满足用户需求，才能在激烈的竞争中立于不败之地。谢谢大家！</a:t>
            </a:r>
          </a:p>
        </p:txBody>
      </p:sp>
      <p:sp>
        <p:nvSpPr>
          <p:cNvPr id="4" name="Slide Number Placeholder 3"/>
          <p:cNvSpPr>
            <a:spLocks noGrp="1"/>
          </p:cNvSpPr>
          <p:nvPr>
            <p:ph type="sldNum" sz="quarter" idx="10"/>
          </p:nvPr>
        </p:nvSpPr>
        <p:spPr/>
        <p:txBody>
          <a:bodyPr/>
          <a:lstStyle/>
          <a:p>
            <a:fld id="{6101C5E1-D8E9-464D-A93E-CE21651935A7}" type="slidenum">
              <a:rPr lang="en-US" smtClean="0"/>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lt;这部分我将介绍"解决方案"的主要内容。在解决问题的过程中，我们不仅需要提出具体的解决方式，更需要注重创新思维。通过独特的解决路径和新颖的思考方式，可以确保我们能够有效解决各种问题。&gt;下面我将详细介绍解决方式与创新的重要性及其对确保有效解决问题的影响。</a:t>
            </a:r>
          </a:p>
        </p:txBody>
      </p:sp>
      <p:sp>
        <p:nvSpPr>
          <p:cNvPr id="4" name="Slide Number Placeholder 3"/>
          <p:cNvSpPr>
            <a:spLocks noGrp="1"/>
          </p:cNvSpPr>
          <p:nvPr>
            <p:ph type="sldNum" sz="quarter" idx="10"/>
          </p:nvPr>
        </p:nvSpPr>
        <p:spPr/>
        <p:txBody>
          <a:bodyPr/>
          <a:lstStyle/>
          <a:p>
            <a:fld id="{6101C5E1-D8E9-464D-A93E-CE21651935A7}" type="slidenum">
              <a:rPr lang="en-US" smtClean="0"/>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解决方式与创新作为主题，来探讨我们的探索过程。那么这一页我们将从市场调研和用户反馈入手，通过持续不断地进行探索，我们致力于找到满足用户需求的创新解决方案。在这个过程中，我们不断优化和完善我们的产品和服务，以确保它们能够满足市场的需求和用户的期望。接下来，我们将聚焦在技术驱动的创新突破上。利用最新的技术和工具，我们能够实现产品与服务的创新，并提供更高效、便捷的解决方案。通过不断跟进技术的发展和创新的应用，我们能够保持竞争力并引领行业的发展。同时，我们也注重用户体验的创新优化。通过改进界面设计、提升交互体验等方式，我们不断优化产品与服务，让用户在使用过程中感受到更好的便利性和舒适度。用户体验是产品成功的关键因素之一，我们始终保持对用户需求的敏感性，以满足他们的期待。在不断探索创新的过程中，我们始终坚持以用户需求为导向，以技术创新为驱动力。通过市场调研、用户反馈、最新技术和工具的应用以及用户体验的优化，我们能够不断提升我们的解决方案，并为社会创造更大的价值。感谢大家聆听。</a:t>
            </a:r>
          </a:p>
        </p:txBody>
      </p:sp>
      <p:sp>
        <p:nvSpPr>
          <p:cNvPr id="4" name="Slide Number Placeholder 3"/>
          <p:cNvSpPr>
            <a:spLocks noGrp="1"/>
          </p:cNvSpPr>
          <p:nvPr>
            <p:ph type="sldNum" sz="quarter" idx="10"/>
          </p:nvPr>
        </p:nvSpPr>
        <p:spPr/>
        <p:txBody>
          <a:bodyPr/>
          <a:lstStyle/>
          <a:p>
            <a:fld id="{6101C5E1-D8E9-464D-A93E-CE21651935A7}" type="slidenum">
              <a:rPr lang="en-US" smtClean="0"/>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确保有效解决问题”为题，分享一些关于如何有效识别和解决用户痛点的策略。首先，痛点识别与解决。我们通过深入市场调研，寻找用户的真实需求和痛点，基于这些需求，我们设计出相应的解决方案。这个过程不仅需要我们有敏锐的洞察力去发现用户的痛点，也需要我们具备强大的创新思维，以设计出符合用户需求的解决方案。接着，创新解决方案的实施。我们需要通过创新的方法和方式来实施我们的解决方案，以确保我们能够真正地解决用户的痛点，而不仅仅是在表面上做出改善。这既要求我们在执行过程中保持灵活性，也要求我们在实施方法上具有创新性。最后，解决方案的有效性评估。我们需要对解决方案的效果进行评估，看是否能够真正解决用户的问题以及其增长潜力有多大。这一步骤是至关重要的，它可以让我们了解我们的解决方案是否达到了预期效果，也可以帮助我们优化我们的解决方案，提高其效率。以上就是我对于“确保有效解决问题”的一些看法和建议。</a:t>
            </a:r>
          </a:p>
        </p:txBody>
      </p:sp>
      <p:sp>
        <p:nvSpPr>
          <p:cNvPr id="4" name="Slide Number Placeholder 3"/>
          <p:cNvSpPr>
            <a:spLocks noGrp="1"/>
          </p:cNvSpPr>
          <p:nvPr>
            <p:ph type="sldNum" sz="quarter" idx="10"/>
          </p:nvPr>
        </p:nvSpPr>
        <p:spPr/>
        <p:txBody>
          <a:bodyPr/>
          <a:lstStyle/>
          <a:p>
            <a:fld id="{6101C5E1-D8E9-464D-A93E-CE21651935A7}" type="slidenum">
              <a:rPr lang="en-US" smtClean="0"/>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部分我将以介绍市场分析为主要内容，首先我们要关注的是市场细分。市场细分是将整个市场根据不同的消费者需求和行为差异划分为若干个小的市场部分。而市场规模测算则是通过对市场细分后的各个子市场的销售额、销售量、用户数等数据进行统计和分析，从而得出整个市场的规模。</a:t>
            </a:r>
          </a:p>
        </p:txBody>
      </p:sp>
      <p:sp>
        <p:nvSpPr>
          <p:cNvPr id="4" name="Slide Number Placeholder 3"/>
          <p:cNvSpPr>
            <a:spLocks noGrp="1"/>
          </p:cNvSpPr>
          <p:nvPr>
            <p:ph type="sldNum" sz="quarter" idx="10"/>
          </p:nvPr>
        </p:nvSpPr>
        <p:spPr/>
        <p:txBody>
          <a:bodyPr/>
          <a:lstStyle/>
          <a:p>
            <a:fld id="{6101C5E1-D8E9-464D-A93E-CE21651935A7}" type="slidenum">
              <a:rPr lang="en-US" smtClean="0"/>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市场细分”为主题来进行演讲。在现代商业中，市场细分已经成为了了解目标客户、确定产品定位和制定营销策略的关键步骤，它的重要性不容忽视。市场细分的方法与步骤是首先通过调查分析、数据分析等方法，将整个市场划分为不同的细分市场。这些细分市场可以根据需求特点和竞争状况进行选择和定位。这样的细分过程，可以帮助我们更加精准地了解目标市场的需求，为后续的产品定位和营销策略提供依据。那么这一页，我将通过一个市场细分的案例来进一步说明其重要性和方法。以某电商平台为例，他们经过深入的市场研究，通过市场细分找到了特定的目标客户群体。然后，针对这个客户群体的需求和特点，推出了个性化的产品和服务。结果，这个电商平台的业务得到了显著的增长，成功抢占了市场份额。总的来说，市场细分是一个复杂而重要的过程。只有通过精细的市场调研和数据分析，才能找到最有价值的市场细分。然后，我们才能根据这些细分的特点和需求，制定有效的产品和营销策略，提高公司的竞争力。</a:t>
            </a:r>
          </a:p>
        </p:txBody>
      </p:sp>
      <p:sp>
        <p:nvSpPr>
          <p:cNvPr id="4" name="Slide Number Placeholder 3"/>
          <p:cNvSpPr>
            <a:spLocks noGrp="1"/>
          </p:cNvSpPr>
          <p:nvPr>
            <p:ph type="sldNum" sz="quarter" idx="10"/>
          </p:nvPr>
        </p:nvSpPr>
        <p:spPr/>
        <p:txBody>
          <a:bodyPr/>
          <a:lstStyle/>
          <a:p>
            <a:fld id="{6101C5E1-D8E9-464D-A93E-CE21651935A7}" type="slidenum">
              <a:rPr lang="en-US" smtClean="0"/>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详细介绍市场规模测算的重要性和方法。市场规模测算，是通过收集和分析相关数据，运用科学的方法，预测未来一段时间内市场的总容量。这是一个复杂且精准的过程，需要专业的知识和技能来完成。那么这一页我们来看一下市场规模的影响因素。市场规模的大小并不是孤立的，它受多种因素的影响。首先，消费者需求是一个重要的驱动因素。消费者的购买力、购买习惯以及消费观念的变化都会直接影响市场规模的大小。其次，行业发展趋势也会对市场规模产生影响。新的产品、新的理念、新的市场形态的出现，都可能带来市场规模的变化。最后，技术进步也会影响市场规模的扩大或缩小。技术的更新换代，可能会创造新的市场需求，从而扩大市场规模。下面我将进一步讨论市场规模的实际应用。准确的市场规模测算，对于企业制定合理的市场策略有着重要的指导作用。通过准确测算市场规模，企业可以了解到市场的潜在需求，从而制定出更符合市场需求的产品策略。同时，准确的市场规模测算也有助于企业了解自身的市场地位，从而制定出更有针对性的营销策略。总的来说，准确的市场规模测算，对于提高企业的市场竞争力，具有重要的意义。</a:t>
            </a:r>
          </a:p>
        </p:txBody>
      </p:sp>
      <p:sp>
        <p:nvSpPr>
          <p:cNvPr id="4" name="Slide Number Placeholder 3"/>
          <p:cNvSpPr>
            <a:spLocks noGrp="1"/>
          </p:cNvSpPr>
          <p:nvPr>
            <p:ph type="sldNum" sz="quarter" idx="10"/>
          </p:nvPr>
        </p:nvSpPr>
        <p:spPr/>
        <p:txBody>
          <a:bodyPr/>
          <a:lstStyle/>
          <a:p>
            <a:fld id="{6101C5E1-D8E9-464D-A93E-CE21651935A7}" type="slidenum">
              <a:rPr lang="en-US" smtClean="0"/>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lt;竞争分析&gt;在今天的演讲中，我们将首先介绍我们的竞争对手。了解他们的优势和策略，将有助于我们制定出更具竞争力的战略。接下来，我们将进行竞争优势分析，深入剖析我们如何在激烈的市场竞争中脱颖而出。</a:t>
            </a:r>
          </a:p>
        </p:txBody>
      </p:sp>
      <p:sp>
        <p:nvSpPr>
          <p:cNvPr id="4" name="Slide Number Placeholder 3"/>
          <p:cNvSpPr>
            <a:spLocks noGrp="1"/>
          </p:cNvSpPr>
          <p:nvPr>
            <p:ph type="sldNum" sz="quarter" idx="10"/>
          </p:nvPr>
        </p:nvSpPr>
        <p:spPr/>
        <p:txBody>
          <a:bodyPr/>
          <a:lstStyle/>
          <a:p>
            <a:fld id="{6101C5E1-D8E9-464D-A93E-CE21651935A7}" type="slidenum">
              <a:rPr lang="en-US" smtClean="0"/>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部分我将以对竞争对手的深度分析为主题，主要涉及三个维度：竞争对手的现状分析、潜在竞争对手的预测以及我们与竞争对手的优势比较。首先，我们要对现有竞争对手进行深入剖析。我们需要了解他们在市场中的份额，产品优势以及业务模式，从而揭示其核心竞争力。通过全面理解他们的战略方向和业务运营模式，我们可以更好地定位自己在市场上的位置。其次，我们需要预测未来可能出现的竞争对手。这涉及到市场趋势的研究，以及对新兴技术或新兴市场的关注。我们需要分析这些潜在的竞争对手可能会带来什么样的优势，以及他们可能对我们构成的威胁是什么。这样，我们就可以提前做好策略布局，以确保在未来的市场竞争中始终保持领先。最后，我们将通过与竞争对手的比较，明确我们自身在市场中的独特优势。这不仅有助于我们提升自身的市场竞争力，也有助于我们更好地满足客户需求，提升客户满意度。在这个过程中，我们需要不断地学习和改进，以保持在市场中的领先地位。下面我将更详细地讨论这三个主题。</a:t>
            </a:r>
          </a:p>
        </p:txBody>
      </p:sp>
      <p:sp>
        <p:nvSpPr>
          <p:cNvPr id="4" name="Slide Number Placeholder 3"/>
          <p:cNvSpPr>
            <a:spLocks noGrp="1"/>
          </p:cNvSpPr>
          <p:nvPr>
            <p:ph type="sldNum" sz="quarter" idx="10"/>
          </p:nvPr>
        </p:nvSpPr>
        <p:spPr/>
        <p:txBody>
          <a:bodyPr/>
          <a:lstStyle/>
          <a:p>
            <a:fld id="{6101C5E1-D8E9-464D-A93E-CE21651935A7}" type="slidenum">
              <a:rPr lang="en-US" smtClean="0"/>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竞争优势分析为主题，详细介绍我们如何进行竞争对手分析以及如何建设竞争壁垒。首先，我们需要对现有和潜在竞争对手进行深入分析，了解他们的产品、服务、市场定位以及优势和劣势，以便制定有效的竞争策略。这可以帮助我们更好地了解市场现状，为我们的产品和服务定位提供参考。那么在这一页，我们将详细阐述我们的产品或服务相比竞争对手具有哪些独特的优势。这些优势可以包括技术领先、用户体验优秀和价格合理等方面的优势。通过强调这些优势，我们可以增强我们的市场竞争力，吸引更多的用户选择我们的产品和服务。接下来，我们要着重讨论竞争壁垒的建设。通过创新和持续改进，我们可以建立难以被竞争对手模仿或超越的竞争壁垒。这些竞争壁垒可以包括专利技术、品牌影响力和用户粘性等方面。通过建立这些竞争壁垒，我们可以确保我们在竞争中保持长期的优势地位。综上所述，竞争优势分析对于制定有效的竞争策略至关重要。通过对竞争对手的深入分析，我们可以更好地了解市场现状；通过强调我们独特的优势，我们可以增强市场竞争力；通过建立竞争壁垒，我们可以确保长期竞争优势。让我们继续努力，不断提升我们的竞争力！</a:t>
            </a:r>
          </a:p>
        </p:txBody>
      </p:sp>
      <p:sp>
        <p:nvSpPr>
          <p:cNvPr id="4" name="Slide Number Placeholder 3"/>
          <p:cNvSpPr>
            <a:spLocks noGrp="1"/>
          </p:cNvSpPr>
          <p:nvPr>
            <p:ph type="sldNum" sz="quarter" idx="10"/>
          </p:nvPr>
        </p:nvSpPr>
        <p:spPr/>
        <p:txBody>
          <a:bodyPr/>
          <a:lstStyle/>
          <a:p>
            <a:fld id="{6101C5E1-D8E9-464D-A93E-CE21651935A7}" type="slidenum">
              <a:rPr lang="en-US" smtClean="0"/>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商业模式是指企业在市场上获取收益的方式和策略。公司定位与主营业务是商业模式的核心要素之一，它们决定了企业在市场中的地位和竞争力。在这部分，我将详细介绍公司的定位和主营业务的重要性以及它们如何影响企业的商业模式。</a:t>
            </a:r>
          </a:p>
        </p:txBody>
      </p:sp>
      <p:sp>
        <p:nvSpPr>
          <p:cNvPr id="4" name="Slide Number Placeholder 3"/>
          <p:cNvSpPr>
            <a:spLocks noGrp="1"/>
          </p:cNvSpPr>
          <p:nvPr>
            <p:ph type="sldNum" sz="quarter" idx="10"/>
          </p:nvPr>
        </p:nvSpPr>
        <p:spPr/>
        <p:txBody>
          <a:bodyPr/>
          <a:lstStyle/>
          <a:p>
            <a:fld id="{6101C5E1-D8E9-464D-A93E-CE21651935A7}" type="slidenum">
              <a:rPr lang="en-US" smtClean="0"/>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详细解释公司定位与主营业务的关系。首先，我们的公司的明确定位是为特定目标客户提供特定的产品或服务。我们的目标市场是明确的，我们的产品或服务也是专门针对这些客户设计的。那么在主营业务方面，我们深入解析了我们主要的业务领域，包括我们提供的产品或服务的核心功能、独特性以及它如何满足市场需求。我们的主要业务不仅仅是我们提供的产品或服务，更是我们对市场的理解，对客户需求的洞察和对行业动态的把握。下面我将阐述主营业务是如何与我们的公司定位紧密相连的。首先，我们的产品或服务直接体现了我们的公司定位，即专为特定目标客户群体提供解决方案。其次，我们在市场中的成功也在很大程度上得益于我们公司的定位，因为我们明确了自己的目标客户，从而能够更有效地利用资源，更精确地打击竞争对手。这种关联帮助我们在市场中建立竞争优势，使我们能够在竞争激烈的市场环境中脱颖而出。</a:t>
            </a:r>
          </a:p>
        </p:txBody>
      </p:sp>
      <p:sp>
        <p:nvSpPr>
          <p:cNvPr id="4" name="Slide Number Placeholder 3"/>
          <p:cNvSpPr>
            <a:spLocks noGrp="1"/>
          </p:cNvSpPr>
          <p:nvPr>
            <p:ph type="sldNum" sz="quarter" idx="10"/>
          </p:nvPr>
        </p:nvSpPr>
        <p:spPr/>
        <p:txBody>
          <a:bodyPr/>
          <a:lstStyle/>
          <a:p>
            <a:fld id="{6101C5E1-D8E9-464D-A93E-CE21651935A7}" type="slidenum">
              <a:rPr lang="en-US" smtClean="0"/>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营销推广，是任何企业都不可或缺的一环。今天，我们将深入探讨其中的两个关键要素：价格策略和销售渠道选择。价格策略不仅决定了产品的价值定位，更直接关系着销售业绩。而正确的销售渠道选择，则能帮助我们更有效地触达目标客户，实现销售目标。下面我将详细介绍这两个部分。</a:t>
            </a:r>
          </a:p>
        </p:txBody>
      </p:sp>
      <p:sp>
        <p:nvSpPr>
          <p:cNvPr id="4" name="Slide Number Placeholder 3"/>
          <p:cNvSpPr>
            <a:spLocks noGrp="1"/>
          </p:cNvSpPr>
          <p:nvPr>
            <p:ph type="sldNum" sz="quarter" idx="10"/>
          </p:nvPr>
        </p:nvSpPr>
        <p:spPr/>
        <p:txBody>
          <a:bodyPr/>
          <a:lstStyle/>
          <a:p>
            <a:fld id="{6101C5E1-D8E9-464D-A93E-CE21651935A7}" type="slidenum">
              <a:rPr lang="en-US" smtClean="0"/>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价格策略为切入点，来深入剖析我们如何通过精准的策略制定和执行，提升产品的市场竞争力。那么这一页我将首先介绍价格定位策略。在确定产品的价格区间时，我们需要进行市场调研和竞品分析，这能够帮助我们更准确地理解市场需求，以及我们在市场中的位置。通过对竞争对手的深入了解，我们可以设定一个既能满足目标用户需求又能保持竞争力的产品价格。接下来，我们将探讨促销与折扣策略。制定吸引用户的促销活动和折扣政策，如限时优惠、团购折扣等，是我们提高销售额和市场占有率的重要手段。这种策略不仅可以短期内刺激销售，还可以帮助我们建立品牌忠诚度，从而在长期内保持我们的市场份额。最后，我们将讨论定价与盈利模式。结合产品成本、市场需求和竞争状况，我们需要制定一个能够确保项目在满足用户需求的同时实现盈利的定价策略。在这个过程中，我们需要不断调整和优化我们的策略，以适应不断变化的市场环境。以上，便是我们关于价格策略的基本思考。在下一页中，我们将深入探讨这些策略的具体实施步骤和注意事项。</a:t>
            </a:r>
          </a:p>
        </p:txBody>
      </p:sp>
      <p:sp>
        <p:nvSpPr>
          <p:cNvPr id="4" name="Slide Number Placeholder 3"/>
          <p:cNvSpPr>
            <a:spLocks noGrp="1"/>
          </p:cNvSpPr>
          <p:nvPr>
            <p:ph type="sldNum" sz="quarter" idx="10"/>
          </p:nvPr>
        </p:nvSpPr>
        <p:spPr/>
        <p:txBody>
          <a:bodyPr/>
          <a:lstStyle/>
          <a:p>
            <a:fld id="{6101C5E1-D8E9-464D-A93E-CE21651935A7}" type="slidenum">
              <a:rPr lang="en-US" smtClean="0"/>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销售渠道选择的重要性”为话题，与大家分享一些关于销售渠道选择的看法。在商业活动中，销售渠道被广泛认为是产品从生产者到消费者的重要桥梁。选择合适的销售渠道能够极大地促进产品的销售效率和市场占有率的提升。因此，我们需要深入了解不同的销售渠道类型，并结合项目特点和目标市场制定相应的销售渠道策略。首先，让我们来看一下常见的销售渠道类型。实体店销售是一种传统的销售渠道，通过设立实体门店，直接接触和服务消费者。电商平台销售则通过互联网平台，利用电子商务的优势实现商品的在线销售和交易。社交媒体销售则是通过社交媒体平台，利用粉丝和用户的影响力进行产品推广和销售。这些渠道各自都有其独特的优势和适用场景。接下来，我们来讨论一下我们项目的销售渠道策略。鉴于我们项目的特点和目标市场，我们选择了电商平台销售作为主要的销售渠道。这是因为电商平台具有广泛的用户基础和便捷的购物环境，能够迅速将我们的产品推向市场。同时，我们也利用社交媒体进行宣传推广，以增加品牌的曝光度和用户的关注度。总之，销售渠道选择对于产品销售至关重要。了解常见的销售渠道类型，并结合项目特点和目标市场制定相应的销售渠道策略，能够帮助我们提高产品的销售效率和市场占有率。希望以上的分析对大家有所启发，谢谢。</a:t>
            </a:r>
          </a:p>
        </p:txBody>
      </p:sp>
      <p:sp>
        <p:nvSpPr>
          <p:cNvPr id="4" name="Slide Number Placeholder 3"/>
          <p:cNvSpPr>
            <a:spLocks noGrp="1"/>
          </p:cNvSpPr>
          <p:nvPr>
            <p:ph type="sldNum" sz="quarter" idx="10"/>
          </p:nvPr>
        </p:nvSpPr>
        <p:spPr/>
        <p:txBody>
          <a:bodyPr/>
          <a:lstStyle/>
          <a:p>
            <a:fld id="{6101C5E1-D8E9-464D-A93E-CE21651935A7}" type="slidenum">
              <a:rPr lang="en-US" smtClean="0"/>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团队介绍：核心团队背景：这部分我将以介绍核心团队的背景为主要内容，重点突出团队成员的专业能力和经验。我们的团队成员来自不同的领域，拥有丰富的行业经验和卓越的专业技能。他们具备深厚的理论知识和实践经验，能够迅速解决复杂问题并提供创新的解决方案。通过他们的协作和合作，我们团队能够高效地实现目标并取得成功。</a:t>
            </a:r>
          </a:p>
        </p:txBody>
      </p:sp>
      <p:sp>
        <p:nvSpPr>
          <p:cNvPr id="4" name="Slide Number Placeholder 3"/>
          <p:cNvSpPr>
            <a:spLocks noGrp="1"/>
          </p:cNvSpPr>
          <p:nvPr>
            <p:ph type="sldNum" sz="quarter" idx="10"/>
          </p:nvPr>
        </p:nvSpPr>
        <p:spPr/>
        <p:txBody>
          <a:bodyPr/>
          <a:lstStyle/>
          <a:p>
            <a:fld id="{6101C5E1-D8E9-464D-A93E-CE21651935A7}" type="slidenum">
              <a:rPr lang="en-US" smtClean="0"/>
              <a:t>24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我们的核心团队背景来介绍我们的团队成员。首先，让我向您介绍我们核心团队的成员，他们都拥有丰富的背景和专业知识，并在项目中扮演着重要的角色。在核心团队中，我们有来自不同领域的专业人士。他们在各自的领域中具备深厚的知识和技能，并且能够将其应用到项目中。他们的多样化背景为我们提供了全方位的支持和创新思路。接下来，我将着重介绍创始人的背景和经历。创始人是一位具有卓越创业经历的人士。他拥有一流的教育背景，并且在相关行业积累了广泛的专业知识和经验。他在过去的创业历程中取得了令人瞩目的成就，这使得他在项目的领导和管理方面具备了出色的能力。团队内部的分工与协作方式是我们成功的关键之一。我们注重高效合作和互补优势，以确保团队的实力和能力得到最大化的发挥。每个成员都承担着特定的角色，并根据其专业领域和技能进行分工。通过密切的沟通和紧密的协作，我们能够迅速响应需求并解决问题，从而保证项目的顺利进行。那么这一页，我希望您对我们核心团队的背景有了更清晰的了解。通过团队成员的专业能力和团队内部高效的协作方式，我们将确保项目的成功交付。谢谢您的聆听。</a:t>
            </a:r>
          </a:p>
        </p:txBody>
      </p:sp>
      <p:sp>
        <p:nvSpPr>
          <p:cNvPr id="4" name="Slide Number Placeholder 3"/>
          <p:cNvSpPr>
            <a:spLocks noGrp="1"/>
          </p:cNvSpPr>
          <p:nvPr>
            <p:ph type="sldNum" sz="quarter" idx="10"/>
          </p:nvPr>
        </p:nvSpPr>
        <p:spPr/>
        <p:txBody>
          <a:bodyPr/>
          <a:lstStyle/>
          <a:p>
            <a:fld id="{6101C5E1-D8E9-464D-A93E-CE21651935A7}" type="slidenum">
              <a:rPr lang="en-US" smtClean="0"/>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在取得成绩方面，我们已经取得了一定的进展。目前，我们的项目执行现状相对稳定。未来计划目标是进一步提高项目的执行力，确保项目的顺利进行。下面我将详细介绍这两个方面的内容。</a:t>
            </a:r>
          </a:p>
        </p:txBody>
      </p:sp>
      <p:sp>
        <p:nvSpPr>
          <p:cNvPr id="4" name="Slide Number Placeholder 3"/>
          <p:cNvSpPr>
            <a:spLocks noGrp="1"/>
          </p:cNvSpPr>
          <p:nvPr>
            <p:ph type="sldNum" sz="quarter" idx="10"/>
          </p:nvPr>
        </p:nvSpPr>
        <p:spPr/>
        <p:txBody>
          <a:bodyPr/>
          <a:lstStyle/>
          <a:p>
            <a:fld id="{6101C5E1-D8E9-464D-A93E-CE21651935A7}" type="slidenum">
              <a:rPr lang="en-US" smtClean="0"/>
              <a:t>26</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项目执行现状作为本次演讲的主题。首先，我们来谈谈项目的进展概述。从项目启动至今，我们已经完成了市场调研、产品设计与开发等关键阶段，并取得了阶段性的成果。下面我将介绍产品原型展示。目前，我们已经完成了产品原型的设计与制作，并通过内部测试验证了产品的可行性和市场潜力。那么这一页是关于项目推进计划与里程碑的。为确保项目的顺利进行，我们制定了详细的项目推进计划和里程碑，明确了各阶段的目标和时间节点。</a:t>
            </a:r>
          </a:p>
        </p:txBody>
      </p:sp>
      <p:sp>
        <p:nvSpPr>
          <p:cNvPr id="4" name="Slide Number Placeholder 3"/>
          <p:cNvSpPr>
            <a:spLocks noGrp="1"/>
          </p:cNvSpPr>
          <p:nvPr>
            <p:ph type="sldNum" sz="quarter" idx="10"/>
          </p:nvPr>
        </p:nvSpPr>
        <p:spPr/>
        <p:txBody>
          <a:bodyPr/>
          <a:lstStyle/>
          <a:p>
            <a:fld id="{6101C5E1-D8E9-464D-A93E-CE21651935A7}" type="slidenum">
              <a:rPr lang="en-US" smtClean="0"/>
              <a:t>27</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发展规划是我们组织未来方向和目标的重要计划，是实现可持续发展的基石。而在这之中，我们首要的任务就是设定明确的计划目标。这些目标应当具有可衡量性、可实现性和具体时间限制。只有这样，我们才能更好地追踪进展并确保最终的成功。下面我将详细介绍如何制定有效的计划目标，以确保我们的发展规划取得成功。</a:t>
            </a:r>
          </a:p>
        </p:txBody>
      </p:sp>
      <p:sp>
        <p:nvSpPr>
          <p:cNvPr id="4" name="Slide Number Placeholder 3"/>
          <p:cNvSpPr>
            <a:spLocks noGrp="1"/>
          </p:cNvSpPr>
          <p:nvPr>
            <p:ph type="sldNum" sz="quarter" idx="10"/>
          </p:nvPr>
        </p:nvSpPr>
        <p:spPr/>
        <p:txBody>
          <a:bodyPr/>
          <a:lstStyle/>
          <a:p>
            <a:fld id="{6101C5E1-D8E9-464D-A93E-CE21651935A7}" type="slidenum">
              <a:rPr lang="en-US" smtClean="0"/>
              <a:t>28</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这段我将以计划目标设定为主题。计划目标设定的重要性不言而喻，它是创业项目成功的关键，为团队提供明确的方向和动力，确保项目能够顺利推进。在制定计划目标时，我们需要考虑其可行性和可持续发展性。计划目标应该具体、可衡量、可实现，并与市场需求和团队能力相匹配，以确保项目的可行性和可持续发展。为了确保项目的成功，我们需要在实施过程中不断监测和评估计划目标的达成情况，并根据实际情况进行调整和优化，以确保项目能够适应变化的市场环境。通过持续监测和调整，我们可以及时发现问题并采取有效的措施来解决问题，确保项目的顺利进行。那么这一页我们将重点讨论计划目标设定的重要性和实现方法。首先，我们需要明确计划目标对于创业项目的意义。计划目标是指导团队行动的纲领，它为团队成员提供了明确的方向和动力，激发他们的积极性和创造力。一个好的计划目标能够帮助团队成员更好地理解项目的使命和愿景，使他们的工作更加有针对性和高效性。其次，我们将讨论如何制定可行的计划目标。一个可行的计划目标应该具备三个关键要素：具体、可衡量、可实现。具体的目标可以帮助团队更加清晰地了解要达到的结果是什么样的；可衡量的目标可以通过具体的指标来衡量进展和达成情况；可实现的目标需要与市场需求和团队能力相匹配，以确保项目的可行性和可持续发展。最后，我们将介绍如何监测和调整计划目标。在项目实施过程中，我们需要不断监测和评估计划目标的达成情况，以及时发现问题并采取相应的措施。同时，我们也需要根据实际情况对计划目标进行必要的调整和优化，以确保项目能够适应变化的市场环境。下面我将详细介绍每个步骤的具体方法和要点。首先，我们将探讨如何制定可行的计划目标。然后，我们将讲解如何监测和评估计划目标的达成情况。最后，我们将介绍如何根据监测结果进行计划目标的调整和优化。这部分我们将详细讨论每个步骤的具体方法和要点，以帮助大家更好地理解和应用在实际项目中。通过合理的计划目标设定和有效的目标管理，我们可以提高项目的成功率，实现项目的成功推进。谢谢大家！</a:t>
            </a:r>
          </a:p>
        </p:txBody>
      </p:sp>
      <p:sp>
        <p:nvSpPr>
          <p:cNvPr id="4" name="Slide Number Placeholder 3"/>
          <p:cNvSpPr>
            <a:spLocks noGrp="1"/>
          </p:cNvSpPr>
          <p:nvPr>
            <p:ph type="sldNum" sz="quarter" idx="10"/>
          </p:nvPr>
        </p:nvSpPr>
        <p:spPr/>
        <p:txBody>
          <a:bodyPr/>
          <a:lstStyle/>
          <a:p>
            <a:fld id="{6101C5E1-D8E9-464D-A93E-CE21651935A7}" type="slidenum">
              <a:rPr lang="en-US" smtClean="0"/>
              <a:t>29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0"/>
            <a:ext cx="0" cy="0"/>
          </a:xfrm>
        </p:spPr>
      </p:sp>
      <p:sp>
        <p:nvSpPr>
          <p:cNvPr id="3" name="Notes Placeholder 2"/>
          <p:cNvSpPr>
            <a:spLocks noGrp="1"/>
          </p:cNvSpPr>
          <p:nvPr>
            <p:ph type="body" idx="1"/>
          </p:nvPr>
        </p:nvSpPr>
        <p:spPr/>
        <p:txBody>
          <a:bodyPr>
            <a:normAutofit/>
          </a:bodyPr>
          <a:lstStyle/>
          <a:p>
            <a:r>
              <a:t>在这次的PPT演讲中，我们深入探讨了高校班级管理的痛点问题，并提出了创新的解决方案。通过市场分析和竞争分析，我们发现这是一个充满机遇和挑战的市场。我们的商业模式基于满足学生和老师的实际需求，通过营销推广来扩大影响力。感谢我们的团队，他们的辛勤工作使我们取得了显著的成绩。展望未来，我们将持续发展，为更多的高校提供高质量的服务。谢谢大家！</a:t>
            </a:r>
          </a:p>
        </p:txBody>
      </p:sp>
      <p:sp>
        <p:nvSpPr>
          <p:cNvPr id="4" name="Slide Number Placeholder 3"/>
          <p:cNvSpPr>
            <a:spLocks noGrp="1"/>
          </p:cNvSpPr>
          <p:nvPr>
            <p:ph type="sldNum" sz="quarter" idx="10"/>
          </p:nvPr>
        </p:nvSpPr>
        <p:spPr/>
        <p:txBody>
          <a:bodyPr/>
          <a:lstStyle/>
          <a:p>
            <a:fld id="{6101C5E1-D8E9-464D-A93E-CE21651935A7}" type="slidenum">
              <a:rPr lang="en-US" smtClean="0"/>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FD0B7A-F5DD-4F40-B4CB-3B2C354B893A}"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D0B7A-F5DD-4F40-B4CB-3B2C354B893A}"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FD0B7A-F5DD-4F40-B4CB-3B2C354B893A}"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FD0B7A-F5DD-4F40-B4CB-3B2C354B893A}" type="datetimeFigureOut">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FD0B7A-F5DD-4F40-B4CB-3B2C354B893A}" type="datetimeFigureOut">
              <a:rPr lang="en-US" smtClean="0"/>
              <a:t>7/13/2024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FD0B7A-F5DD-4F40-B4CB-3B2C354B893A}" type="datetimeFigureOut">
              <a:rPr lang="en-US" smtClean="0"/>
              <a:t>7/13/2024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t>7/13/2024</a:t>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FD0B7A-F5DD-4F40-B4CB-3B2C354B893A}" type="datetimeFigureOut">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FD0B7A-F5DD-4F40-B4CB-3B2C354B893A}" type="datetimeFigureOut">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D0B7A-F5DD-4F40-B4CB-3B2C354B893A}"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D0B7A-F5DD-4F40-B4CB-3B2C354B893A}" type="datetimeFigureOut">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7/13/2024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2"/>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782216"/>
            <a:ext cx="11038043" cy="2288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1" i="0" dirty="0">
                <a:solidFill>
                  <a:srgbClr val="000000"/>
                </a:solidFill>
                <a:latin typeface="微软雅黑"/>
              </a:rPr>
              <a:t>"</a:t>
            </a:r>
            <a:r>
              <a:rPr sz="4800" b="1" i="0" dirty="0" err="1">
                <a:solidFill>
                  <a:srgbClr val="000000"/>
                </a:solidFill>
                <a:latin typeface="微软雅黑"/>
              </a:rPr>
              <a:t>高校班级管理痛点解析与创新解决方案</a:t>
            </a:r>
            <a:r>
              <a:rPr sz="4800" b="1" i="0" dirty="0">
                <a:solidFill>
                  <a:srgbClr val="000000"/>
                </a:solidFill>
                <a:latin typeface="微软雅黑"/>
              </a:rPr>
              <a:t>"</a:t>
            </a:r>
          </a:p>
        </p:txBody>
      </p:sp>
      <p:sp>
        <p:nvSpPr>
          <p:cNvPr id="3" name="New shape"/>
          <p:cNvSpPr/>
          <p:nvPr/>
        </p:nvSpPr>
        <p:spPr>
          <a:xfrm>
            <a:off x="622800" y="3833264"/>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endParaRPr/>
          </a:p>
        </p:txBody>
      </p:sp>
      <p:sp>
        <p:nvSpPr>
          <p:cNvPr id="4" name="New shape"/>
          <p:cNvSpPr/>
          <p:nvPr/>
        </p:nvSpPr>
        <p:spPr>
          <a:xfrm>
            <a:off x="611778" y="3833264"/>
            <a:ext cx="11038043"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3000" b="1" i="0" dirty="0">
                <a:solidFill>
                  <a:srgbClr val="F18D6B"/>
                </a:solidFill>
                <a:latin typeface="微软雅黑"/>
              </a:rPr>
              <a:t>"</a:t>
            </a:r>
            <a:r>
              <a:rPr sz="3000" b="1" i="0" dirty="0" err="1">
                <a:solidFill>
                  <a:srgbClr val="F18D6B"/>
                </a:solidFill>
                <a:latin typeface="微软雅黑"/>
              </a:rPr>
              <a:t>市场洞察、竞争分析与落地策略的全面展示</a:t>
            </a:r>
            <a:r>
              <a:rPr sz="3000" b="1" i="0" dirty="0">
                <a:solidFill>
                  <a:srgbClr val="F18D6B"/>
                </a:solidFill>
                <a:latin typeface="微软雅黑"/>
              </a:rPr>
              <a:t>"</a:t>
            </a:r>
          </a:p>
        </p:txBody>
      </p:sp>
      <p:sp>
        <p:nvSpPr>
          <p:cNvPr id="5" name="New shape"/>
          <p:cNvSpPr/>
          <p:nvPr/>
        </p:nvSpPr>
        <p:spPr>
          <a:xfrm>
            <a:off x="622800" y="4870621"/>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endParaRPr/>
          </a:p>
        </p:txBody>
      </p:sp>
      <p:sp>
        <p:nvSpPr>
          <p:cNvPr id="6" name="New shape"/>
          <p:cNvSpPr/>
          <p:nvPr/>
        </p:nvSpPr>
        <p:spPr>
          <a:xfrm>
            <a:off x="622800" y="4870621"/>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endParaRPr/>
          </a:p>
        </p:txBody>
      </p:sp>
      <p:sp>
        <p:nvSpPr>
          <p:cNvPr id="7" name="New shape"/>
          <p:cNvSpPr/>
          <p:nvPr/>
        </p:nvSpPr>
        <p:spPr>
          <a:xfrm>
            <a:off x="622800" y="4870621"/>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endParaRPr/>
          </a:p>
        </p:txBody>
      </p:sp>
      <p:sp>
        <p:nvSpPr>
          <p:cNvPr id="8" name="New shape"/>
          <p:cNvSpPr/>
          <p:nvPr/>
        </p:nvSpPr>
        <p:spPr>
          <a:xfrm>
            <a:off x="611778" y="4870621"/>
            <a:ext cx="11038043" cy="4519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1575" b="0" i="0" dirty="0" err="1">
                <a:solidFill>
                  <a:srgbClr val="000000"/>
                </a:solidFill>
                <a:latin typeface="微软雅黑"/>
              </a:rPr>
              <a:t>作者</a:t>
            </a:r>
            <a:r>
              <a:rPr sz="1575" b="0" i="0" dirty="0">
                <a:solidFill>
                  <a:srgbClr val="000000"/>
                </a:solidFill>
                <a:latin typeface="微软雅黑"/>
              </a:rPr>
              <a:t>: 计算机224班 2组</a:t>
            </a:r>
          </a:p>
        </p:txBody>
      </p:sp>
      <p:sp>
        <p:nvSpPr>
          <p:cNvPr id="9" name="New shape"/>
          <p:cNvSpPr/>
          <p:nvPr/>
        </p:nvSpPr>
        <p:spPr>
          <a:xfrm>
            <a:off x="611778" y="5473203"/>
            <a:ext cx="11038043" cy="4519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1575" b="0" i="0">
                <a:solidFill>
                  <a:srgbClr val="000000"/>
                </a:solidFill>
                <a:latin typeface="微软雅黑"/>
              </a:rPr>
              <a:t>汇报人: 陈大地</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838800" y="979200"/>
            <a:ext cx="3672000" cy="511200"/>
          </a:xfrm>
          <a:prstGeom prst="rect">
            <a:avLst/>
          </a:prstGeom>
          <a:ln>
            <a:noFill/>
          </a:ln>
        </p:spPr>
      </p:pic>
      <p:sp>
        <p:nvSpPr>
          <p:cNvPr id="3" name="New shape"/>
          <p:cNvSpPr/>
          <p:nvPr/>
        </p:nvSpPr>
        <p:spPr>
          <a:xfrm>
            <a:off x="1054800" y="1037646"/>
            <a:ext cx="2482880"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目录</a:t>
            </a:r>
          </a:p>
        </p:txBody>
      </p:sp>
      <p:sp>
        <p:nvSpPr>
          <p:cNvPr id="4" name="New shape"/>
          <p:cNvSpPr/>
          <p:nvPr/>
        </p:nvSpPr>
        <p:spPr>
          <a:xfrm>
            <a:off x="1486800" y="2854800"/>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01</a:t>
            </a:r>
          </a:p>
          <a:p>
            <a:pPr>
              <a:lnSpc>
                <a:spcPct val="150000"/>
              </a:lnSpc>
            </a:pPr>
            <a:r>
              <a:rPr sz="1575" b="0" i="0">
                <a:solidFill>
                  <a:srgbClr val="000000"/>
                </a:solidFill>
                <a:latin typeface="微软雅黑"/>
              </a:rPr>
              <a:t>封面</a:t>
            </a:r>
          </a:p>
        </p:txBody>
      </p:sp>
      <p:sp>
        <p:nvSpPr>
          <p:cNvPr id="5" name="New shape"/>
          <p:cNvSpPr/>
          <p:nvPr/>
        </p:nvSpPr>
        <p:spPr>
          <a:xfrm>
            <a:off x="3455314" y="2854800"/>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02</a:t>
            </a:r>
          </a:p>
          <a:p>
            <a:pPr>
              <a:lnSpc>
                <a:spcPct val="150000"/>
              </a:lnSpc>
            </a:pPr>
            <a:r>
              <a:rPr sz="1575" b="0" i="0">
                <a:solidFill>
                  <a:srgbClr val="000000"/>
                </a:solidFill>
                <a:latin typeface="微软雅黑"/>
              </a:rPr>
              <a:t>市场痛点</a:t>
            </a:r>
          </a:p>
        </p:txBody>
      </p:sp>
      <p:sp>
        <p:nvSpPr>
          <p:cNvPr id="6" name="New shape"/>
          <p:cNvSpPr/>
          <p:nvPr/>
        </p:nvSpPr>
        <p:spPr>
          <a:xfrm>
            <a:off x="5423828" y="2854800"/>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03</a:t>
            </a:r>
          </a:p>
          <a:p>
            <a:pPr>
              <a:lnSpc>
                <a:spcPct val="150000"/>
              </a:lnSpc>
            </a:pPr>
            <a:r>
              <a:rPr sz="1575" b="0" i="0">
                <a:solidFill>
                  <a:srgbClr val="000000"/>
                </a:solidFill>
                <a:latin typeface="微软雅黑"/>
              </a:rPr>
              <a:t>解决方案</a:t>
            </a:r>
          </a:p>
        </p:txBody>
      </p:sp>
      <p:sp>
        <p:nvSpPr>
          <p:cNvPr id="7" name="New shape"/>
          <p:cNvSpPr/>
          <p:nvPr/>
        </p:nvSpPr>
        <p:spPr>
          <a:xfrm>
            <a:off x="7392342" y="2854800"/>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04</a:t>
            </a:r>
          </a:p>
          <a:p>
            <a:pPr>
              <a:lnSpc>
                <a:spcPct val="150000"/>
              </a:lnSpc>
            </a:pPr>
            <a:r>
              <a:rPr sz="1575" b="0" i="0">
                <a:solidFill>
                  <a:srgbClr val="000000"/>
                </a:solidFill>
                <a:latin typeface="微软雅黑"/>
              </a:rPr>
              <a:t>市场分析</a:t>
            </a:r>
          </a:p>
        </p:txBody>
      </p:sp>
      <p:sp>
        <p:nvSpPr>
          <p:cNvPr id="8" name="New shape"/>
          <p:cNvSpPr/>
          <p:nvPr/>
        </p:nvSpPr>
        <p:spPr>
          <a:xfrm>
            <a:off x="9360857" y="2854800"/>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05</a:t>
            </a:r>
          </a:p>
          <a:p>
            <a:pPr>
              <a:lnSpc>
                <a:spcPct val="150000"/>
              </a:lnSpc>
            </a:pPr>
            <a:r>
              <a:rPr sz="1575" b="0" i="0">
                <a:solidFill>
                  <a:srgbClr val="000000"/>
                </a:solidFill>
                <a:latin typeface="微软雅黑"/>
              </a:rPr>
              <a:t>竞争分析</a:t>
            </a:r>
          </a:p>
        </p:txBody>
      </p:sp>
      <p:sp>
        <p:nvSpPr>
          <p:cNvPr id="9" name="New shape"/>
          <p:cNvSpPr/>
          <p:nvPr/>
        </p:nvSpPr>
        <p:spPr>
          <a:xfrm>
            <a:off x="1486800" y="3674006"/>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06</a:t>
            </a:r>
          </a:p>
          <a:p>
            <a:pPr>
              <a:lnSpc>
                <a:spcPct val="150000"/>
              </a:lnSpc>
            </a:pPr>
            <a:r>
              <a:rPr sz="1575" b="0" i="0">
                <a:solidFill>
                  <a:srgbClr val="000000"/>
                </a:solidFill>
                <a:latin typeface="微软雅黑"/>
              </a:rPr>
              <a:t>商业模式</a:t>
            </a:r>
          </a:p>
        </p:txBody>
      </p:sp>
      <p:sp>
        <p:nvSpPr>
          <p:cNvPr id="10" name="New shape"/>
          <p:cNvSpPr/>
          <p:nvPr/>
        </p:nvSpPr>
        <p:spPr>
          <a:xfrm>
            <a:off x="3455314" y="3674006"/>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07</a:t>
            </a:r>
          </a:p>
          <a:p>
            <a:pPr>
              <a:lnSpc>
                <a:spcPct val="150000"/>
              </a:lnSpc>
            </a:pPr>
            <a:r>
              <a:rPr sz="1575" b="0" i="0">
                <a:solidFill>
                  <a:srgbClr val="000000"/>
                </a:solidFill>
                <a:latin typeface="微软雅黑"/>
              </a:rPr>
              <a:t>营销推广</a:t>
            </a:r>
          </a:p>
        </p:txBody>
      </p:sp>
      <p:sp>
        <p:nvSpPr>
          <p:cNvPr id="11" name="New shape"/>
          <p:cNvSpPr/>
          <p:nvPr/>
        </p:nvSpPr>
        <p:spPr>
          <a:xfrm>
            <a:off x="5423828" y="3674006"/>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08</a:t>
            </a:r>
          </a:p>
          <a:p>
            <a:pPr>
              <a:lnSpc>
                <a:spcPct val="150000"/>
              </a:lnSpc>
            </a:pPr>
            <a:r>
              <a:rPr sz="1575" b="0" i="0">
                <a:solidFill>
                  <a:srgbClr val="000000"/>
                </a:solidFill>
                <a:latin typeface="微软雅黑"/>
              </a:rPr>
              <a:t>团队介绍</a:t>
            </a:r>
          </a:p>
        </p:txBody>
      </p:sp>
      <p:sp>
        <p:nvSpPr>
          <p:cNvPr id="12" name="New shape"/>
          <p:cNvSpPr/>
          <p:nvPr/>
        </p:nvSpPr>
        <p:spPr>
          <a:xfrm>
            <a:off x="7392342" y="3674006"/>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09</a:t>
            </a:r>
          </a:p>
          <a:p>
            <a:pPr>
              <a:lnSpc>
                <a:spcPct val="150000"/>
              </a:lnSpc>
            </a:pPr>
            <a:r>
              <a:rPr sz="1575" b="0" i="0">
                <a:solidFill>
                  <a:srgbClr val="000000"/>
                </a:solidFill>
                <a:latin typeface="微软雅黑"/>
              </a:rPr>
              <a:t>取得成绩</a:t>
            </a:r>
          </a:p>
        </p:txBody>
      </p:sp>
      <p:sp>
        <p:nvSpPr>
          <p:cNvPr id="13" name="New shape"/>
          <p:cNvSpPr/>
          <p:nvPr/>
        </p:nvSpPr>
        <p:spPr>
          <a:xfrm>
            <a:off x="9360857" y="3674006"/>
            <a:ext cx="1841514" cy="692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sz="1575" b="1">
                <a:solidFill>
                  <a:srgbClr val="F18D6B"/>
                </a:solidFill>
                <a:latin typeface="微软雅黑"/>
              </a:rPr>
              <a:t>10</a:t>
            </a:r>
          </a:p>
          <a:p>
            <a:pPr>
              <a:lnSpc>
                <a:spcPct val="150000"/>
              </a:lnSpc>
            </a:pPr>
            <a:r>
              <a:rPr sz="1575" b="0" i="0">
                <a:solidFill>
                  <a:srgbClr val="000000"/>
                </a:solidFill>
                <a:latin typeface="微软雅黑"/>
              </a:rPr>
              <a:t>发展规划</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7802880" y="-24502"/>
            <a:ext cx="4389120" cy="6858000"/>
          </a:xfrm>
          <a:prstGeom prst="rect">
            <a:avLst/>
          </a:prstGeom>
          <a:ln>
            <a:noFill/>
          </a:ln>
        </p:spPr>
      </p:pic>
      <p:pic>
        <p:nvPicPr>
          <p:cNvPr id="3" name="New picture"/>
          <p:cNvPicPr/>
          <p:nvPr/>
        </p:nvPicPr>
        <p:blipFill>
          <a:blip r:embed="rId3"/>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01</a:t>
            </a:r>
          </a:p>
        </p:txBody>
      </p:sp>
      <p:sp>
        <p:nvSpPr>
          <p:cNvPr id="5" name="New shape"/>
          <p:cNvSpPr/>
          <p:nvPr/>
        </p:nvSpPr>
        <p:spPr>
          <a:xfrm>
            <a:off x="1005978" y="1856646"/>
            <a:ext cx="5765761" cy="22882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dirty="0" err="1">
                <a:solidFill>
                  <a:srgbClr val="C22020"/>
                </a:solidFill>
                <a:latin typeface="微软雅黑"/>
              </a:rPr>
              <a:t>我们要改革低效率的学生学工管理系统</a:t>
            </a:r>
            <a:endParaRPr sz="4800" b="1" i="0" dirty="0">
              <a:solidFill>
                <a:srgbClr val="C22020"/>
              </a:solidFill>
              <a:latin typeface="微软雅黑"/>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一句话标题</a:t>
            </a:r>
          </a:p>
        </p:txBody>
      </p:sp>
      <p:sp>
        <p:nvSpPr>
          <p:cNvPr id="4" name="New shape"/>
          <p:cNvSpPr/>
          <p:nvPr/>
        </p:nvSpPr>
        <p:spPr>
          <a:xfrm>
            <a:off x="6458401" y="1555200"/>
            <a:ext cx="4545078"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当代高校班级管理痛点解析</a:t>
            </a:r>
          </a:p>
          <a:p>
            <a:pPr algn="l">
              <a:lnSpc>
                <a:spcPct val="150000"/>
              </a:lnSpc>
            </a:pPr>
            <a:r>
              <a:rPr sz="1575" b="0" i="0">
                <a:solidFill>
                  <a:srgbClr val="000000"/>
                </a:solidFill>
                <a:latin typeface="微软雅黑"/>
              </a:rPr>
              <a:t>分析当前高校班级管理中存在的问题，如信息不透明、效率低下等，为提出解决方案提供依据。</a:t>
            </a:r>
          </a:p>
        </p:txBody>
      </p:sp>
      <p:sp>
        <p:nvSpPr>
          <p:cNvPr id="5" name="New shape"/>
          <p:cNvSpPr/>
          <p:nvPr/>
        </p:nvSpPr>
        <p:spPr>
          <a:xfrm>
            <a:off x="981860" y="2390400"/>
            <a:ext cx="4545077"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sz="2100" b="1" i="0">
                <a:solidFill>
                  <a:srgbClr val="F18D6B"/>
                </a:solidFill>
                <a:latin typeface="微软雅黑"/>
              </a:rPr>
              <a:t>创新班级管理解决方案探索</a:t>
            </a:r>
          </a:p>
          <a:p>
            <a:pPr algn="r">
              <a:lnSpc>
                <a:spcPct val="150000"/>
              </a:lnSpc>
            </a:pPr>
            <a:r>
              <a:rPr sz="1575" b="0" i="0">
                <a:solidFill>
                  <a:srgbClr val="000000"/>
                </a:solidFill>
                <a:latin typeface="微软雅黑"/>
              </a:rPr>
              <a:t>结合市场需求和用户痛点，设计出一套创新的班级管理规划方案，提高管理效率和学生满意度。</a:t>
            </a:r>
          </a:p>
        </p:txBody>
      </p:sp>
      <p:sp>
        <p:nvSpPr>
          <p:cNvPr id="6" name="New shape"/>
          <p:cNvSpPr/>
          <p:nvPr/>
        </p:nvSpPr>
        <p:spPr>
          <a:xfrm>
            <a:off x="6458401" y="3005402"/>
            <a:ext cx="4554174" cy="149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班级管理解决方案的市场前景展望</a:t>
            </a:r>
          </a:p>
          <a:p>
            <a:pPr algn="l">
              <a:lnSpc>
                <a:spcPct val="150000"/>
              </a:lnSpc>
            </a:pPr>
            <a:r>
              <a:rPr sz="1575" b="0" i="0">
                <a:solidFill>
                  <a:srgbClr val="000000"/>
                </a:solidFill>
                <a:latin typeface="微软雅黑"/>
              </a:rPr>
              <a:t>对所提出的班级管理解决方案进行市场分析，预测其增长潜力和可能面临的竞争，为未来发展提供参考。</a:t>
            </a:r>
          </a:p>
        </p:txBody>
      </p:sp>
      <p:sp>
        <p:nvSpPr>
          <p:cNvPr id="7" name="New shape"/>
          <p:cNvSpPr/>
          <p:nvPr/>
        </p:nvSpPr>
        <p:spPr>
          <a:xfrm>
            <a:off x="5965200" y="1926000"/>
            <a:ext cx="39600" cy="4644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ew shape"/>
          <p:cNvSpPr/>
          <p:nvPr/>
        </p:nvSpPr>
        <p:spPr>
          <a:xfrm>
            <a:off x="6152400" y="1735740"/>
            <a:ext cx="309600" cy="396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New shape"/>
          <p:cNvSpPr/>
          <p:nvPr/>
        </p:nvSpPr>
        <p:spPr>
          <a:xfrm>
            <a:off x="5806800" y="1555200"/>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p>
        </p:txBody>
      </p:sp>
      <p:sp>
        <p:nvSpPr>
          <p:cNvPr id="10" name="New shape"/>
          <p:cNvSpPr/>
          <p:nvPr/>
        </p:nvSpPr>
        <p:spPr>
          <a:xfrm>
            <a:off x="5965200" y="2761200"/>
            <a:ext cx="39600" cy="244201"/>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ew shape"/>
          <p:cNvSpPr/>
          <p:nvPr/>
        </p:nvSpPr>
        <p:spPr>
          <a:xfrm>
            <a:off x="5515200" y="2570940"/>
            <a:ext cx="309600" cy="396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ew shape"/>
          <p:cNvSpPr/>
          <p:nvPr/>
        </p:nvSpPr>
        <p:spPr>
          <a:xfrm>
            <a:off x="5806800" y="2390400"/>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p>
        </p:txBody>
      </p:sp>
      <p:sp>
        <p:nvSpPr>
          <p:cNvPr id="13" name="New shape"/>
          <p:cNvSpPr/>
          <p:nvPr/>
        </p:nvSpPr>
        <p:spPr>
          <a:xfrm>
            <a:off x="5965200" y="3376202"/>
            <a:ext cx="39600" cy="4572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New shape"/>
          <p:cNvSpPr/>
          <p:nvPr/>
        </p:nvSpPr>
        <p:spPr>
          <a:xfrm>
            <a:off x="6152400" y="3185942"/>
            <a:ext cx="309600" cy="396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New shape"/>
          <p:cNvSpPr/>
          <p:nvPr/>
        </p:nvSpPr>
        <p:spPr>
          <a:xfrm>
            <a:off x="5806800" y="3005402"/>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02</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市场痛点</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真实需求分析</a:t>
            </a:r>
          </a:p>
        </p:txBody>
      </p:sp>
      <p:sp>
        <p:nvSpPr>
          <p:cNvPr id="4" name="New shape"/>
          <p:cNvSpPr/>
          <p:nvPr/>
        </p:nvSpPr>
        <p:spPr>
          <a:xfrm>
            <a:off x="1558800" y="3011880"/>
            <a:ext cx="2744215"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dirty="0" err="1">
                <a:solidFill>
                  <a:srgbClr val="F18D6B"/>
                </a:solidFill>
                <a:latin typeface="微软雅黑"/>
              </a:rPr>
              <a:t>用户痛点的识别</a:t>
            </a:r>
            <a:br>
              <a:rPr sz="1800" dirty="0">
                <a:latin typeface="微软雅黑"/>
              </a:rPr>
            </a:br>
            <a:endParaRPr sz="1800" dirty="0">
              <a:latin typeface="微软雅黑"/>
            </a:endParaRPr>
          </a:p>
          <a:p>
            <a:pPr algn="l">
              <a:lnSpc>
                <a:spcPct val="150000"/>
              </a:lnSpc>
            </a:pPr>
            <a:r>
              <a:rPr sz="1575" b="0" i="0" dirty="0" err="1">
                <a:solidFill>
                  <a:srgbClr val="000000"/>
                </a:solidFill>
                <a:latin typeface="微软雅黑"/>
              </a:rPr>
              <a:t>高校管理存在传统化、低效、人工干预等问题</a:t>
            </a:r>
            <a:endParaRPr sz="1575" b="0" i="0" dirty="0">
              <a:solidFill>
                <a:srgbClr val="000000"/>
              </a:solidFill>
              <a:latin typeface="微软雅黑"/>
            </a:endParaRPr>
          </a:p>
        </p:txBody>
      </p:sp>
      <p:sp>
        <p:nvSpPr>
          <p:cNvPr id="5" name="New shape"/>
          <p:cNvSpPr/>
          <p:nvPr/>
        </p:nvSpPr>
        <p:spPr>
          <a:xfrm>
            <a:off x="4430015" y="3011879"/>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dirty="0" err="1">
                <a:solidFill>
                  <a:srgbClr val="F18D6B"/>
                </a:solidFill>
                <a:latin typeface="微软雅黑"/>
              </a:rPr>
              <a:t>产品解决方案的创新</a:t>
            </a:r>
            <a:br>
              <a:rPr sz="1800" dirty="0">
                <a:latin typeface="微软雅黑"/>
              </a:rPr>
            </a:br>
            <a:endParaRPr sz="1800" dirty="0">
              <a:latin typeface="微软雅黑"/>
            </a:endParaRPr>
          </a:p>
          <a:p>
            <a:pPr algn="l">
              <a:lnSpc>
                <a:spcPct val="150000"/>
              </a:lnSpc>
            </a:pPr>
            <a:r>
              <a:rPr sz="1575" b="0" i="0" dirty="0" err="1">
                <a:solidFill>
                  <a:srgbClr val="000000"/>
                </a:solidFill>
                <a:latin typeface="微软雅黑"/>
              </a:rPr>
              <a:t>管理人员缺乏数据支持和实时监控</a:t>
            </a:r>
            <a:r>
              <a:rPr sz="1575" b="0" i="0" dirty="0">
                <a:solidFill>
                  <a:srgbClr val="000000"/>
                </a:solidFill>
                <a:latin typeface="微软雅黑"/>
              </a:rPr>
              <a:t> </a:t>
            </a:r>
            <a:r>
              <a:rPr sz="1575" b="0" i="0" dirty="0" err="1">
                <a:solidFill>
                  <a:srgbClr val="000000"/>
                </a:solidFill>
                <a:latin typeface="微软雅黑"/>
              </a:rPr>
              <a:t>管理过程中的沟通不畅、工作流程复杂</a:t>
            </a:r>
            <a:endParaRPr sz="1575" b="0" i="0" dirty="0">
              <a:solidFill>
                <a:srgbClr val="000000"/>
              </a:solidFill>
              <a:latin typeface="微软雅黑"/>
            </a:endParaRPr>
          </a:p>
        </p:txBody>
      </p:sp>
      <p:sp>
        <p:nvSpPr>
          <p:cNvPr id="6" name="New shape"/>
          <p:cNvSpPr/>
          <p:nvPr/>
        </p:nvSpPr>
        <p:spPr>
          <a:xfrm>
            <a:off x="7301229" y="3011880"/>
            <a:ext cx="2744216" cy="3569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确保痛点的有效解决</a:t>
            </a:r>
            <a:br>
              <a:rPr sz="1800">
                <a:latin typeface="微软雅黑"/>
              </a:rPr>
            </a:br>
            <a:endParaRPr sz="1800">
              <a:latin typeface="微软雅黑"/>
            </a:endParaRPr>
          </a:p>
          <a:p>
            <a:pPr algn="l">
              <a:lnSpc>
                <a:spcPct val="150000"/>
              </a:lnSpc>
            </a:pPr>
            <a:r>
              <a:rPr sz="2100" b="0" i="0">
                <a:solidFill>
                  <a:srgbClr val="000000"/>
                </a:solidFill>
                <a:latin typeface="微软雅黑"/>
              </a:rPr>
              <a:t>这些痛点是真实的、刚需的，也是高频的问题。我们的产品是根据用户痛点设计出来的，而不仅仅是想象中的产品。</a:t>
            </a:r>
          </a:p>
        </p:txBody>
      </p:sp>
      <p:pic>
        <p:nvPicPr>
          <p:cNvPr id="7" name="New picture"/>
          <p:cNvPicPr/>
          <p:nvPr/>
        </p:nvPicPr>
        <p:blipFill>
          <a:blip r:embed="rId5"/>
          <a:srcRect/>
          <a:stretch>
            <a:fillRect/>
          </a:stretch>
        </p:blipFill>
        <p:spPr>
          <a:xfrm>
            <a:off x="1558800" y="1342800"/>
            <a:ext cx="2738736" cy="1540539"/>
          </a:xfrm>
          <a:prstGeom prst="rect">
            <a:avLst/>
          </a:prstGeom>
          <a:ln>
            <a:noFill/>
          </a:ln>
        </p:spPr>
      </p:pic>
      <p:pic>
        <p:nvPicPr>
          <p:cNvPr id="8" name="New picture"/>
          <p:cNvPicPr/>
          <p:nvPr/>
        </p:nvPicPr>
        <p:blipFill>
          <a:blip r:embed="rId6"/>
          <a:srcRect/>
          <a:stretch>
            <a:fillRect/>
          </a:stretch>
        </p:blipFill>
        <p:spPr>
          <a:xfrm>
            <a:off x="4430015" y="1342800"/>
            <a:ext cx="2738736" cy="1540539"/>
          </a:xfrm>
          <a:prstGeom prst="rect">
            <a:avLst/>
          </a:prstGeom>
          <a:ln>
            <a:noFill/>
          </a:ln>
        </p:spPr>
      </p:pic>
      <p:pic>
        <p:nvPicPr>
          <p:cNvPr id="9" name="New picture"/>
          <p:cNvPicPr/>
          <p:nvPr/>
        </p:nvPicPr>
        <p:blipFill>
          <a:blip r:embed="rId7"/>
          <a:srcRect/>
          <a:stretch>
            <a:fillRect/>
          </a:stretch>
        </p:blipFill>
        <p:spPr>
          <a:xfrm>
            <a:off x="7301230" y="1342800"/>
            <a:ext cx="2738736" cy="1540539"/>
          </a:xfrm>
          <a:prstGeom prst="rect">
            <a:avLst/>
          </a:prstGeom>
          <a:ln>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37A6B6E-C442-57AD-964A-69860A19F7DD}"/>
              </a:ext>
            </a:extLst>
          </p:cNvPr>
          <p:cNvSpPr txBox="1"/>
          <p:nvPr/>
        </p:nvSpPr>
        <p:spPr>
          <a:xfrm>
            <a:off x="191344" y="44624"/>
            <a:ext cx="11521280" cy="5909310"/>
          </a:xfrm>
          <a:prstGeom prst="rect">
            <a:avLst/>
          </a:prstGeom>
          <a:noFill/>
        </p:spPr>
        <p:txBody>
          <a:bodyPr wrap="square">
            <a:spAutoFit/>
          </a:bodyPr>
          <a:lstStyle/>
          <a:p>
            <a:r>
              <a:rPr lang="zh-CN" altLang="en-US" dirty="0"/>
              <a:t>市场规模测算：</a:t>
            </a:r>
          </a:p>
          <a:p>
            <a:endParaRPr lang="zh-CN" altLang="en-US" dirty="0"/>
          </a:p>
          <a:p>
            <a:r>
              <a:rPr lang="zh-CN" altLang="en-US" dirty="0"/>
              <a:t>数据收集和分析：收集和分析相关数据，包括市场需求、市场份额、销售额、产品价格、竞争对手情况、消费者需求和偏好、行业趋势等。这些数据可以来自于市场调查、政府统计数据、行业报告、专业机构调查、网络搜索等渠道。</a:t>
            </a:r>
          </a:p>
          <a:p>
            <a:endParaRPr lang="zh-CN" altLang="en-US" dirty="0"/>
          </a:p>
          <a:p>
            <a:r>
              <a:rPr lang="zh-CN" altLang="en-US" dirty="0"/>
              <a:t>市场规模预测：运用科学的方法预测未来一段时间内市场的总容量。可以使用统计学方法、经济学模型、机器学习算法等方法进行预测。同时，需要考虑市场发展趋势、技术进步、政策变化等因素，以确保预测的准确性和可靠性。</a:t>
            </a:r>
          </a:p>
          <a:p>
            <a:endParaRPr lang="zh-CN" altLang="en-US" dirty="0"/>
          </a:p>
          <a:p>
            <a:r>
              <a:rPr lang="zh-CN" altLang="en-US" dirty="0"/>
              <a:t>市场规模的影响因素：</a:t>
            </a:r>
          </a:p>
          <a:p>
            <a:endParaRPr lang="zh-CN" altLang="en-US" dirty="0"/>
          </a:p>
          <a:p>
            <a:r>
              <a:rPr lang="zh-CN" altLang="en-US" dirty="0"/>
              <a:t>消费者需求：消费者需求是市场规模的直接因素，随着消费者需求的增加或减少，市场规模会发生变化。</a:t>
            </a:r>
          </a:p>
          <a:p>
            <a:endParaRPr lang="zh-CN" altLang="en-US" dirty="0"/>
          </a:p>
          <a:p>
            <a:r>
              <a:rPr lang="zh-CN" altLang="en-US" dirty="0"/>
              <a:t>行业发展趋势：行业发展趋势会影响市场规模的增长或减少。例如，新兴行业的发展会带来市场规模的扩大，而过时行业的萎缩会带来市场规模的缩小。</a:t>
            </a:r>
          </a:p>
          <a:p>
            <a:endParaRPr lang="zh-CN" altLang="en-US" dirty="0"/>
          </a:p>
          <a:p>
            <a:r>
              <a:rPr lang="zh-CN" altLang="en-US" dirty="0"/>
              <a:t>技术进步：技术进步会带来市场规模的扩大，例如新的技术和创新会吸引更多的消费者，提高市场规模。</a:t>
            </a:r>
          </a:p>
          <a:p>
            <a:endParaRPr lang="zh-CN" altLang="en-US" dirty="0"/>
          </a:p>
          <a:p>
            <a:r>
              <a:rPr lang="zh-CN" altLang="en-US" dirty="0"/>
              <a:t>政策变化：政策变化会影响市场规模的增长或减少。例如，政府的政策措施可以促进市场发展，扩大市场规模。</a:t>
            </a:r>
          </a:p>
          <a:p>
            <a:endParaRPr lang="zh-CN" altLang="en-US" dirty="0"/>
          </a:p>
        </p:txBody>
      </p:sp>
    </p:spTree>
    <p:extLst>
      <p:ext uri="{BB962C8B-B14F-4D97-AF65-F5344CB8AC3E}">
        <p14:creationId xmlns:p14="http://schemas.microsoft.com/office/powerpoint/2010/main" val="242906750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35DD310-573C-E259-4C37-24F0314CCCA1}"/>
              </a:ext>
            </a:extLst>
          </p:cNvPr>
          <p:cNvSpPr txBox="1"/>
          <p:nvPr/>
        </p:nvSpPr>
        <p:spPr>
          <a:xfrm>
            <a:off x="3048569" y="1582341"/>
            <a:ext cx="6097136" cy="3693319"/>
          </a:xfrm>
          <a:prstGeom prst="rect">
            <a:avLst/>
          </a:prstGeom>
          <a:noFill/>
        </p:spPr>
        <p:txBody>
          <a:bodyPr wrap="square">
            <a:spAutoFit/>
          </a:bodyPr>
          <a:lstStyle/>
          <a:p>
            <a:r>
              <a:rPr lang="zh-CN" altLang="en-US" dirty="0"/>
              <a:t>市场规模的实际应用：</a:t>
            </a:r>
          </a:p>
          <a:p>
            <a:endParaRPr lang="zh-CN" altLang="en-US" dirty="0"/>
          </a:p>
          <a:p>
            <a:r>
              <a:rPr lang="zh-CN" altLang="en-US" dirty="0"/>
              <a:t>企业策略制定：准确的市场规模测算可以帮助企业制定合理的市场策略，包括市场定位、市场渠道、市场营销等。</a:t>
            </a:r>
          </a:p>
          <a:p>
            <a:endParaRPr lang="zh-CN" altLang="en-US" dirty="0"/>
          </a:p>
          <a:p>
            <a:r>
              <a:rPr lang="zh-CN" altLang="en-US" dirty="0"/>
              <a:t>竞争优势：通过市场规模测算，企业可以了解市场的大小和趋势，并确定自己的竞争优势和劣势。</a:t>
            </a:r>
          </a:p>
          <a:p>
            <a:endParaRPr lang="zh-CN" altLang="en-US" dirty="0"/>
          </a:p>
          <a:p>
            <a:r>
              <a:rPr lang="zh-CN" altLang="en-US" dirty="0"/>
              <a:t>资源分配：市场规模测算可以帮助企业确定资源分配情况，包括人力资源、财务资源、物资资源等。</a:t>
            </a:r>
          </a:p>
          <a:p>
            <a:endParaRPr lang="zh-CN" altLang="en-US" dirty="0"/>
          </a:p>
          <a:p>
            <a:r>
              <a:rPr lang="zh-CN" altLang="en-US" dirty="0"/>
              <a:t>投资决策：准确的市场规模测算可以帮助企业做出正确的投资决策，包括产品开发、市场投入、技术研发等。</a:t>
            </a:r>
          </a:p>
        </p:txBody>
      </p:sp>
    </p:spTree>
    <p:extLst>
      <p:ext uri="{BB962C8B-B14F-4D97-AF65-F5344CB8AC3E}">
        <p14:creationId xmlns:p14="http://schemas.microsoft.com/office/powerpoint/2010/main" val="164917439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产品来源与痛点对应</a:t>
            </a:r>
          </a:p>
        </p:txBody>
      </p:sp>
      <p:sp>
        <p:nvSpPr>
          <p:cNvPr id="4" name="New shape"/>
          <p:cNvSpPr/>
          <p:nvPr/>
        </p:nvSpPr>
        <p:spPr>
          <a:xfrm>
            <a:off x="1558800" y="1627200"/>
            <a:ext cx="2744215" cy="2808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提高管理效率和数据化程度</a:t>
            </a:r>
            <a:br>
              <a:rPr sz="1800">
                <a:latin typeface="微软雅黑"/>
              </a:rPr>
            </a:br>
            <a:endParaRPr sz="1800">
              <a:latin typeface="微软雅黑"/>
            </a:endParaRPr>
          </a:p>
          <a:p>
            <a:pPr algn="l">
              <a:lnSpc>
                <a:spcPct val="150000"/>
              </a:lnSpc>
            </a:pPr>
            <a:r>
              <a:rPr sz="1575" b="0" i="0">
                <a:solidFill>
                  <a:srgbClr val="000000"/>
                </a:solidFill>
                <a:latin typeface="微软雅黑"/>
              </a:rPr>
              <a:t>通过深入观察和了解用户生活，我们发现并记录了他们在日常生活中遇到的困扰和问题，这些问题正是我们产品的来源。</a:t>
            </a:r>
          </a:p>
        </p:txBody>
      </p:sp>
      <p:sp>
        <p:nvSpPr>
          <p:cNvPr id="5" name="New shape"/>
          <p:cNvSpPr/>
          <p:nvPr/>
        </p:nvSpPr>
        <p:spPr>
          <a:xfrm>
            <a:off x="4430015" y="1627200"/>
            <a:ext cx="2744215" cy="2808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实现实时监控和数据分析</a:t>
            </a:r>
            <a:br>
              <a:rPr sz="1800">
                <a:latin typeface="微软雅黑"/>
              </a:rPr>
            </a:br>
            <a:endParaRPr sz="1800">
              <a:latin typeface="微软雅黑"/>
            </a:endParaRPr>
          </a:p>
          <a:p>
            <a:pPr algn="l">
              <a:lnSpc>
                <a:spcPct val="150000"/>
              </a:lnSpc>
            </a:pPr>
            <a:r>
              <a:rPr sz="1575" b="0" i="0">
                <a:solidFill>
                  <a:srgbClr val="000000"/>
                </a:solidFill>
                <a:latin typeface="微软雅黑"/>
              </a:rPr>
              <a:t>我们的产品不仅仅是想象出来的，而是根据用户的真实痛点设计出来的，旨在解决用户在生活中遇到的实际问题。</a:t>
            </a:r>
          </a:p>
        </p:txBody>
      </p:sp>
      <p:sp>
        <p:nvSpPr>
          <p:cNvPr id="6" name="New shape"/>
          <p:cNvSpPr/>
          <p:nvPr/>
        </p:nvSpPr>
        <p:spPr>
          <a:xfrm>
            <a:off x="7301229" y="1627200"/>
            <a:ext cx="2744216" cy="2448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简化工作流程和沟通方式</a:t>
            </a:r>
            <a:br>
              <a:rPr sz="1800">
                <a:latin typeface="微软雅黑"/>
              </a:rPr>
            </a:br>
            <a:endParaRPr sz="1800">
              <a:latin typeface="微软雅黑"/>
            </a:endParaRPr>
          </a:p>
          <a:p>
            <a:pPr algn="l">
              <a:lnSpc>
                <a:spcPct val="150000"/>
              </a:lnSpc>
            </a:pPr>
            <a:r>
              <a:rPr sz="1575" b="0" i="0">
                <a:solidFill>
                  <a:srgbClr val="000000"/>
                </a:solidFill>
                <a:latin typeface="微软雅黑"/>
              </a:rPr>
              <a:t>我们的产品能够精准地解决用户在生活中遇到的各种痛点，满足市场需求，这是我们创业的基础。</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03</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解决方案</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解决方式与创新</a:t>
            </a:r>
          </a:p>
        </p:txBody>
      </p:sp>
      <p:sp>
        <p:nvSpPr>
          <p:cNvPr id="4" name="New shape"/>
          <p:cNvSpPr/>
          <p:nvPr/>
        </p:nvSpPr>
        <p:spPr>
          <a:xfrm>
            <a:off x="6458401" y="1385142"/>
            <a:ext cx="4545078" cy="25540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dirty="0" err="1">
                <a:solidFill>
                  <a:srgbClr val="F18D6B"/>
                </a:solidFill>
                <a:latin typeface="微软雅黑"/>
              </a:rPr>
              <a:t>提高管理效率和数据化程度</a:t>
            </a:r>
            <a:endParaRPr sz="2100" b="1" i="0" dirty="0">
              <a:solidFill>
                <a:srgbClr val="F18D6B"/>
              </a:solidFill>
              <a:latin typeface="微软雅黑"/>
            </a:endParaRPr>
          </a:p>
          <a:p>
            <a:pPr algn="l">
              <a:lnSpc>
                <a:spcPct val="150000"/>
              </a:lnSpc>
            </a:pPr>
            <a:r>
              <a:rPr sz="1575" b="0" i="0" dirty="0">
                <a:solidFill>
                  <a:srgbClr val="000000"/>
                </a:solidFill>
                <a:latin typeface="微软雅黑"/>
              </a:rPr>
              <a:t>自动化流程：通过引入自动化工具和系统，可以减少人工操作，提高工作效率。例如，使用电子表格和数据库管理系统来自动处理数据输入、存储和分析，减少手动输入错误和提高数据处理速度。</a:t>
            </a:r>
            <a:r>
              <a:rPr lang="zh-CN" altLang="en-US" sz="1575" dirty="0">
                <a:solidFill>
                  <a:srgbClr val="000000"/>
                </a:solidFill>
                <a:latin typeface="微软雅黑"/>
              </a:rPr>
              <a:t>我们专业正好对口，团队的成员可以合力搭建网上平台。</a:t>
            </a:r>
            <a:endParaRPr sz="1575" dirty="0">
              <a:solidFill>
                <a:srgbClr val="000000"/>
              </a:solidFill>
              <a:latin typeface="微软雅黑"/>
            </a:endParaRPr>
          </a:p>
        </p:txBody>
      </p:sp>
      <p:sp>
        <p:nvSpPr>
          <p:cNvPr id="5" name="New shape"/>
          <p:cNvSpPr/>
          <p:nvPr/>
        </p:nvSpPr>
        <p:spPr>
          <a:xfrm>
            <a:off x="981860" y="2390400"/>
            <a:ext cx="4545077" cy="22139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sz="2100" b="1" i="0" dirty="0" err="1">
                <a:solidFill>
                  <a:srgbClr val="F18D6B"/>
                </a:solidFill>
                <a:latin typeface="微软雅黑"/>
              </a:rPr>
              <a:t>实现实时监控和数据分析</a:t>
            </a:r>
            <a:endParaRPr sz="2100" b="1" i="0" dirty="0">
              <a:solidFill>
                <a:srgbClr val="F18D6B"/>
              </a:solidFill>
              <a:latin typeface="微软雅黑"/>
            </a:endParaRPr>
          </a:p>
          <a:p>
            <a:pPr algn="r">
              <a:lnSpc>
                <a:spcPct val="150000"/>
              </a:lnSpc>
            </a:pPr>
            <a:r>
              <a:rPr sz="1575" b="0" i="0" dirty="0">
                <a:solidFill>
                  <a:srgbClr val="000000"/>
                </a:solidFill>
                <a:latin typeface="微软雅黑"/>
              </a:rPr>
              <a:t>将不同来源的数据集成到一个统一的平台，可以提高数据的可访问性和可用性。这样，管理者可以更容易地获取所需信息，做出更快速和准确的决策利用实时数据分析工具，可以对收集到的数据进行即时分析，</a:t>
            </a:r>
          </a:p>
        </p:txBody>
      </p:sp>
      <p:sp>
        <p:nvSpPr>
          <p:cNvPr id="6" name="New shape"/>
          <p:cNvSpPr/>
          <p:nvPr/>
        </p:nvSpPr>
        <p:spPr>
          <a:xfrm>
            <a:off x="6458401" y="4086617"/>
            <a:ext cx="4554174"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简化工作流程和沟通方式</a:t>
            </a:r>
          </a:p>
          <a:p>
            <a:pPr algn="l">
              <a:lnSpc>
                <a:spcPct val="150000"/>
              </a:lnSpc>
            </a:pPr>
            <a:r>
              <a:rPr sz="1575" b="0" i="0">
                <a:solidFill>
                  <a:srgbClr val="000000"/>
                </a:solidFill>
                <a:latin typeface="微软雅黑"/>
              </a:rPr>
              <a:t>统一沟通平台：建立一个统一的沟通平台，如企业内部社交网络或协作工具</a:t>
            </a:r>
          </a:p>
        </p:txBody>
      </p:sp>
      <p:sp>
        <p:nvSpPr>
          <p:cNvPr id="7" name="New shape"/>
          <p:cNvSpPr/>
          <p:nvPr/>
        </p:nvSpPr>
        <p:spPr>
          <a:xfrm>
            <a:off x="5965200" y="1926000"/>
            <a:ext cx="39600" cy="4644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ew shape"/>
          <p:cNvSpPr/>
          <p:nvPr/>
        </p:nvSpPr>
        <p:spPr>
          <a:xfrm>
            <a:off x="6152400" y="1735740"/>
            <a:ext cx="309600" cy="396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New shape"/>
          <p:cNvSpPr/>
          <p:nvPr/>
        </p:nvSpPr>
        <p:spPr>
          <a:xfrm>
            <a:off x="5806800" y="1555200"/>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p>
        </p:txBody>
      </p:sp>
      <p:sp>
        <p:nvSpPr>
          <p:cNvPr id="10" name="New shape"/>
          <p:cNvSpPr/>
          <p:nvPr/>
        </p:nvSpPr>
        <p:spPr>
          <a:xfrm>
            <a:off x="5965200" y="2761200"/>
            <a:ext cx="39600" cy="1325418"/>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ew shape"/>
          <p:cNvSpPr/>
          <p:nvPr/>
        </p:nvSpPr>
        <p:spPr>
          <a:xfrm>
            <a:off x="5515200" y="2570940"/>
            <a:ext cx="309600" cy="396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ew shape"/>
          <p:cNvSpPr/>
          <p:nvPr/>
        </p:nvSpPr>
        <p:spPr>
          <a:xfrm>
            <a:off x="5806800" y="2390400"/>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p>
        </p:txBody>
      </p:sp>
      <p:sp>
        <p:nvSpPr>
          <p:cNvPr id="13" name="New shape"/>
          <p:cNvSpPr/>
          <p:nvPr/>
        </p:nvSpPr>
        <p:spPr>
          <a:xfrm>
            <a:off x="5965200" y="4457417"/>
            <a:ext cx="39600" cy="4572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New shape"/>
          <p:cNvSpPr/>
          <p:nvPr/>
        </p:nvSpPr>
        <p:spPr>
          <a:xfrm>
            <a:off x="6152400" y="4267157"/>
            <a:ext cx="309600" cy="39600"/>
          </a:xfrm>
          <a:prstGeom prst="rect">
            <a:avLst/>
          </a:prstGeom>
          <a:solidFill>
            <a:srgbClr val="F18D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New shape"/>
          <p:cNvSpPr/>
          <p:nvPr/>
        </p:nvSpPr>
        <p:spPr>
          <a:xfrm>
            <a:off x="5806800" y="4086617"/>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确保有效解决问题</a:t>
            </a:r>
          </a:p>
        </p:txBody>
      </p:sp>
      <p:sp>
        <p:nvSpPr>
          <p:cNvPr id="4" name="New shape"/>
          <p:cNvSpPr/>
          <p:nvPr/>
        </p:nvSpPr>
        <p:spPr>
          <a:xfrm>
            <a:off x="1558800" y="2402271"/>
            <a:ext cx="2744215"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通过深入市场调研，找出用户的真实需求和痛点，然后设计出符合这些需求的解决方案。</a:t>
            </a:r>
          </a:p>
        </p:txBody>
      </p:sp>
      <p:sp>
        <p:nvSpPr>
          <p:cNvPr id="5" name="New shape"/>
          <p:cNvSpPr/>
          <p:nvPr/>
        </p:nvSpPr>
        <p:spPr>
          <a:xfrm>
            <a:off x="1556530"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痛点识别与解决</a:t>
            </a:r>
          </a:p>
        </p:txBody>
      </p:sp>
      <p:sp>
        <p:nvSpPr>
          <p:cNvPr id="6" name="New shape"/>
          <p:cNvSpPr/>
          <p:nvPr/>
        </p:nvSpPr>
        <p:spPr>
          <a:xfrm>
            <a:off x="4430015" y="2878465"/>
            <a:ext cx="2744215"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通过创新的方法和方式，实施解决方案，确保真正地解决用户的痛点，而不仅仅是表面的改善。</a:t>
            </a:r>
          </a:p>
        </p:txBody>
      </p:sp>
      <p:sp>
        <p:nvSpPr>
          <p:cNvPr id="7" name="New shape"/>
          <p:cNvSpPr/>
          <p:nvPr/>
        </p:nvSpPr>
        <p:spPr>
          <a:xfrm>
            <a:off x="4427625" y="1627200"/>
            <a:ext cx="2580660" cy="1124265"/>
          </a:xfrm>
          <a:prstGeom prst="roundRect">
            <a:avLst>
              <a:gd name="adj" fmla="val 10888"/>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创新解决方案的实施</a:t>
            </a:r>
          </a:p>
        </p:txBody>
      </p:sp>
      <p:sp>
        <p:nvSpPr>
          <p:cNvPr id="8" name="New shape"/>
          <p:cNvSpPr/>
          <p:nvPr/>
        </p:nvSpPr>
        <p:spPr>
          <a:xfrm>
            <a:off x="7301229" y="2878466"/>
            <a:ext cx="2744216" cy="1172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对解决方案的效果进行评估，看是否能够真正解决问题，以及其增长潜力有多大。</a:t>
            </a:r>
          </a:p>
        </p:txBody>
      </p:sp>
      <p:sp>
        <p:nvSpPr>
          <p:cNvPr id="9" name="New shape"/>
          <p:cNvSpPr/>
          <p:nvPr/>
        </p:nvSpPr>
        <p:spPr>
          <a:xfrm>
            <a:off x="7298841" y="1627200"/>
            <a:ext cx="2580658" cy="1124266"/>
          </a:xfrm>
          <a:prstGeom prst="roundRect">
            <a:avLst>
              <a:gd name="adj" fmla="val 10888"/>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解决方案的有效性评估</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04</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市场分析</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市场细分</a:t>
            </a:r>
          </a:p>
        </p:txBody>
      </p:sp>
      <p:sp>
        <p:nvSpPr>
          <p:cNvPr id="4" name="New shape"/>
          <p:cNvSpPr/>
          <p:nvPr/>
        </p:nvSpPr>
        <p:spPr>
          <a:xfrm>
            <a:off x="1558800" y="3011879"/>
            <a:ext cx="2744215" cy="24942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100" b="1" i="0">
                <a:solidFill>
                  <a:srgbClr val="F18D6B"/>
                </a:solidFill>
                <a:latin typeface="微软雅黑"/>
              </a:rPr>
              <a:t>竞争对手：已有数家公司在该领域存在，但我们的产品和解决方案具有独特的优势和创新点</a:t>
            </a:r>
          </a:p>
        </p:txBody>
      </p:sp>
      <p:sp>
        <p:nvSpPr>
          <p:cNvPr id="5" name="New shape"/>
          <p:cNvSpPr/>
          <p:nvPr/>
        </p:nvSpPr>
        <p:spPr>
          <a:xfrm>
            <a:off x="4430015" y="3011879"/>
            <a:ext cx="2744215" cy="24942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100" b="1" i="0">
                <a:solidFill>
                  <a:srgbClr val="F18D6B"/>
                </a:solidFill>
                <a:latin typeface="微软雅黑"/>
              </a:rPr>
              <a:t>竞争对手：已有数家公司在该领域存在，但我们的产品和解决方案具有独特的优势和创新点</a:t>
            </a:r>
          </a:p>
        </p:txBody>
      </p:sp>
      <p:sp>
        <p:nvSpPr>
          <p:cNvPr id="6" name="New shape"/>
          <p:cNvSpPr/>
          <p:nvPr/>
        </p:nvSpPr>
        <p:spPr>
          <a:xfrm>
            <a:off x="7301229" y="3011880"/>
            <a:ext cx="2744216" cy="3455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2100" b="1" i="0">
                <a:solidFill>
                  <a:srgbClr val="F18D6B"/>
                </a:solidFill>
                <a:latin typeface="微软雅黑"/>
              </a:rPr>
              <a:t>战略合作：建立战略合作伙伴关系，可以帮助您扩大市场和资源，并加强竞争力。选择适当的合作伙伴，共同开发和推广产品和解决方案。</a:t>
            </a:r>
          </a:p>
        </p:txBody>
      </p:sp>
      <p:pic>
        <p:nvPicPr>
          <p:cNvPr id="7" name="New picture"/>
          <p:cNvPicPr/>
          <p:nvPr/>
        </p:nvPicPr>
        <p:blipFill>
          <a:blip r:embed="rId5"/>
          <a:srcRect/>
          <a:stretch>
            <a:fillRect/>
          </a:stretch>
        </p:blipFill>
        <p:spPr>
          <a:xfrm>
            <a:off x="1558800" y="1342800"/>
            <a:ext cx="2738736" cy="1540539"/>
          </a:xfrm>
          <a:prstGeom prst="rect">
            <a:avLst/>
          </a:prstGeom>
          <a:ln>
            <a:noFill/>
          </a:ln>
        </p:spPr>
      </p:pic>
      <p:pic>
        <p:nvPicPr>
          <p:cNvPr id="8" name="New picture"/>
          <p:cNvPicPr/>
          <p:nvPr/>
        </p:nvPicPr>
        <p:blipFill>
          <a:blip r:embed="rId6"/>
          <a:srcRect/>
          <a:stretch>
            <a:fillRect/>
          </a:stretch>
        </p:blipFill>
        <p:spPr>
          <a:xfrm>
            <a:off x="4430015" y="1342800"/>
            <a:ext cx="2738736" cy="1540539"/>
          </a:xfrm>
          <a:prstGeom prst="rect">
            <a:avLst/>
          </a:prstGeom>
          <a:ln>
            <a:noFill/>
          </a:ln>
        </p:spPr>
      </p:pic>
      <p:pic>
        <p:nvPicPr>
          <p:cNvPr id="9" name="New picture"/>
          <p:cNvPicPr/>
          <p:nvPr/>
        </p:nvPicPr>
        <p:blipFill>
          <a:blip r:embed="rId7"/>
          <a:srcRect/>
          <a:stretch>
            <a:fillRect/>
          </a:stretch>
        </p:blipFill>
        <p:spPr>
          <a:xfrm>
            <a:off x="7301230" y="1342800"/>
            <a:ext cx="2738736" cy="1540539"/>
          </a:xfrm>
          <a:prstGeom prst="rect">
            <a:avLst/>
          </a:prstGeom>
          <a:ln>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市场规模测算</a:t>
            </a:r>
          </a:p>
        </p:txBody>
      </p:sp>
      <p:sp>
        <p:nvSpPr>
          <p:cNvPr id="4" name="New shape"/>
          <p:cNvSpPr/>
          <p:nvPr/>
        </p:nvSpPr>
        <p:spPr>
          <a:xfrm>
            <a:off x="1558799" y="1627201"/>
            <a:ext cx="3031739" cy="2898928"/>
          </a:xfrm>
          <a:prstGeom prst="roundRect">
            <a:avLst>
              <a:gd name="adj" fmla="val 10032"/>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市场规模测算方法</a:t>
            </a:r>
            <a:br>
              <a:rPr sz="1800">
                <a:latin typeface="微软雅黑"/>
              </a:rPr>
            </a:br>
            <a:endParaRPr sz="1800">
              <a:latin typeface="微软雅黑"/>
            </a:endParaRPr>
          </a:p>
          <a:p>
            <a:pPr algn="l">
              <a:lnSpc>
                <a:spcPct val="150000"/>
              </a:lnSpc>
            </a:pPr>
            <a:r>
              <a:rPr sz="1575" b="0" i="0">
                <a:solidFill>
                  <a:srgbClr val="000000"/>
                </a:solidFill>
                <a:latin typeface="微软雅黑"/>
              </a:rPr>
              <a:t>通过收集和分析相关数据，运用科学的方法预测未来一段时间内市场的总容量。</a:t>
            </a:r>
            <a:br>
              <a:rPr sz="1800">
                <a:latin typeface="微软雅黑"/>
              </a:rPr>
            </a:br>
            <a:endParaRPr sz="1800">
              <a:latin typeface="微软雅黑"/>
            </a:endParaRPr>
          </a:p>
        </p:txBody>
      </p:sp>
      <p:sp>
        <p:nvSpPr>
          <p:cNvPr id="5" name="New shape"/>
          <p:cNvSpPr/>
          <p:nvPr/>
        </p:nvSpPr>
        <p:spPr>
          <a:xfrm>
            <a:off x="4717538" y="1627200"/>
            <a:ext cx="3031738" cy="2898928"/>
          </a:xfrm>
          <a:prstGeom prst="roundRect">
            <a:avLst>
              <a:gd name="adj" fmla="val 10032"/>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市场规模的影响因素</a:t>
            </a:r>
            <a:br>
              <a:rPr sz="1800">
                <a:latin typeface="微软雅黑"/>
              </a:rPr>
            </a:br>
            <a:endParaRPr sz="1800">
              <a:latin typeface="微软雅黑"/>
            </a:endParaRPr>
          </a:p>
          <a:p>
            <a:pPr algn="l">
              <a:lnSpc>
                <a:spcPct val="150000"/>
              </a:lnSpc>
            </a:pPr>
            <a:r>
              <a:rPr sz="1575" b="0" i="0">
                <a:solidFill>
                  <a:srgbClr val="000000"/>
                </a:solidFill>
                <a:latin typeface="微软雅黑"/>
              </a:rPr>
              <a:t>市场规模的大小受多种因素影响，如消费者需求、行业发展趋势、技术进步等。</a:t>
            </a:r>
            <a:br>
              <a:rPr sz="1800">
                <a:latin typeface="微软雅黑"/>
              </a:rPr>
            </a:br>
            <a:endParaRPr sz="1800">
              <a:latin typeface="微软雅黑"/>
            </a:endParaRPr>
          </a:p>
        </p:txBody>
      </p:sp>
      <p:sp>
        <p:nvSpPr>
          <p:cNvPr id="6" name="New shape"/>
          <p:cNvSpPr/>
          <p:nvPr/>
        </p:nvSpPr>
        <p:spPr>
          <a:xfrm>
            <a:off x="7876276" y="1627201"/>
            <a:ext cx="3031739" cy="2898928"/>
          </a:xfrm>
          <a:prstGeom prst="roundRect">
            <a:avLst>
              <a:gd name="adj" fmla="val 10032"/>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市场规模的实际应用</a:t>
            </a:r>
            <a:br>
              <a:rPr sz="1800">
                <a:latin typeface="微软雅黑"/>
              </a:rPr>
            </a:br>
            <a:endParaRPr sz="1800">
              <a:latin typeface="微软雅黑"/>
            </a:endParaRPr>
          </a:p>
          <a:p>
            <a:pPr algn="l">
              <a:lnSpc>
                <a:spcPct val="150000"/>
              </a:lnSpc>
            </a:pPr>
            <a:r>
              <a:rPr sz="1575" b="0" i="0">
                <a:solidFill>
                  <a:srgbClr val="000000"/>
                </a:solidFill>
                <a:latin typeface="微软雅黑"/>
              </a:rPr>
              <a:t>准确的市场规模测算有助于企业制定合理的市场策略，提高市场竞争力。</a:t>
            </a:r>
            <a:br>
              <a:rPr sz="1800">
                <a:latin typeface="微软雅黑"/>
              </a:rPr>
            </a:br>
            <a:endParaRPr sz="1800">
              <a:latin typeface="微软雅黑"/>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05</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竞争分析</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竞争对手介绍</a:t>
            </a:r>
          </a:p>
        </p:txBody>
      </p:sp>
      <p:sp>
        <p:nvSpPr>
          <p:cNvPr id="4" name="New shape"/>
          <p:cNvSpPr/>
          <p:nvPr/>
        </p:nvSpPr>
        <p:spPr>
          <a:xfrm>
            <a:off x="1450823" y="2646013"/>
            <a:ext cx="2744215" cy="44122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dirty="0" err="1">
                <a:solidFill>
                  <a:srgbClr val="000000"/>
                </a:solidFill>
                <a:latin typeface="微软雅黑"/>
              </a:rPr>
              <a:t>对现有竞争对手的市场份额、产品优势和业务模式进行深入剖析，了解其核心竞争力</a:t>
            </a:r>
            <a:r>
              <a:rPr sz="1575" b="0" i="0" dirty="0">
                <a:solidFill>
                  <a:srgbClr val="000000"/>
                </a:solidFill>
                <a:latin typeface="微软雅黑"/>
              </a:rPr>
              <a:t>。</a:t>
            </a:r>
            <a:endParaRPr lang="en-US" sz="1575" b="0" i="0" dirty="0">
              <a:solidFill>
                <a:srgbClr val="000000"/>
              </a:solidFill>
              <a:latin typeface="微软雅黑"/>
            </a:endParaRPr>
          </a:p>
          <a:p>
            <a:pPr algn="l">
              <a:lnSpc>
                <a:spcPct val="150000"/>
              </a:lnSpc>
            </a:pPr>
            <a:endParaRPr lang="en-US" sz="1575" dirty="0">
              <a:solidFill>
                <a:srgbClr val="000000"/>
              </a:solidFill>
              <a:latin typeface="微软雅黑"/>
            </a:endParaRPr>
          </a:p>
          <a:p>
            <a:pPr algn="l">
              <a:lnSpc>
                <a:spcPct val="150000"/>
              </a:lnSpc>
            </a:pPr>
            <a:endParaRPr lang="en-US" sz="1575" dirty="0">
              <a:solidFill>
                <a:srgbClr val="000000"/>
              </a:solidFill>
              <a:latin typeface="微软雅黑"/>
            </a:endParaRPr>
          </a:p>
          <a:p>
            <a:pPr>
              <a:lnSpc>
                <a:spcPct val="150000"/>
              </a:lnSpc>
            </a:pPr>
            <a:r>
              <a:rPr lang="zh-CN" altLang="en-US" sz="1575" b="0" i="0" dirty="0">
                <a:solidFill>
                  <a:srgbClr val="000000"/>
                </a:solidFill>
                <a:latin typeface="微软雅黑"/>
              </a:rPr>
              <a:t>我们的主要竞争对手：</a:t>
            </a:r>
            <a:endParaRPr lang="en-US" altLang="zh-CN" sz="1575" b="0" i="0" dirty="0">
              <a:solidFill>
                <a:srgbClr val="000000"/>
              </a:solidFill>
              <a:latin typeface="微软雅黑"/>
            </a:endParaRPr>
          </a:p>
          <a:p>
            <a:pPr>
              <a:lnSpc>
                <a:spcPct val="150000"/>
              </a:lnSpc>
            </a:pPr>
            <a:r>
              <a:rPr lang="zh-CN" altLang="en-US" sz="1575" dirty="0">
                <a:solidFill>
                  <a:srgbClr val="000000"/>
                </a:solidFill>
                <a:latin typeface="微软雅黑"/>
              </a:rPr>
              <a:t>以</a:t>
            </a:r>
            <a:r>
              <a:rPr lang="zh-CN" altLang="en-US" sz="1575" b="0" i="0" dirty="0">
                <a:solidFill>
                  <a:srgbClr val="000000"/>
                </a:solidFill>
                <a:latin typeface="微软雅黑"/>
              </a:rPr>
              <a:t>青岛科技大学的应用为例</a:t>
            </a:r>
            <a:endParaRPr lang="en-US" altLang="zh-CN" sz="1575" b="0" i="0" dirty="0">
              <a:solidFill>
                <a:srgbClr val="000000"/>
              </a:solidFill>
              <a:latin typeface="微软雅黑"/>
            </a:endParaRPr>
          </a:p>
          <a:p>
            <a:pPr algn="l">
              <a:lnSpc>
                <a:spcPct val="150000"/>
              </a:lnSpc>
            </a:pPr>
            <a:endParaRPr lang="en-US" sz="1575" b="0" i="0" dirty="0">
              <a:solidFill>
                <a:srgbClr val="000000"/>
              </a:solidFill>
              <a:latin typeface="微软雅黑"/>
            </a:endParaRPr>
          </a:p>
          <a:p>
            <a:pPr algn="l">
              <a:lnSpc>
                <a:spcPct val="150000"/>
              </a:lnSpc>
            </a:pPr>
            <a:endParaRPr lang="en-US" sz="1575" dirty="0">
              <a:solidFill>
                <a:srgbClr val="000000"/>
              </a:solidFill>
              <a:latin typeface="微软雅黑"/>
            </a:endParaRPr>
          </a:p>
          <a:p>
            <a:pPr algn="l">
              <a:lnSpc>
                <a:spcPct val="150000"/>
              </a:lnSpc>
            </a:pPr>
            <a:endParaRPr lang="en-US" sz="1575" b="0" i="0" dirty="0">
              <a:solidFill>
                <a:srgbClr val="000000"/>
              </a:solidFill>
              <a:latin typeface="微软雅黑"/>
            </a:endParaRPr>
          </a:p>
          <a:p>
            <a:pPr algn="l">
              <a:lnSpc>
                <a:spcPct val="150000"/>
              </a:lnSpc>
            </a:pPr>
            <a:endParaRPr sz="1575" b="0" i="0" dirty="0">
              <a:solidFill>
                <a:srgbClr val="000000"/>
              </a:solidFill>
              <a:latin typeface="微软雅黑"/>
            </a:endParaRPr>
          </a:p>
        </p:txBody>
      </p:sp>
      <p:sp>
        <p:nvSpPr>
          <p:cNvPr id="5" name="New shape"/>
          <p:cNvSpPr/>
          <p:nvPr/>
        </p:nvSpPr>
        <p:spPr>
          <a:xfrm>
            <a:off x="1556530"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竞争对手现状分析</a:t>
            </a:r>
          </a:p>
        </p:txBody>
      </p:sp>
      <p:sp>
        <p:nvSpPr>
          <p:cNvPr id="6" name="New shape"/>
          <p:cNvSpPr/>
          <p:nvPr/>
        </p:nvSpPr>
        <p:spPr>
          <a:xfrm>
            <a:off x="4554744" y="2275272"/>
            <a:ext cx="2744215" cy="33215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dirty="0" err="1">
                <a:solidFill>
                  <a:srgbClr val="000000"/>
                </a:solidFill>
                <a:latin typeface="微软雅黑"/>
              </a:rPr>
              <a:t>预测未来可能出现的竞争对手，分析他们的可能优势和潜在威胁，为公司未来发展做好准备</a:t>
            </a:r>
            <a:r>
              <a:rPr sz="1575" b="0" i="0" dirty="0">
                <a:solidFill>
                  <a:srgbClr val="000000"/>
                </a:solidFill>
                <a:latin typeface="微软雅黑"/>
              </a:rPr>
              <a:t>。</a:t>
            </a:r>
            <a:endParaRPr lang="en-US" sz="1575" b="0" i="0" dirty="0">
              <a:solidFill>
                <a:srgbClr val="000000"/>
              </a:solidFill>
              <a:latin typeface="微软雅黑"/>
            </a:endParaRPr>
          </a:p>
          <a:p>
            <a:pPr algn="l">
              <a:lnSpc>
                <a:spcPct val="150000"/>
              </a:lnSpc>
            </a:pPr>
            <a:endParaRPr lang="en-US" sz="1575" dirty="0">
              <a:solidFill>
                <a:srgbClr val="000000"/>
              </a:solidFill>
              <a:latin typeface="微软雅黑"/>
            </a:endParaRPr>
          </a:p>
          <a:p>
            <a:pPr algn="l">
              <a:lnSpc>
                <a:spcPct val="150000"/>
              </a:lnSpc>
            </a:pPr>
            <a:endParaRPr lang="en-US" sz="1575" b="0" i="0" dirty="0">
              <a:solidFill>
                <a:srgbClr val="000000"/>
              </a:solidFill>
              <a:latin typeface="微软雅黑"/>
            </a:endParaRPr>
          </a:p>
          <a:p>
            <a:pPr algn="l">
              <a:lnSpc>
                <a:spcPct val="150000"/>
              </a:lnSpc>
            </a:pPr>
            <a:r>
              <a:rPr lang="zh-CN" altLang="en-US" sz="1575" dirty="0">
                <a:solidFill>
                  <a:srgbClr val="000000"/>
                </a:solidFill>
                <a:latin typeface="微软雅黑"/>
              </a:rPr>
              <a:t>我们同学每天应用到的青小科，智慧青科等等</a:t>
            </a:r>
            <a:endParaRPr lang="en-US" sz="1575" dirty="0">
              <a:solidFill>
                <a:srgbClr val="000000"/>
              </a:solidFill>
              <a:latin typeface="微软雅黑"/>
            </a:endParaRPr>
          </a:p>
          <a:p>
            <a:pPr algn="l">
              <a:lnSpc>
                <a:spcPct val="150000"/>
              </a:lnSpc>
            </a:pPr>
            <a:endParaRPr sz="1575" b="0" i="0" dirty="0">
              <a:solidFill>
                <a:srgbClr val="000000"/>
              </a:solidFill>
              <a:latin typeface="微软雅黑"/>
            </a:endParaRPr>
          </a:p>
        </p:txBody>
      </p:sp>
      <p:sp>
        <p:nvSpPr>
          <p:cNvPr id="7" name="New shape"/>
          <p:cNvSpPr/>
          <p:nvPr/>
        </p:nvSpPr>
        <p:spPr>
          <a:xfrm>
            <a:off x="4427745"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潜在竞争对手预测</a:t>
            </a:r>
          </a:p>
        </p:txBody>
      </p:sp>
      <p:sp>
        <p:nvSpPr>
          <p:cNvPr id="8" name="New shape"/>
          <p:cNvSpPr/>
          <p:nvPr/>
        </p:nvSpPr>
        <p:spPr>
          <a:xfrm>
            <a:off x="7301229" y="2402271"/>
            <a:ext cx="2744216" cy="1172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通过与竞争对手的比较，明确自身在市场中的独特优势，提升公司的市场竞争力。</a:t>
            </a:r>
          </a:p>
        </p:txBody>
      </p:sp>
      <p:sp>
        <p:nvSpPr>
          <p:cNvPr id="9" name="New shape"/>
          <p:cNvSpPr/>
          <p:nvPr/>
        </p:nvSpPr>
        <p:spPr>
          <a:xfrm>
            <a:off x="7298959"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竞争优势对比</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竞争优势分析</a:t>
            </a:r>
          </a:p>
        </p:txBody>
      </p:sp>
      <p:sp>
        <p:nvSpPr>
          <p:cNvPr id="4" name="New shape"/>
          <p:cNvSpPr/>
          <p:nvPr/>
        </p:nvSpPr>
        <p:spPr>
          <a:xfrm>
            <a:off x="1774800" y="1555200"/>
            <a:ext cx="8016003"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竞争对手分析</a:t>
            </a:r>
            <a:br>
              <a:rPr sz="1800">
                <a:latin typeface="微软雅黑"/>
              </a:rPr>
            </a:br>
            <a:endParaRPr sz="1800">
              <a:latin typeface="微软雅黑"/>
            </a:endParaRPr>
          </a:p>
          <a:p>
            <a:pPr algn="l">
              <a:lnSpc>
                <a:spcPct val="150000"/>
              </a:lnSpc>
            </a:pPr>
            <a:r>
              <a:rPr sz="1575" b="0" i="0">
                <a:solidFill>
                  <a:srgbClr val="000000"/>
                </a:solidFill>
                <a:latin typeface="微软雅黑"/>
              </a:rPr>
              <a:t>对现有和潜在竞争对手进行深入分析，了解他们的产品、服务、市场定位以及优势和劣势，以便制定有效的竞争策略。</a:t>
            </a:r>
          </a:p>
        </p:txBody>
      </p:sp>
      <p:sp>
        <p:nvSpPr>
          <p:cNvPr id="5" name="New shape"/>
          <p:cNvSpPr/>
          <p:nvPr/>
        </p:nvSpPr>
        <p:spPr>
          <a:xfrm>
            <a:off x="1774800" y="3089496"/>
            <a:ext cx="8016003"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我们的优势</a:t>
            </a:r>
            <a:br>
              <a:rPr sz="1800">
                <a:latin typeface="微软雅黑"/>
              </a:rPr>
            </a:br>
            <a:endParaRPr sz="1800">
              <a:latin typeface="微软雅黑"/>
            </a:endParaRPr>
          </a:p>
          <a:p>
            <a:pPr algn="l">
              <a:lnSpc>
                <a:spcPct val="150000"/>
              </a:lnSpc>
            </a:pPr>
            <a:r>
              <a:rPr sz="1575" b="0" i="0">
                <a:solidFill>
                  <a:srgbClr val="000000"/>
                </a:solidFill>
                <a:latin typeface="微软雅黑"/>
              </a:rPr>
              <a:t>详细阐述我们的产品或服务相比竞争对手具有哪些独特的优势，如技术领先、用户体验优秀、价格合理等，以增强市场竞争力。</a:t>
            </a:r>
          </a:p>
        </p:txBody>
      </p:sp>
      <p:sp>
        <p:nvSpPr>
          <p:cNvPr id="6" name="New shape"/>
          <p:cNvSpPr/>
          <p:nvPr/>
        </p:nvSpPr>
        <p:spPr>
          <a:xfrm>
            <a:off x="1774800" y="4623792"/>
            <a:ext cx="8016003"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竞争壁垒建设</a:t>
            </a:r>
            <a:br>
              <a:rPr sz="1800">
                <a:latin typeface="微软雅黑"/>
              </a:rPr>
            </a:br>
            <a:endParaRPr sz="1800">
              <a:latin typeface="微软雅黑"/>
            </a:endParaRPr>
          </a:p>
          <a:p>
            <a:pPr algn="l">
              <a:lnSpc>
                <a:spcPct val="150000"/>
              </a:lnSpc>
            </a:pPr>
            <a:r>
              <a:rPr sz="1575" b="0" i="0">
                <a:solidFill>
                  <a:srgbClr val="000000"/>
                </a:solidFill>
                <a:latin typeface="微软雅黑"/>
              </a:rPr>
              <a:t>通过创新和持续改进，建立难以被竞争对手模仿或超越的竞争壁垒，如专利技术、品牌影响力、用户粘性等，确保长期竞争优势。</a:t>
            </a:r>
          </a:p>
        </p:txBody>
      </p:sp>
      <p:sp>
        <p:nvSpPr>
          <p:cNvPr id="7" name="New shape"/>
          <p:cNvSpPr/>
          <p:nvPr/>
        </p:nvSpPr>
        <p:spPr>
          <a:xfrm>
            <a:off x="1270800" y="1555200"/>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p>
        </p:txBody>
      </p:sp>
      <p:sp>
        <p:nvSpPr>
          <p:cNvPr id="8" name="New shape"/>
          <p:cNvSpPr/>
          <p:nvPr/>
        </p:nvSpPr>
        <p:spPr>
          <a:xfrm>
            <a:off x="1270800" y="3089496"/>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p>
        </p:txBody>
      </p:sp>
      <p:sp>
        <p:nvSpPr>
          <p:cNvPr id="9" name="New shape"/>
          <p:cNvSpPr/>
          <p:nvPr/>
        </p:nvSpPr>
        <p:spPr>
          <a:xfrm>
            <a:off x="1270800" y="4623792"/>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06</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商业模式</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公司定位与主营业务</a:t>
            </a:r>
          </a:p>
        </p:txBody>
      </p:sp>
      <p:sp>
        <p:nvSpPr>
          <p:cNvPr id="4" name="New shape"/>
          <p:cNvSpPr/>
          <p:nvPr/>
        </p:nvSpPr>
        <p:spPr>
          <a:xfrm>
            <a:off x="1558800" y="3011880"/>
            <a:ext cx="2744215" cy="2488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公司定位概述</a:t>
            </a:r>
            <a:br>
              <a:rPr sz="1800">
                <a:latin typeface="微软雅黑"/>
              </a:rPr>
            </a:br>
            <a:endParaRPr sz="1800">
              <a:latin typeface="微软雅黑"/>
            </a:endParaRPr>
          </a:p>
          <a:p>
            <a:pPr algn="l">
              <a:lnSpc>
                <a:spcPct val="150000"/>
              </a:lnSpc>
            </a:pPr>
            <a:r>
              <a:rPr sz="1575" b="0" i="0">
                <a:solidFill>
                  <a:srgbClr val="000000"/>
                </a:solidFill>
                <a:latin typeface="微软雅黑"/>
              </a:rPr>
              <a:t>sphera 是一家致力于为高校管理和教育行业提供智慧化解决方案的公司 我们通过收取服务费和定制化解决方案的费用来获得收益</a:t>
            </a:r>
          </a:p>
        </p:txBody>
      </p:sp>
      <p:sp>
        <p:nvSpPr>
          <p:cNvPr id="5" name="New shape"/>
          <p:cNvSpPr/>
          <p:nvPr/>
        </p:nvSpPr>
        <p:spPr>
          <a:xfrm>
            <a:off x="4430015" y="3011879"/>
            <a:ext cx="2744215" cy="2128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主营业务详解</a:t>
            </a:r>
            <a:br>
              <a:rPr sz="1800">
                <a:latin typeface="微软雅黑"/>
              </a:rPr>
            </a:br>
            <a:endParaRPr sz="1800">
              <a:latin typeface="微软雅黑"/>
            </a:endParaRPr>
          </a:p>
          <a:p>
            <a:pPr algn="l">
              <a:lnSpc>
                <a:spcPct val="150000"/>
              </a:lnSpc>
            </a:pPr>
            <a:r>
              <a:rPr sz="1575" b="0" i="0">
                <a:solidFill>
                  <a:srgbClr val="000000"/>
                </a:solidFill>
                <a:latin typeface="微软雅黑"/>
              </a:rPr>
              <a:t>深入解析我们的主要业务领域，包括我们提供的产品或服务的核心功能、独特性以及其如何满足市场需求。</a:t>
            </a:r>
          </a:p>
        </p:txBody>
      </p:sp>
      <p:sp>
        <p:nvSpPr>
          <p:cNvPr id="6" name="New shape"/>
          <p:cNvSpPr/>
          <p:nvPr/>
        </p:nvSpPr>
        <p:spPr>
          <a:xfrm>
            <a:off x="7301229" y="3011879"/>
            <a:ext cx="2744216" cy="2448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主营业务与公司定位关系</a:t>
            </a:r>
            <a:br>
              <a:rPr sz="1800">
                <a:latin typeface="微软雅黑"/>
              </a:rPr>
            </a:br>
            <a:endParaRPr sz="1800">
              <a:latin typeface="微软雅黑"/>
            </a:endParaRPr>
          </a:p>
          <a:p>
            <a:pPr algn="l">
              <a:lnSpc>
                <a:spcPct val="150000"/>
              </a:lnSpc>
            </a:pPr>
            <a:r>
              <a:rPr sz="1575" b="0" i="0">
                <a:solidFill>
                  <a:srgbClr val="000000"/>
                </a:solidFill>
                <a:latin typeface="微软雅黑"/>
              </a:rPr>
              <a:t>阐述我们的主营业务是如何与我们的公司定位紧密相连的，以及这种关联如何帮助我们在市场中建立竞争优势。</a:t>
            </a:r>
          </a:p>
        </p:txBody>
      </p:sp>
      <p:pic>
        <p:nvPicPr>
          <p:cNvPr id="7" name="New picture"/>
          <p:cNvPicPr/>
          <p:nvPr/>
        </p:nvPicPr>
        <p:blipFill>
          <a:blip r:embed="rId5"/>
          <a:srcRect/>
          <a:stretch>
            <a:fillRect/>
          </a:stretch>
        </p:blipFill>
        <p:spPr>
          <a:xfrm>
            <a:off x="1558800" y="1342800"/>
            <a:ext cx="2738736" cy="1540539"/>
          </a:xfrm>
          <a:prstGeom prst="rect">
            <a:avLst/>
          </a:prstGeom>
          <a:ln>
            <a:noFill/>
          </a:ln>
        </p:spPr>
      </p:pic>
      <p:pic>
        <p:nvPicPr>
          <p:cNvPr id="8" name="New picture"/>
          <p:cNvPicPr/>
          <p:nvPr/>
        </p:nvPicPr>
        <p:blipFill>
          <a:blip r:embed="rId6"/>
          <a:srcRect/>
          <a:stretch>
            <a:fillRect/>
          </a:stretch>
        </p:blipFill>
        <p:spPr>
          <a:xfrm>
            <a:off x="4430015" y="1342800"/>
            <a:ext cx="2738736" cy="1540539"/>
          </a:xfrm>
          <a:prstGeom prst="rect">
            <a:avLst/>
          </a:prstGeom>
          <a:ln>
            <a:noFill/>
          </a:ln>
        </p:spPr>
      </p:pic>
      <p:pic>
        <p:nvPicPr>
          <p:cNvPr id="9" name="New picture"/>
          <p:cNvPicPr/>
          <p:nvPr/>
        </p:nvPicPr>
        <p:blipFill>
          <a:blip r:embed="rId7"/>
          <a:srcRect/>
          <a:stretch>
            <a:fillRect/>
          </a:stretch>
        </p:blipFill>
        <p:spPr>
          <a:xfrm>
            <a:off x="7301230" y="1342800"/>
            <a:ext cx="2738736" cy="1540539"/>
          </a:xfrm>
          <a:prstGeom prst="rect">
            <a:avLst/>
          </a:prstGeom>
          <a:ln>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07</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营销推广</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价格策略</a:t>
            </a:r>
          </a:p>
        </p:txBody>
      </p:sp>
      <p:sp>
        <p:nvSpPr>
          <p:cNvPr id="4" name="New shape"/>
          <p:cNvSpPr/>
          <p:nvPr/>
        </p:nvSpPr>
        <p:spPr>
          <a:xfrm>
            <a:off x="1558800" y="2402271"/>
            <a:ext cx="2744215" cy="8123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价格策略：根据客户需求和规模定制化定价</a:t>
            </a:r>
          </a:p>
        </p:txBody>
      </p:sp>
      <p:sp>
        <p:nvSpPr>
          <p:cNvPr id="5" name="New shape"/>
          <p:cNvSpPr/>
          <p:nvPr/>
        </p:nvSpPr>
        <p:spPr>
          <a:xfrm>
            <a:off x="1556530"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价格定位策略</a:t>
            </a:r>
          </a:p>
        </p:txBody>
      </p:sp>
      <p:sp>
        <p:nvSpPr>
          <p:cNvPr id="6" name="New shape"/>
          <p:cNvSpPr/>
          <p:nvPr/>
        </p:nvSpPr>
        <p:spPr>
          <a:xfrm>
            <a:off x="4430015" y="2402270"/>
            <a:ext cx="2744215" cy="2253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制定吸引用户的促销活动和折扣政策，如限时优惠、团购折扣等，以提高销售额和市场占有率。宣传推广：在线和线下宣传、专业媒体和社交媒体</a:t>
            </a:r>
          </a:p>
        </p:txBody>
      </p:sp>
      <p:sp>
        <p:nvSpPr>
          <p:cNvPr id="7" name="New shape"/>
          <p:cNvSpPr/>
          <p:nvPr/>
        </p:nvSpPr>
        <p:spPr>
          <a:xfrm>
            <a:off x="4427745"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促销与折扣策略</a:t>
            </a:r>
          </a:p>
        </p:txBody>
      </p:sp>
      <p:sp>
        <p:nvSpPr>
          <p:cNvPr id="8" name="New shape"/>
          <p:cNvSpPr/>
          <p:nvPr/>
        </p:nvSpPr>
        <p:spPr>
          <a:xfrm>
            <a:off x="7301229" y="2402271"/>
            <a:ext cx="2744216"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结合产品成本、市场需求和竞争状况，制定合理的定价策略，确保项目在满足用户需求的同时实现盈利。</a:t>
            </a:r>
          </a:p>
        </p:txBody>
      </p:sp>
      <p:sp>
        <p:nvSpPr>
          <p:cNvPr id="9" name="New shape"/>
          <p:cNvSpPr/>
          <p:nvPr/>
        </p:nvSpPr>
        <p:spPr>
          <a:xfrm>
            <a:off x="7298959"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定价与盈利模式</a:t>
            </a:r>
          </a:p>
        </p:txBody>
      </p:sp>
      <p:sp>
        <p:nvSpPr>
          <p:cNvPr id="10" name="New shape"/>
          <p:cNvSpPr/>
          <p:nvPr/>
        </p:nvSpPr>
        <p:spPr>
          <a:xfrm>
            <a:off x="622800" y="3429000"/>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销售渠道选择</a:t>
            </a:r>
          </a:p>
        </p:txBody>
      </p:sp>
      <p:sp>
        <p:nvSpPr>
          <p:cNvPr id="4" name="New shape"/>
          <p:cNvSpPr/>
          <p:nvPr/>
        </p:nvSpPr>
        <p:spPr>
          <a:xfrm>
            <a:off x="1774800" y="1555200"/>
            <a:ext cx="8016003"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销售渠道选择的重要性</a:t>
            </a:r>
            <a:br>
              <a:rPr sz="1800">
                <a:latin typeface="微软雅黑"/>
              </a:rPr>
            </a:br>
            <a:endParaRPr sz="1800">
              <a:latin typeface="微软雅黑"/>
            </a:endParaRPr>
          </a:p>
          <a:p>
            <a:pPr algn="l">
              <a:lnSpc>
                <a:spcPct val="150000"/>
              </a:lnSpc>
            </a:pPr>
            <a:r>
              <a:rPr sz="1575" b="0" i="0">
                <a:solidFill>
                  <a:srgbClr val="000000"/>
                </a:solidFill>
                <a:latin typeface="微软雅黑"/>
              </a:rPr>
              <a:t>销售渠道是产品从生产者到消费者的重要桥梁，选择合适的销售渠道能大大提高产品的销售效率和市场占有率。</a:t>
            </a:r>
          </a:p>
        </p:txBody>
      </p:sp>
      <p:sp>
        <p:nvSpPr>
          <p:cNvPr id="5" name="New shape"/>
          <p:cNvSpPr/>
          <p:nvPr/>
        </p:nvSpPr>
        <p:spPr>
          <a:xfrm>
            <a:off x="1774800" y="3089496"/>
            <a:ext cx="8016003"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常见的销售渠道类型</a:t>
            </a:r>
            <a:br>
              <a:rPr sz="1800">
                <a:latin typeface="微软雅黑"/>
              </a:rPr>
            </a:br>
            <a:endParaRPr sz="1800">
              <a:latin typeface="微软雅黑"/>
            </a:endParaRPr>
          </a:p>
          <a:p>
            <a:pPr algn="l">
              <a:lnSpc>
                <a:spcPct val="150000"/>
              </a:lnSpc>
            </a:pPr>
            <a:r>
              <a:rPr sz="1575" b="0" i="0">
                <a:solidFill>
                  <a:srgbClr val="000000"/>
                </a:solidFill>
                <a:latin typeface="微软雅黑"/>
              </a:rPr>
              <a:t>常见的销售渠道包括实体店销售、电商平台销售、社交媒体销售等，每种渠道都有其独特的优势和适用场景。</a:t>
            </a:r>
          </a:p>
        </p:txBody>
      </p:sp>
      <p:sp>
        <p:nvSpPr>
          <p:cNvPr id="6" name="New shape"/>
          <p:cNvSpPr/>
          <p:nvPr/>
        </p:nvSpPr>
        <p:spPr>
          <a:xfrm>
            <a:off x="1774800" y="4623792"/>
            <a:ext cx="8016003"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F18D6B"/>
                </a:solidFill>
                <a:latin typeface="微软雅黑"/>
              </a:rPr>
              <a:t>我们项目的销售渠道策略</a:t>
            </a:r>
            <a:br>
              <a:rPr sz="1800">
                <a:latin typeface="微软雅黑"/>
              </a:rPr>
            </a:br>
            <a:endParaRPr sz="1800">
              <a:latin typeface="微软雅黑"/>
            </a:endParaRPr>
          </a:p>
          <a:p>
            <a:pPr algn="l">
              <a:lnSpc>
                <a:spcPct val="150000"/>
              </a:lnSpc>
            </a:pPr>
            <a:r>
              <a:rPr sz="1575" b="0" i="0">
                <a:solidFill>
                  <a:srgbClr val="000000"/>
                </a:solidFill>
                <a:latin typeface="微软雅黑"/>
              </a:rPr>
              <a:t>根据我们项目的特点和目标市场，我们选择了电商平台销售作为主要的销售渠道，同时也利用社交媒体进行宣传推广。</a:t>
            </a:r>
          </a:p>
        </p:txBody>
      </p:sp>
      <p:sp>
        <p:nvSpPr>
          <p:cNvPr id="7" name="New shape"/>
          <p:cNvSpPr/>
          <p:nvPr/>
        </p:nvSpPr>
        <p:spPr>
          <a:xfrm>
            <a:off x="1270800" y="1555200"/>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p>
        </p:txBody>
      </p:sp>
      <p:sp>
        <p:nvSpPr>
          <p:cNvPr id="8" name="New shape"/>
          <p:cNvSpPr/>
          <p:nvPr/>
        </p:nvSpPr>
        <p:spPr>
          <a:xfrm>
            <a:off x="1270800" y="3089496"/>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p>
        </p:txBody>
      </p:sp>
      <p:sp>
        <p:nvSpPr>
          <p:cNvPr id="9" name="New shape"/>
          <p:cNvSpPr/>
          <p:nvPr/>
        </p:nvSpPr>
        <p:spPr>
          <a:xfrm>
            <a:off x="1270800" y="4623792"/>
            <a:ext cx="360000" cy="370800"/>
          </a:xfrm>
          <a:prstGeom prst="roundRect">
            <a:avLst>
              <a:gd name="adj" fmla="val 8819"/>
            </a:avLst>
          </a:prstGeom>
          <a:solidFill>
            <a:srgbClr val="C22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08</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团队介绍</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核心团队背景</a:t>
            </a:r>
          </a:p>
        </p:txBody>
      </p:sp>
      <p:sp>
        <p:nvSpPr>
          <p:cNvPr id="4" name="New shape"/>
          <p:cNvSpPr/>
          <p:nvPr/>
        </p:nvSpPr>
        <p:spPr>
          <a:xfrm>
            <a:off x="1558800" y="1627200"/>
            <a:ext cx="3040495" cy="3267239"/>
          </a:xfrm>
          <a:prstGeom prst="roundRect">
            <a:avLst>
              <a:gd name="adj" fmla="val 10000"/>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核心团队成员介绍</a:t>
            </a:r>
            <a:br>
              <a:rPr sz="1800">
                <a:latin typeface="微软雅黑"/>
              </a:rPr>
            </a:br>
            <a:endParaRPr sz="1800">
              <a:latin typeface="微软雅黑"/>
            </a:endParaRPr>
          </a:p>
          <a:p>
            <a:pPr algn="l"/>
            <a:r>
              <a:rPr sz="1575" b="0" i="0">
                <a:solidFill>
                  <a:srgbClr val="000000"/>
                </a:solidFill>
                <a:latin typeface="微软雅黑"/>
              </a:rPr>
              <a:t>228和229核心舍友</a:t>
            </a:r>
            <a:br>
              <a:rPr sz="1800">
                <a:latin typeface="微软雅黑"/>
              </a:rPr>
            </a:br>
            <a:endParaRPr sz="1800">
              <a:latin typeface="微软雅黑"/>
            </a:endParaRPr>
          </a:p>
          <a:p>
            <a:pPr algn="l"/>
            <a:r>
              <a:rPr sz="1500" b="0" i="0">
                <a:solidFill>
                  <a:srgbClr val="000000"/>
                </a:solidFill>
                <a:latin typeface="微软雅黑"/>
              </a:rPr>
              <a:t>情同手足</a:t>
            </a:r>
            <a:br>
              <a:rPr sz="1800">
                <a:latin typeface="微软雅黑"/>
              </a:rPr>
            </a:br>
            <a:endParaRPr sz="1800">
              <a:latin typeface="微软雅黑"/>
            </a:endParaRPr>
          </a:p>
          <a:p>
            <a:pPr algn="l">
              <a:lnSpc>
                <a:spcPct val="150000"/>
              </a:lnSpc>
            </a:pPr>
            <a:r>
              <a:rPr sz="1500" b="0" i="0">
                <a:solidFill>
                  <a:srgbClr val="000000"/>
                </a:solidFill>
                <a:latin typeface="微软雅黑"/>
              </a:rPr>
              <a:t>男男联手</a:t>
            </a:r>
            <a:br>
              <a:rPr sz="1800">
                <a:latin typeface="微软雅黑"/>
              </a:rPr>
            </a:br>
            <a:endParaRPr sz="1800">
              <a:latin typeface="微软雅黑"/>
            </a:endParaRPr>
          </a:p>
        </p:txBody>
      </p:sp>
      <p:sp>
        <p:nvSpPr>
          <p:cNvPr id="5" name="New shape"/>
          <p:cNvSpPr/>
          <p:nvPr/>
        </p:nvSpPr>
        <p:spPr>
          <a:xfrm>
            <a:off x="4726295" y="1627200"/>
            <a:ext cx="3033224" cy="3267239"/>
          </a:xfrm>
          <a:prstGeom prst="roundRect">
            <a:avLst>
              <a:gd name="adj" fmla="val 10000"/>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创始人背景与经历</a:t>
            </a:r>
            <a:br>
              <a:rPr sz="1800">
                <a:latin typeface="微软雅黑"/>
              </a:rPr>
            </a:br>
            <a:endParaRPr sz="1800">
              <a:latin typeface="微软雅黑"/>
            </a:endParaRPr>
          </a:p>
          <a:p>
            <a:pPr algn="l"/>
            <a:r>
              <a:rPr sz="1575" b="0" i="0">
                <a:solidFill>
                  <a:srgbClr val="000000"/>
                </a:solidFill>
                <a:latin typeface="微软雅黑"/>
              </a:rPr>
              <a:t>现就读于青岛科技大学计算机科学与技术专业</a:t>
            </a:r>
            <a:br>
              <a:rPr sz="1800">
                <a:latin typeface="微软雅黑"/>
              </a:rPr>
            </a:br>
            <a:endParaRPr sz="1800">
              <a:latin typeface="微软雅黑"/>
            </a:endParaRPr>
          </a:p>
          <a:p>
            <a:pPr algn="l">
              <a:lnSpc>
                <a:spcPct val="150000"/>
              </a:lnSpc>
            </a:pPr>
            <a:r>
              <a:rPr sz="1500" b="0" i="0">
                <a:solidFill>
                  <a:srgbClr val="000000"/>
                </a:solidFill>
                <a:latin typeface="微软雅黑"/>
              </a:rPr>
              <a:t>常混迹于228 229宿舍</a:t>
            </a:r>
            <a:br>
              <a:rPr sz="1800">
                <a:latin typeface="微软雅黑"/>
              </a:rPr>
            </a:br>
            <a:endParaRPr sz="1800">
              <a:latin typeface="微软雅黑"/>
            </a:endParaRPr>
          </a:p>
        </p:txBody>
      </p:sp>
      <p:sp>
        <p:nvSpPr>
          <p:cNvPr id="6" name="New shape"/>
          <p:cNvSpPr/>
          <p:nvPr/>
        </p:nvSpPr>
        <p:spPr>
          <a:xfrm>
            <a:off x="7886519" y="1627202"/>
            <a:ext cx="3040502" cy="3267239"/>
          </a:xfrm>
          <a:prstGeom prst="roundRect">
            <a:avLst>
              <a:gd name="adj" fmla="val 10000"/>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团队分工与协作方式</a:t>
            </a:r>
            <a:br>
              <a:rPr sz="1800">
                <a:latin typeface="微软雅黑"/>
              </a:rPr>
            </a:br>
            <a:endParaRPr sz="1800">
              <a:latin typeface="微软雅黑"/>
            </a:endParaRPr>
          </a:p>
          <a:p>
            <a:pPr algn="l">
              <a:lnSpc>
                <a:spcPct val="150000"/>
              </a:lnSpc>
            </a:pPr>
            <a:r>
              <a:rPr sz="1575" b="0" i="0">
                <a:solidFill>
                  <a:srgbClr val="000000"/>
                </a:solidFill>
                <a:latin typeface="微软雅黑"/>
              </a:rPr>
              <a:t>团队分工：以产品、技术和营销为核心，组建了专业的团队，负责产品开发、技术研发和营销推广</a:t>
            </a:r>
            <a:br>
              <a:rPr sz="1800">
                <a:latin typeface="微软雅黑"/>
              </a:rPr>
            </a:br>
            <a:endParaRPr sz="1800">
              <a:latin typeface="微软雅黑"/>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09</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取得成绩</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项目执行现状</a:t>
            </a:r>
          </a:p>
        </p:txBody>
      </p:sp>
      <p:sp>
        <p:nvSpPr>
          <p:cNvPr id="4" name="New shape"/>
          <p:cNvSpPr/>
          <p:nvPr/>
        </p:nvSpPr>
        <p:spPr>
          <a:xfrm>
            <a:off x="1558800" y="2402271"/>
            <a:ext cx="2744215"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团队分工：以产品、技术和营销为核心，组建了专业的团队，负责产品开发、技术研发和营销推广。</a:t>
            </a:r>
          </a:p>
        </p:txBody>
      </p:sp>
      <p:sp>
        <p:nvSpPr>
          <p:cNvPr id="5" name="New shape"/>
          <p:cNvSpPr/>
          <p:nvPr/>
        </p:nvSpPr>
        <p:spPr>
          <a:xfrm>
            <a:off x="1556530"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项目进展概述</a:t>
            </a:r>
          </a:p>
        </p:txBody>
      </p:sp>
      <p:sp>
        <p:nvSpPr>
          <p:cNvPr id="6" name="New shape"/>
          <p:cNvSpPr/>
          <p:nvPr/>
        </p:nvSpPr>
        <p:spPr>
          <a:xfrm>
            <a:off x="4430015" y="2402270"/>
            <a:ext cx="2744215" cy="2614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项目推进的计划：整个项目将按照以下计划推进： 第一阶段：完成 beta 测试和用户反馈（3 个月） 第二阶段：完成产品优化和市场准备（6 个月） 第三阶段：正式发布和市场推广（12 个月）</a:t>
            </a:r>
          </a:p>
        </p:txBody>
      </p:sp>
      <p:sp>
        <p:nvSpPr>
          <p:cNvPr id="7" name="New shape"/>
          <p:cNvSpPr/>
          <p:nvPr/>
        </p:nvSpPr>
        <p:spPr>
          <a:xfrm>
            <a:off x="4427745" y="1627201"/>
            <a:ext cx="2532802" cy="648071"/>
          </a:xfrm>
          <a:prstGeom prst="roundRect">
            <a:avLst>
              <a:gd name="adj" fmla="val 20033"/>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产品原型展示</a:t>
            </a:r>
          </a:p>
        </p:txBody>
      </p:sp>
      <p:sp>
        <p:nvSpPr>
          <p:cNvPr id="8" name="New shape"/>
          <p:cNvSpPr/>
          <p:nvPr/>
        </p:nvSpPr>
        <p:spPr>
          <a:xfrm>
            <a:off x="7301229" y="2878466"/>
            <a:ext cx="2744216"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latin typeface="微软雅黑"/>
              </a:rPr>
              <a:t>为确保项目的顺利进行，我们制定了详细的项目推进计划和里程碑，明确了各阶段的目标和时间节点。</a:t>
            </a:r>
          </a:p>
        </p:txBody>
      </p:sp>
      <p:sp>
        <p:nvSpPr>
          <p:cNvPr id="9" name="New shape"/>
          <p:cNvSpPr/>
          <p:nvPr/>
        </p:nvSpPr>
        <p:spPr>
          <a:xfrm>
            <a:off x="7298841" y="1627200"/>
            <a:ext cx="2580658" cy="1124266"/>
          </a:xfrm>
          <a:prstGeom prst="roundRect">
            <a:avLst>
              <a:gd name="adj" fmla="val 10888"/>
            </a:avLst>
          </a:prstGeom>
          <a:solidFill>
            <a:srgbClr val="FFE1D4"/>
          </a:solidFill>
          <a:ln w="6350">
            <a:solidFill>
              <a:srgbClr val="C2202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F18D6B"/>
                </a:solidFill>
                <a:latin typeface="微软雅黑"/>
              </a:rPr>
              <a:t>项目推进计划与里程碑</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9F6"/>
        </a:solidFill>
        <a:effectLst/>
      </p:bgPr>
    </p:bg>
    <p:spTree>
      <p:nvGrpSpPr>
        <p:cNvPr id="1" name=""/>
        <p:cNvGrpSpPr/>
        <p:nvPr/>
      </p:nvGrpSpPr>
      <p:grpSpPr>
        <a:xfrm>
          <a:off x="0" y="0"/>
          <a:ext cx="0" cy="0"/>
          <a:chOff x="0" y="0"/>
          <a:chExt cx="0" cy="0"/>
        </a:xfrm>
      </p:grpSpPr>
      <p:pic>
        <p:nvPicPr>
          <p:cNvPr id="2" name="New picture"/>
          <p:cNvPicPr/>
          <p:nvPr/>
        </p:nvPicPr>
        <p:blipFill>
          <a:blip r:embed="rId3"/>
          <a:srcRect/>
          <a:stretch>
            <a:fillRect/>
          </a:stretch>
        </p:blipFill>
        <p:spPr>
          <a:xfrm>
            <a:off x="7802880" y="0"/>
            <a:ext cx="4389120" cy="6858000"/>
          </a:xfrm>
          <a:prstGeom prst="rect">
            <a:avLst/>
          </a:prstGeom>
          <a:ln>
            <a:noFill/>
          </a:ln>
        </p:spPr>
      </p:pic>
      <p:pic>
        <p:nvPicPr>
          <p:cNvPr id="3" name="New picture"/>
          <p:cNvPicPr/>
          <p:nvPr/>
        </p:nvPicPr>
        <p:blipFill>
          <a:blip r:embed="rId4"/>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F18D6B"/>
                </a:solidFill>
                <a:latin typeface="微软雅黑"/>
              </a:rPr>
              <a:t>10</a:t>
            </a:r>
          </a:p>
        </p:txBody>
      </p:sp>
      <p:sp>
        <p:nvSpPr>
          <p:cNvPr id="5" name="New shape"/>
          <p:cNvSpPr/>
          <p:nvPr/>
        </p:nvSpPr>
        <p:spPr>
          <a:xfrm>
            <a:off x="986400" y="2635727"/>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C22020"/>
                </a:solidFill>
                <a:latin typeface="微软雅黑"/>
              </a:rPr>
              <a:t>发展规划</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4"/>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latin typeface="微软雅黑"/>
              </a:rPr>
              <a:t>计划目标设定</a:t>
            </a:r>
          </a:p>
        </p:txBody>
      </p:sp>
      <p:sp>
        <p:nvSpPr>
          <p:cNvPr id="4" name="New shape"/>
          <p:cNvSpPr/>
          <p:nvPr/>
        </p:nvSpPr>
        <p:spPr>
          <a:xfrm>
            <a:off x="1558800" y="1627200"/>
            <a:ext cx="3040514" cy="3627421"/>
          </a:xfrm>
          <a:prstGeom prst="roundRect">
            <a:avLst>
              <a:gd name="adj" fmla="val 10000"/>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计划目标设定的重要性</a:t>
            </a:r>
            <a:br>
              <a:rPr sz="1800">
                <a:latin typeface="微软雅黑"/>
              </a:rPr>
            </a:br>
            <a:endParaRPr sz="1800">
              <a:latin typeface="微软雅黑"/>
            </a:endParaRPr>
          </a:p>
          <a:p>
            <a:pPr algn="l">
              <a:lnSpc>
                <a:spcPct val="150000"/>
              </a:lnSpc>
            </a:pPr>
            <a:r>
              <a:rPr sz="1575" b="0" i="0">
                <a:solidFill>
                  <a:srgbClr val="000000"/>
                </a:solidFill>
                <a:latin typeface="微软雅黑"/>
              </a:rPr>
              <a:t>计划目标是创业项目成功的关键，它为团队提供了明确的方向和动力，确保项目能够顺利推进。</a:t>
            </a:r>
            <a:br>
              <a:rPr sz="1800">
                <a:latin typeface="微软雅黑"/>
              </a:rPr>
            </a:br>
            <a:endParaRPr sz="1800">
              <a:latin typeface="微软雅黑"/>
            </a:endParaRPr>
          </a:p>
        </p:txBody>
      </p:sp>
      <p:sp>
        <p:nvSpPr>
          <p:cNvPr id="5" name="New shape"/>
          <p:cNvSpPr/>
          <p:nvPr/>
        </p:nvSpPr>
        <p:spPr>
          <a:xfrm>
            <a:off x="4726314" y="1627202"/>
            <a:ext cx="3040502" cy="3627421"/>
          </a:xfrm>
          <a:prstGeom prst="roundRect">
            <a:avLst>
              <a:gd name="adj" fmla="val 10000"/>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制定可行的计划目标</a:t>
            </a:r>
            <a:br>
              <a:rPr sz="1800">
                <a:latin typeface="微软雅黑"/>
              </a:rPr>
            </a:br>
            <a:endParaRPr sz="1800">
              <a:latin typeface="微软雅黑"/>
            </a:endParaRPr>
          </a:p>
          <a:p>
            <a:pPr algn="l">
              <a:lnSpc>
                <a:spcPct val="150000"/>
              </a:lnSpc>
            </a:pPr>
            <a:r>
              <a:rPr sz="1575" b="0" i="0">
                <a:solidFill>
                  <a:srgbClr val="000000"/>
                </a:solidFill>
                <a:latin typeface="微软雅黑"/>
              </a:rPr>
              <a:t>计划目标应该具体、可衡量、可实现，并与市场需求和团队能力相匹配，以确保项目的可行性和可持续发展。</a:t>
            </a:r>
            <a:br>
              <a:rPr sz="1800">
                <a:latin typeface="微软雅黑"/>
              </a:rPr>
            </a:br>
            <a:endParaRPr sz="1800">
              <a:latin typeface="微软雅黑"/>
            </a:endParaRPr>
          </a:p>
        </p:txBody>
      </p:sp>
      <p:sp>
        <p:nvSpPr>
          <p:cNvPr id="6" name="New shape"/>
          <p:cNvSpPr/>
          <p:nvPr/>
        </p:nvSpPr>
        <p:spPr>
          <a:xfrm>
            <a:off x="7893816" y="1627201"/>
            <a:ext cx="3040531" cy="3627421"/>
          </a:xfrm>
          <a:prstGeom prst="roundRect">
            <a:avLst>
              <a:gd name="adj" fmla="val 9999"/>
            </a:avLst>
          </a:prstGeom>
          <a:solidFill>
            <a:srgbClr val="FFE1D4"/>
          </a:solidFill>
          <a:ln w="6350">
            <a:solidFill>
              <a:srgbClr val="F18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a:rPr>
            </a:br>
            <a:endParaRPr sz="1800">
              <a:latin typeface="微软雅黑"/>
            </a:endParaRPr>
          </a:p>
          <a:p>
            <a:pPr algn="l"/>
            <a:r>
              <a:rPr sz="2100" b="1" i="0">
                <a:solidFill>
                  <a:srgbClr val="F18D6B"/>
                </a:solidFill>
                <a:latin typeface="微软雅黑"/>
              </a:rPr>
              <a:t>监测和调整计划目标</a:t>
            </a:r>
            <a:br>
              <a:rPr sz="1800">
                <a:latin typeface="微软雅黑"/>
              </a:rPr>
            </a:br>
            <a:endParaRPr sz="1800">
              <a:latin typeface="微软雅黑"/>
            </a:endParaRPr>
          </a:p>
          <a:p>
            <a:pPr algn="l">
              <a:lnSpc>
                <a:spcPct val="150000"/>
              </a:lnSpc>
            </a:pPr>
            <a:r>
              <a:rPr sz="1575" b="0" i="0">
                <a:solidFill>
                  <a:srgbClr val="000000"/>
                </a:solidFill>
                <a:latin typeface="微软雅黑"/>
              </a:rPr>
              <a:t>在项目实施过程中，需要不断监测和评估计划目标的达成情况，并根据实际情况进行调整和优化，以确保项目能够适应变化的市场环境。</a:t>
            </a:r>
            <a:br>
              <a:rPr sz="1800">
                <a:latin typeface="微软雅黑"/>
              </a:rPr>
            </a:br>
            <a:endParaRPr sz="1800">
              <a:latin typeface="微软雅黑"/>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3"/>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635727"/>
            <a:ext cx="11038043"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1" i="0">
                <a:solidFill>
                  <a:srgbClr val="000000"/>
                </a:solidFill>
                <a:latin typeface="微软雅黑"/>
              </a:rPr>
              <a:t>谢 谢 大 家</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Unix 5.4 unknown"/>
  <p:tag name="AS_OS" val="Unix 5.4 unknown"/>
  <p:tag name="AS_RELEASE_DATE" val="2013.12.17"/>
  <p:tag name="AS_TITLE" val="Spire.Presentation for .NET "/>
  <p:tag name="AS_VERSION" val="2.1.0.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MoolBoran"/>
        <a:font script="Laoo" typeface="DokChampa"/>
        <a:font script="Cher" typeface="Plantagenet Cherokee"/>
        <a:font script="Hans" typeface="宋体"/>
        <a:font script="Hebr" typeface="Times New Roman"/>
        <a:font script="Uigh" typeface="Microsoft Uighur"/>
        <a:font script="Guru" typeface="Raavi"/>
        <a:font script="Cans" typeface="Euphemia"/>
        <a:font script="Jpan" typeface="ＭＳ Ｐゴシック"/>
        <a:font script="Arab" typeface="Times New Roman"/>
        <a:font script="Syrc" typeface="Estrangelo Edessa"/>
        <a:font script="Hang" typeface="맑은 고딕"/>
        <a:font script="Viet" typeface="Times New Roman"/>
        <a:font script="Thai" typeface="Angsana New"/>
        <a:font script="Yiii" typeface="Microsoft Yi Baiti"/>
        <a:font script="Thaa" typeface="MV Boli"/>
        <a:font script="Beng" typeface="Vrinda"/>
        <a:font script="Telu" typeface="Gautami"/>
        <a:font script="Knda" typeface="Tunga"/>
      </a:majorFont>
      <a:min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DaunPenh"/>
        <a:font script="Laoo" typeface="DokChampa"/>
        <a:font script="Cher" typeface="Plantagenet Cherokee"/>
        <a:font script="Hans" typeface="宋体"/>
        <a:font script="Hebr" typeface="Arial"/>
        <a:font script="Uigh" typeface="Microsoft Uighur"/>
        <a:font script="Guru" typeface="Raavi"/>
        <a:font script="Cans" typeface="Euphemia"/>
        <a:font script="Jpan" typeface="ＭＳ Ｐゴシック"/>
        <a:font script="Arab" typeface="Arial"/>
        <a:font script="Syrc" typeface="Estrangelo Edessa"/>
        <a:font script="Hang" typeface="맑은 고딕"/>
        <a:font script="Viet" typeface="Arial"/>
        <a:font script="Thai" typeface="Cordia New"/>
        <a:font script="Yiii" typeface="Microsoft Yi Baiti"/>
        <a:font script="Thaa" typeface="MV Boli"/>
        <a:font script="Beng" typeface="Vrinda"/>
        <a:font script="Telu" typeface="Gautami"/>
        <a:font script="Knda" typeface="Tung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MoolBoran"/>
        <a:font script="Laoo" typeface="DokChampa"/>
        <a:font script="Cher" typeface="Plantagenet Cherokee"/>
        <a:font script="Hans" typeface="宋体"/>
        <a:font script="Hebr" typeface="Times New Roman"/>
        <a:font script="Uigh" typeface="Microsoft Uighur"/>
        <a:font script="Guru" typeface="Raavi"/>
        <a:font script="Cans" typeface="Euphemia"/>
        <a:font script="Jpan" typeface="ＭＳ Ｐゴシック"/>
        <a:font script="Arab" typeface="Times New Roman"/>
        <a:font script="Syrc" typeface="Estrangelo Edessa"/>
        <a:font script="Hang" typeface="맑은 고딕"/>
        <a:font script="Viet" typeface="Times New Roman"/>
        <a:font script="Thai" typeface="Angsana New"/>
        <a:font script="Yiii" typeface="Microsoft Yi Baiti"/>
        <a:font script="Thaa" typeface="MV Boli"/>
        <a:font script="Beng" typeface="Vrinda"/>
        <a:font script="Telu" typeface="Gautami"/>
        <a:font script="Knda" typeface="Tunga"/>
      </a:majorFont>
      <a:min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DaunPenh"/>
        <a:font script="Laoo" typeface="DokChampa"/>
        <a:font script="Cher" typeface="Plantagenet Cherokee"/>
        <a:font script="Hans" typeface="宋体"/>
        <a:font script="Hebr" typeface="Arial"/>
        <a:font script="Uigh" typeface="Microsoft Uighur"/>
        <a:font script="Guru" typeface="Raavi"/>
        <a:font script="Cans" typeface="Euphemia"/>
        <a:font script="Jpan" typeface="ＭＳ Ｐゴシック"/>
        <a:font script="Arab" typeface="Arial"/>
        <a:font script="Syrc" typeface="Estrangelo Edessa"/>
        <a:font script="Hang" typeface="맑은 고딕"/>
        <a:font script="Viet" typeface="Arial"/>
        <a:font script="Thai" typeface="Cordia New"/>
        <a:font script="Yiii" typeface="Microsoft Yi Baiti"/>
        <a:font script="Thaa" typeface="MV Boli"/>
        <a:font script="Beng" typeface="Vrinda"/>
        <a:font script="Telu" typeface="Gautami"/>
        <a:font script="Knda" typeface="Tung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2135</Words>
  <Application>Microsoft Office PowerPoint</Application>
  <PresentationFormat>宽屏</PresentationFormat>
  <Paragraphs>257</Paragraphs>
  <Slides>30</Slides>
  <Notes>26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30</vt:i4>
      </vt:variant>
    </vt:vector>
  </HeadingPairs>
  <TitlesOfParts>
    <vt:vector size="34" baseType="lpstr">
      <vt:lpstr>微软雅黑</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大地 陈</cp:lastModifiedBy>
  <cp:revision>3</cp:revision>
  <dcterms:created xsi:type="dcterms:W3CDTF">2024-06-01T08:05:24Z</dcterms:created>
  <dcterms:modified xsi:type="dcterms:W3CDTF">2024-07-13T11:34:30Z</dcterms:modified>
</cp:coreProperties>
</file>